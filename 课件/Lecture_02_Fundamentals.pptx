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87" r:id="rId2"/>
    <p:sldId id="331" r:id="rId3"/>
    <p:sldId id="2007579617" r:id="rId4"/>
    <p:sldId id="2007579618" r:id="rId5"/>
    <p:sldId id="2007579625" r:id="rId6"/>
    <p:sldId id="2007579633" r:id="rId7"/>
    <p:sldId id="2007579634" r:id="rId8"/>
    <p:sldId id="2007579612" r:id="rId9"/>
    <p:sldId id="2007579622" r:id="rId10"/>
    <p:sldId id="2007579623" r:id="rId11"/>
    <p:sldId id="2007579624" r:id="rId12"/>
    <p:sldId id="2007579621" r:id="rId13"/>
    <p:sldId id="2007579619" r:id="rId14"/>
    <p:sldId id="2007579626" r:id="rId15"/>
    <p:sldId id="2007579627" r:id="rId16"/>
    <p:sldId id="2007579628" r:id="rId17"/>
    <p:sldId id="2007579629" r:id="rId18"/>
    <p:sldId id="2007579632" r:id="rId19"/>
    <p:sldId id="2007579631" r:id="rId20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181">
          <p15:clr>
            <a:srgbClr val="A4A3A4"/>
          </p15:clr>
        </p15:guide>
        <p15:guide id="2" pos="2699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 Zibang" initials="ZZ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1515"/>
    <a:srgbClr val="3C679C"/>
    <a:srgbClr val="E0E0E0"/>
    <a:srgbClr val="C9742F"/>
    <a:srgbClr val="CF7225"/>
    <a:srgbClr val="8B0B0B"/>
    <a:srgbClr val="00008F"/>
    <a:srgbClr val="FDCA73"/>
    <a:srgbClr val="AA7453"/>
    <a:srgbClr val="FFDF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54" autoAdjust="0"/>
    <p:restoredTop sz="78480" autoAdjust="0"/>
  </p:normalViewPr>
  <p:slideViewPr>
    <p:cSldViewPr>
      <p:cViewPr>
        <p:scale>
          <a:sx n="75" d="100"/>
          <a:sy n="75" d="100"/>
        </p:scale>
        <p:origin x="-1680" y="-62"/>
      </p:cViewPr>
      <p:guideLst>
        <p:guide orient="horz" pos="1181"/>
        <p:guide pos="2699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319C75-063A-4430-A319-3780764FEA8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42EEAF-8DE4-409C-A614-809959D8A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207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7647B-E055-44F4-BDAD-511D5418643E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76792D-4616-4DF5-9FAF-847C90E5EB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168512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08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7952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919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327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554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554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5548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【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装机教程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】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全网最好的装机教程，没有之一。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best PC building tutorial you can find on the internet.</a:t>
            </a:r>
          </a:p>
          <a:p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https://www.youtube.com/watch?v=ST65L4pG_6w&amp;t=736s</a:t>
            </a:r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663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30402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76444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333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3990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390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68871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39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081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081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Putting it all together (The Step-by-Step Flow):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double-click an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icon on your screen (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tells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to send the App's code to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pulls the code from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starts executing it.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asks you to open a file. You press a key on your keyboard (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Input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goes from the keyboard to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which processes it.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puts that typed data into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 it can work on it.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hit "Save."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takes that data from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compresses it, and writes it permanently to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tells the monitor (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Output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to display a "Save Successful" message.</a:t>
            </a:r>
          </a:p>
          <a:p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short: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Storage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holds everything.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coordinates everything.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feeds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quickly.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processes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and the </a:t>
            </a:r>
            <a:r>
              <a:rPr lang="en-US" altLang="zh-C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I/O devices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let you put data in and get results out.</a:t>
            </a:r>
          </a:p>
          <a:p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172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76792D-4616-4DF5-9FAF-847C90E5EB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391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A66F26E-16D4-4285-86B5-5A02881A0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5257800"/>
            <a:ext cx="9155113" cy="457200"/>
          </a:xfrm>
          <a:prstGeom prst="rect">
            <a:avLst/>
          </a:prstGeom>
          <a:solidFill>
            <a:srgbClr val="8C1515"/>
          </a:solidFill>
          <a:ln w="9525">
            <a:solidFill>
              <a:srgbClr val="8C1515"/>
            </a:solidFill>
            <a:miter lim="800000"/>
            <a:headEnd/>
            <a:tailEnd/>
          </a:ln>
          <a:effectLst>
            <a:outerShdw blurRad="38100" dist="25401" dir="2700000" algn="br" rotWithShape="0">
              <a:srgbClr val="808080">
                <a:alpha val="59999"/>
              </a:srgbClr>
            </a:outerShdw>
          </a:effec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Source Sans Pro" panose="020B050303040302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/>
            <a:endParaRPr lang="en-US" altLang="en-US" sz="1800" dirty="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979712" y="1460356"/>
            <a:ext cx="2954337" cy="1234440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单击此处编辑母版标题样式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9712" y="2837669"/>
            <a:ext cx="2954337" cy="124396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200" cap="all" spc="300">
                <a:solidFill>
                  <a:srgbClr val="A4001D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all" spc="300" normalizeH="0" baseline="0" noProof="0">
                <a:ln>
                  <a:noFill/>
                </a:ln>
                <a:solidFill>
                  <a:srgbClr val="A4001D"/>
                </a:solidFill>
                <a:effectLst/>
                <a:uLnTx/>
                <a:uFillTx/>
              </a:rPr>
              <a:t>单击此处编辑母版文本样式</a:t>
            </a:r>
          </a:p>
        </p:txBody>
      </p:sp>
      <p:sp>
        <p:nvSpPr>
          <p:cNvPr id="10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5041994" y="1455485"/>
            <a:ext cx="1951038" cy="2601384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44450" cap="flat" cmpd="sng" algn="ctr">
            <a:solidFill>
              <a:srgbClr val="FFFFFF"/>
            </a:solidFill>
            <a:prstDash val="solid"/>
          </a:ln>
          <a:effectLst>
            <a:outerShdw blurRad="50800" dist="25400" dir="2700000" algn="tl" rotWithShape="0">
              <a:prstClr val="black">
                <a:alpha val="36000"/>
              </a:prstClr>
            </a:outerShdw>
          </a:effectLst>
        </p:spPr>
        <p:txBody>
          <a:bodyPr/>
          <a:lstStyle>
            <a:lvl1pPr>
              <a:buNone/>
              <a:defRPr sz="1200"/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单击图标添加图片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37080" y="5358976"/>
            <a:ext cx="807077" cy="256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251520" y="5305772"/>
            <a:ext cx="8568952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9CA70F5C-EE30-4F39-9914-96B3414A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02896" y="5359820"/>
            <a:ext cx="2133600" cy="304271"/>
          </a:xfrm>
          <a:prstGeom prst="rect">
            <a:avLst/>
          </a:prstGeom>
        </p:spPr>
        <p:txBody>
          <a:bodyPr/>
          <a:lstStyle>
            <a:lvl1pPr algn="r">
              <a:defRPr sz="105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8D1A3300-9584-4427-9F43-A1245D5B510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74253" y="49188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="" xmlns:a16="http://schemas.microsoft.com/office/drawing/2014/main" id="{79A8DF32-1A1B-3C3E-D235-D057C4233D1B}"/>
              </a:ext>
            </a:extLst>
          </p:cNvPr>
          <p:cNvSpPr/>
          <p:nvPr userDrawn="1"/>
        </p:nvSpPr>
        <p:spPr>
          <a:xfrm>
            <a:off x="0" y="118046"/>
            <a:ext cx="228600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="" xmlns:a16="http://schemas.microsoft.com/office/drawing/2014/main" id="{27A24903-F4DA-DDF5-351D-FF499065F442}"/>
              </a:ext>
            </a:extLst>
          </p:cNvPr>
          <p:cNvSpPr/>
          <p:nvPr userDrawn="1"/>
        </p:nvSpPr>
        <p:spPr>
          <a:xfrm>
            <a:off x="300221" y="118046"/>
            <a:ext cx="83756" cy="507206"/>
          </a:xfrm>
          <a:prstGeom prst="rect">
            <a:avLst/>
          </a:prstGeom>
          <a:solidFill>
            <a:srgbClr val="8C151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="" xmlns:a16="http://schemas.microsoft.com/office/drawing/2014/main" id="{8E52F7B5-FAEE-B7D9-CDE1-95CD25BAC7F3}"/>
              </a:ext>
            </a:extLst>
          </p:cNvPr>
          <p:cNvCxnSpPr>
            <a:cxnSpLocks/>
          </p:cNvCxnSpPr>
          <p:nvPr userDrawn="1"/>
        </p:nvCxnSpPr>
        <p:spPr>
          <a:xfrm>
            <a:off x="506887" y="625252"/>
            <a:ext cx="8637113" cy="0"/>
          </a:xfrm>
          <a:prstGeom prst="line">
            <a:avLst/>
          </a:prstGeom>
          <a:ln w="19050">
            <a:solidFill>
              <a:srgbClr val="8C151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989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49328163-63B1-448A-8C5E-85E95C5B897F}"/>
              </a:ext>
            </a:extLst>
          </p:cNvPr>
          <p:cNvSpPr/>
          <p:nvPr userDrawn="1"/>
        </p:nvSpPr>
        <p:spPr>
          <a:xfrm>
            <a:off x="0" y="0"/>
            <a:ext cx="457200" cy="5714999"/>
          </a:xfrm>
          <a:prstGeom prst="rect">
            <a:avLst/>
          </a:prstGeom>
          <a:solidFill>
            <a:srgbClr val="8C1515"/>
          </a:solidFill>
          <a:ln>
            <a:solidFill>
              <a:srgbClr val="8C15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4408" y="5377780"/>
            <a:ext cx="807077" cy="256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5296960"/>
            <a:ext cx="2895600" cy="30427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5296960"/>
            <a:ext cx="2133600" cy="304271"/>
          </a:xfrm>
          <a:prstGeom prst="rect">
            <a:avLst/>
          </a:prstGeom>
        </p:spPr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757592" y="-5351412"/>
            <a:ext cx="3600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19117616" y="-5639444"/>
            <a:ext cx="360040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-10477672" y="11066412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18253520" y="11138496"/>
            <a:ext cx="43204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=""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928833"/>
            <a:ext cx="9144000" cy="39158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" name="Picture 2" descr="See the source image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6388" y="3571779"/>
            <a:ext cx="1659527" cy="1244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D:\Work\Openhouse\logo2.png">
            <a:extLst>
              <a:ext uri="{FF2B5EF4-FFF2-40B4-BE49-F238E27FC236}">
                <a16:creationId xmlns="" xmlns:a16="http://schemas.microsoft.com/office/drawing/2014/main" id="{9B2CA439-5E9F-4CE2-A272-854DAA849A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628" y="221948"/>
            <a:ext cx="1799792" cy="573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组合 31">
            <a:extLst>
              <a:ext uri="{FF2B5EF4-FFF2-40B4-BE49-F238E27FC236}">
                <a16:creationId xmlns="" xmlns:a16="http://schemas.microsoft.com/office/drawing/2014/main" id="{70F6FD2C-7DD5-4800-84E5-469FFEDEA8E5}"/>
              </a:ext>
            </a:extLst>
          </p:cNvPr>
          <p:cNvGrpSpPr/>
          <p:nvPr/>
        </p:nvGrpSpPr>
        <p:grpSpPr>
          <a:xfrm>
            <a:off x="192320" y="1197264"/>
            <a:ext cx="8775511" cy="1945366"/>
            <a:chOff x="1802914" y="1417340"/>
            <a:chExt cx="11700681" cy="1945366"/>
          </a:xfrm>
        </p:grpSpPr>
        <p:sp>
          <p:nvSpPr>
            <p:cNvPr id="33" name="TextBox 3">
              <a:extLst>
                <a:ext uri="{FF2B5EF4-FFF2-40B4-BE49-F238E27FC236}">
                  <a16:creationId xmlns=""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1802914" y="1568947"/>
              <a:ext cx="564754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buClr>
                  <a:prstClr val="black"/>
                </a:buClr>
              </a:pPr>
              <a:r>
                <a:rPr lang="en-US" altLang="zh-CN" sz="2400" b="1" dirty="0" smtClean="0">
                  <a:solidFill>
                    <a:prstClr val="white">
                      <a:lumMod val="85000"/>
                    </a:prstClr>
                  </a:solidFill>
                  <a:latin typeface="微软雅黑" pitchFamily="34" charset="-122"/>
                  <a:cs typeface="Arial" panose="020B0604020202020204" pitchFamily="34" charset="0"/>
                </a:rPr>
                <a:t>Advanced Programming</a:t>
              </a:r>
              <a:endParaRPr lang="zh-CN" altLang="en-US" sz="2400" dirty="0">
                <a:solidFill>
                  <a:prstClr val="white">
                    <a:lumMod val="85000"/>
                  </a:prstClr>
                </a:solidFill>
                <a:latin typeface="微软雅黑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="" xmlns:a16="http://schemas.microsoft.com/office/drawing/2014/main" id="{531593D7-94FD-48F3-8E01-E12F509FC844}"/>
                </a:ext>
              </a:extLst>
            </p:cNvPr>
            <p:cNvCxnSpPr/>
            <p:nvPr/>
          </p:nvCxnSpPr>
          <p:spPr>
            <a:xfrm>
              <a:off x="1802915" y="1417340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="" xmlns:a16="http://schemas.microsoft.com/office/drawing/2014/main" id="{4E660E5E-8A20-446F-BDA6-56D9A3964607}"/>
                </a:ext>
              </a:extLst>
            </p:cNvPr>
            <p:cNvCxnSpPr/>
            <p:nvPr/>
          </p:nvCxnSpPr>
          <p:spPr>
            <a:xfrm>
              <a:off x="1802915" y="2174498"/>
              <a:ext cx="1170068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">
              <a:extLst>
                <a:ext uri="{FF2B5EF4-FFF2-40B4-BE49-F238E27FC236}">
                  <a16:creationId xmlns="" xmlns:a16="http://schemas.microsoft.com/office/drawing/2014/main" id="{E7CA9D9A-A2C1-440F-8642-C3AB1FFE720D}"/>
                </a:ext>
              </a:extLst>
            </p:cNvPr>
            <p:cNvSpPr txBox="1"/>
            <p:nvPr/>
          </p:nvSpPr>
          <p:spPr>
            <a:xfrm>
              <a:off x="2261539" y="2285488"/>
              <a:ext cx="10784856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prstClr val="black"/>
                </a:buClr>
              </a:pP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Lecture </a:t>
              </a: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02</a:t>
              </a:r>
              <a:b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Fundamentals </a:t>
              </a: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 Computer </a:t>
              </a:r>
              <a:r>
                <a:rPr lang="en-US" altLang="zh-CN" sz="3200" b="1" dirty="0" smtClean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Science</a:t>
              </a:r>
              <a:endParaRPr lang="zh-CN" altLang="en-US" sz="3200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=""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0" y="0"/>
            <a:ext cx="9144000" cy="10632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="" xmlns:a16="http://schemas.microsoft.com/office/drawing/2014/main" id="{EA7BECC0-C999-4547-8007-C75FBF2B9BD5}"/>
              </a:ext>
            </a:extLst>
          </p:cNvPr>
          <p:cNvSpPr/>
          <p:nvPr/>
        </p:nvSpPr>
        <p:spPr>
          <a:xfrm>
            <a:off x="8624931" y="4444663"/>
            <a:ext cx="950053" cy="40003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prstClr val="black"/>
              </a:buClr>
            </a:pPr>
            <a:endParaRPr lang="zh-CN" altLang="en-US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">
            <a:extLst>
              <a:ext uri="{FF2B5EF4-FFF2-40B4-BE49-F238E27FC236}">
                <a16:creationId xmlns="" xmlns:a16="http://schemas.microsoft.com/office/drawing/2014/main" id="{B326EBC7-93F8-41CA-9C03-87466766C001}"/>
              </a:ext>
            </a:extLst>
          </p:cNvPr>
          <p:cNvSpPr txBox="1"/>
          <p:nvPr/>
        </p:nvSpPr>
        <p:spPr>
          <a:xfrm>
            <a:off x="1942068" y="3172319"/>
            <a:ext cx="5366236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20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Zibang Zhang</a:t>
            </a:r>
            <a:endParaRPr lang="en-US" altLang="zh-CN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buClr>
                <a:prstClr val="black"/>
              </a:buClr>
            </a:pPr>
            <a:r>
              <a:rPr lang="en-US" altLang="zh-CN" sz="1400" dirty="0" smtClean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Optoelectronic Engineering, Jinan University</a:t>
            </a:r>
            <a:endParaRPr lang="zh-CN" altLang="en-US" sz="1400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494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368087" y="1325380"/>
            <a:ext cx="2962672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b="1" dirty="0">
                <a:solidFill>
                  <a:srgbClr val="C00000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Outline</a:t>
            </a:r>
            <a:endParaRPr lang="zh-CN" altLang="en-US" sz="3600" b="1" dirty="0">
              <a:solidFill>
                <a:srgbClr val="C00000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="" xmlns:a16="http://schemas.microsoft.com/office/drawing/2014/main" id="{31CABB17-4D5E-468E-B44F-137A264FDC99}"/>
              </a:ext>
            </a:extLst>
          </p:cNvPr>
          <p:cNvSpPr txBox="1">
            <a:spLocks/>
          </p:cNvSpPr>
          <p:nvPr/>
        </p:nvSpPr>
        <p:spPr>
          <a:xfrm>
            <a:off x="1082588" y="2091095"/>
            <a:ext cx="6729772" cy="2278573"/>
          </a:xfrm>
          <a:prstGeom prst="rect">
            <a:avLst/>
          </a:prstGeom>
        </p:spPr>
        <p:txBody>
          <a:bodyPr wrap="square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Computers</a:t>
            </a:r>
            <a:endParaRPr lang="en-US" altLang="zh-CN" sz="1800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dirty="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Hardware</a:t>
            </a:r>
            <a:endParaRPr lang="en-US" altLang="zh-CN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altLang="zh-CN" sz="1800" smtClean="0">
                <a:latin typeface="Arial" pitchFamily="34" charset="0"/>
                <a:ea typeface="微软雅黑" panose="020B0503020204020204" pitchFamily="34" charset="-122"/>
                <a:cs typeface="Arial" pitchFamily="34" charset="0"/>
              </a:rPr>
              <a:t>Software</a:t>
            </a:r>
            <a:endParaRPr lang="en-US" altLang="en-US" sz="1800" dirty="0">
              <a:latin typeface="Arial" pitchFamily="34" charset="0"/>
              <a:ea typeface="微软雅黑" panose="020B0503020204020204" pitchFamily="34" charset="-122"/>
              <a:cs typeface="Arial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084168" y="1613380"/>
            <a:ext cx="2052229" cy="13681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6847348" y="2405468"/>
            <a:ext cx="1975430" cy="1316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5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Different Types of Computers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There are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many different types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of computers, and they come in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all shapes and sizes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—from tiny chips inside your washing machine to massive machines that fill entire rooms.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t="8740" b="12733"/>
          <a:stretch/>
        </p:blipFill>
        <p:spPr>
          <a:xfrm>
            <a:off x="1907704" y="1639238"/>
            <a:ext cx="5832648" cy="353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67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What Compter Made of?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Big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Picture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Hardware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is the physical parts you can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touch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Software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 the invisible instructions that tell the hardware what to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do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t="20379"/>
          <a:stretch/>
        </p:blipFill>
        <p:spPr>
          <a:xfrm>
            <a:off x="1835696" y="1993404"/>
            <a:ext cx="583041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646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Basic information about my (your) computer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 dialog</a:t>
            </a: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b="47201"/>
          <a:stretch/>
        </p:blipFill>
        <p:spPr>
          <a:xfrm>
            <a:off x="683568" y="1489348"/>
            <a:ext cx="7875822" cy="29523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683568" y="4513684"/>
            <a:ext cx="7875822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Microsoft Surface Pro 6</a:t>
            </a:r>
            <a:endParaRPr lang="en-US" altLang="zh-CN" sz="14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67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Basic information about my (your) computer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 dialog</a:t>
            </a: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683568" y="4560716"/>
            <a:ext cx="7875822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My working computer</a:t>
            </a:r>
            <a:endParaRPr lang="en-US" altLang="zh-CN" sz="14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41"/>
          <a:stretch/>
        </p:blipFill>
        <p:spPr bwMode="auto">
          <a:xfrm>
            <a:off x="803204" y="1345288"/>
            <a:ext cx="7723912" cy="30963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848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Basic information about my (your) computer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“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” dialog</a:t>
            </a:r>
          </a:p>
        </p:txBody>
      </p:sp>
      <p:sp>
        <p:nvSpPr>
          <p:cNvPr id="2" name="AutoShape 2" descr="https://i.pinimg.com/736x/f7/be/bc/f7bebcafbacf057106eee3622de70a28.jp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683568" y="4441676"/>
            <a:ext cx="7875822" cy="3600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algn="ctr">
              <a:lnSpc>
                <a:spcPct val="150000"/>
              </a:lnSpc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My 7x24 NAS at home</a:t>
            </a:r>
            <a:endParaRPr lang="en-US" altLang="zh-CN" sz="14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550" y="1409700"/>
            <a:ext cx="7708900" cy="289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8962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Hardware –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The Physical Body 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fundamentals of computer hardware systems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usually include: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CPU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(Central Processing Unit) – 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"brain"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Memory (RAM, ROM, cache)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Storage (hard drives, SSDs)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Motherboard – connects everything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Input/Output devices (keyboard, monitor, etc.)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Bus systems – how data travels between components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   Power supply and cooling systems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1417340"/>
            <a:ext cx="3801762" cy="3825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046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CPU (Central Processing Unit)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69181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"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brain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" of a computer,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executing instructions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from computer programs and performing all the fundamental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arithmetic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logic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control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and input/output (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I/O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specifications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</a:t>
            </a:r>
            <a:endParaRPr lang="en-US" altLang="zh-CN" sz="16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Clock speed (measured in ghz)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Cores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Threads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Cache memory (L1~L3)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TDP (measured in watts)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Major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manufactures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 Intel, AMD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2967" y="2972716"/>
            <a:ext cx="2129433" cy="185602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057800" y="4864558"/>
            <a:ext cx="4086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11111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 14th Gen Raptor Lake Core i9-14900K CPU 6.0GHz</a:t>
            </a:r>
            <a:endParaRPr lang="zh-CN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8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CPU </a:t>
            </a:r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(Central Processing Unit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06480"/>
              </p:ext>
            </p:extLst>
          </p:nvPr>
        </p:nvGraphicFramePr>
        <p:xfrm>
          <a:off x="530678" y="1070582"/>
          <a:ext cx="8082643" cy="3771900"/>
        </p:xfrm>
        <a:graphic>
          <a:graphicData uri="http://schemas.openxmlformats.org/drawingml/2006/table">
            <a:tbl>
              <a:tblPr/>
              <a:tblGrid>
                <a:gridCol w="1737065">
                  <a:extLst>
                    <a:ext uri="{9D8B030D-6E8A-4147-A177-3AD203B41FA5}">
                      <a16:colId xmlns="" xmlns:a16="http://schemas.microsoft.com/office/drawing/2014/main" val="3142753592"/>
                    </a:ext>
                  </a:extLst>
                </a:gridCol>
                <a:gridCol w="3312369">
                  <a:extLst>
                    <a:ext uri="{9D8B030D-6E8A-4147-A177-3AD203B41FA5}">
                      <a16:colId xmlns="" xmlns:a16="http://schemas.microsoft.com/office/drawing/2014/main" val="3844828291"/>
                    </a:ext>
                  </a:extLst>
                </a:gridCol>
                <a:gridCol w="3033209">
                  <a:extLst>
                    <a:ext uri="{9D8B030D-6E8A-4147-A177-3AD203B41FA5}">
                      <a16:colId xmlns="" xmlns:a16="http://schemas.microsoft.com/office/drawing/2014/main" val="3420647801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endParaRPr lang="zh-CN" altLang="en-US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 Core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i9-14900K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desktop)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Intel Core </a:t>
                      </a: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i5-8250U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1400" dirty="0" smtClean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laptop)</a:t>
                      </a:r>
                      <a:endParaRPr lang="en-US" altLang="zh-CN" sz="14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611381316"/>
                  </a:ext>
                </a:extLst>
              </a:tr>
              <a:tr h="898071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Clock Speed (GHz)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Base:</a:t>
                      </a:r>
                      <a:r>
                        <a:rPr lang="en-US" altLang="zh-C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3.2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 (</a:t>
                      </a:r>
                      <a:r>
                        <a:rPr lang="en-US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cores) 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 2.4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 (</a:t>
                      </a:r>
                      <a:r>
                        <a:rPr lang="en-US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E-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cores)</a:t>
                      </a:r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altLang="zh-C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turbo: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6.0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Base: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1.60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turbo:</a:t>
                      </a:r>
                      <a:r>
                        <a:rPr lang="en-US" altLang="zh-C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3.40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GHz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61075149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cores</a:t>
                      </a:r>
                      <a:r>
                        <a:rPr lang="zh-CN" alt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P-cores + 16 E-cores)</a:t>
                      </a: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cores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71856701"/>
                  </a:ext>
                </a:extLst>
              </a:tr>
              <a:tr h="359229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Threads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threads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threads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96373937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US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Cache Memory</a:t>
                      </a:r>
                      <a:endParaRPr lang="en-US" sz="14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L3: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 MB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L2: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 MB </a:t>
                      </a:r>
                      <a:r>
                        <a:rPr lang="en-US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en-US" altLang="zh-CN" sz="1200" b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Total)</a:t>
                      </a:r>
                      <a:endParaRPr lang="en-US" altLang="zh-CN" sz="12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L3: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 MB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(Intel Smart Cache)</a:t>
                      </a: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6999008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TDP (Watts)</a:t>
                      </a:r>
                      <a:endParaRPr lang="en-US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Base: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125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</a:t>
                      </a:r>
                      <a:r>
                        <a:rPr lang="en-US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turbo: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253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endParaRPr 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Base: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b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altLang="zh-CN" sz="12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turbo:</a:t>
                      </a:r>
                      <a:r>
                        <a:rPr lang="en-US" altLang="zh-CN" sz="1200" baseline="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="1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</a:t>
                      </a:r>
                      <a:r>
                        <a:rPr lang="en-US" sz="12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 ~ 25 W</a:t>
                      </a:r>
                    </a:p>
                  </a:txBody>
                  <a:tcPr marL="89807" marR="89807" marT="44904" marB="4490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9702462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8388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RAM (Random Access Memory)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69181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Computer's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short-term, temporary memory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It is a form of volatile memory, meaning that all data stored in RAM is erased immediately when the computer is turned off or restarted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specifications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Capacity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(such as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 GB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16 GB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32 GB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14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64 GB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Speed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(measured in MHz or MT/s, DDR4: 2133 MHz~3200 MHz, DDR5: 4800 MHz ~ 8000+ 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MHz)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Latency</a:t>
            </a:r>
            <a:endParaRPr lang="en-US" altLang="zh-CN" sz="14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56" y="3364922"/>
            <a:ext cx="2304256" cy="166418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3649588"/>
            <a:ext cx="2100020" cy="109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6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Storage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HDD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(Hard Disk Drive)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 mechanical. It contains spinning magnetic platters (like a CD or record) and a read/write head that moves back and forth to read or write data on the spinning disks. It is essentially a precise record player.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SSD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(Solid State Drive)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is electronic.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It has no moving parts. It uses NAND flash memory chips (similar to a giant, high-speed USB flash drive) to store data. Data is accessed instantly via electrical circuits.</a:t>
            </a:r>
            <a:endParaRPr lang="en-US" altLang="zh-CN" sz="11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74"/>
          <a:stretch/>
        </p:blipFill>
        <p:spPr>
          <a:xfrm>
            <a:off x="2627784" y="2929508"/>
            <a:ext cx="3830749" cy="225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07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Software </a:t>
            </a:r>
            <a:r>
              <a:rPr lang="en-US" altLang="zh-CN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– The Invisible Instructions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Software is divided into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two main layers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System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software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4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Application</a:t>
            </a: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software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t="16690" b="15242"/>
          <a:stretch/>
        </p:blipFill>
        <p:spPr>
          <a:xfrm>
            <a:off x="1995310" y="2204582"/>
            <a:ext cx="5153379" cy="238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Operating System (OS)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most important software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that runs on a computer. It acts as a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bridge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or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middleman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between: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You </a:t>
            </a: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(the user) and the hardware (CPU, RAM, storage, keyboard, mouse, screen).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4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Your applications (like a web browser, Word, or a game) and the physical components of the machine.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5508" y="2641476"/>
            <a:ext cx="4962128" cy="248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48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Operating System (OS)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Examples of Operating System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1585057"/>
            <a:ext cx="6258272" cy="3129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8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Microsoft Windows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4644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family of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graphical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operating systems developed and marketed by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Microsoft Corporation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 Since its first release in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1985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, it has become the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most widely used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operating system for personal computers (PCs)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globally.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Brief History &amp;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Versions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1.0 (1985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3.0 (1990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95 (The Revolution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XP (2001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Vista (2007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7 (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2009)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 / 8.1 (2012-2013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 (2015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</a:t>
            </a:r>
            <a:r>
              <a:rPr lang="en-US" altLang="zh-CN" sz="12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11 (2021 - Present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)</a:t>
            </a:r>
            <a:endParaRPr lang="en-US" altLang="zh-CN" sz="105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1880" y="2281436"/>
            <a:ext cx="3585009" cy="239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23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Recommended Applications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547800" cy="44644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Operating System: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10 LTSC 2021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 </a:t>
            </a:r>
            <a:r>
              <a:rPr lang="en-US" altLang="zh-CN" sz="16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Windows 7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Recommendations:</a:t>
            </a:r>
            <a:endParaRPr lang="en-US" altLang="zh-CN" sz="16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WinRAR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File compression &amp; archiving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Supermium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Web browser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Office 2016 / Office </a:t>
            </a: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2010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Office producity suite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HoneyView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Image viewer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K-Lite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Video player with codec pack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Winamp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Audio / media player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Notepad</a:t>
            </a: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++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Text / code editor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200" b="1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WinHex</a:t>
            </a:r>
            <a:r>
              <a:rPr lang="en-US" altLang="zh-CN" sz="12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		Hex editor</a:t>
            </a:r>
            <a:endParaRPr lang="en-US" altLang="zh-CN" sz="1200" dirty="0" smtClean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11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grpSp>
        <p:nvGrpSpPr>
          <p:cNvPr id="15" name="组合 14"/>
          <p:cNvGrpSpPr/>
          <p:nvPr/>
        </p:nvGrpSpPr>
        <p:grpSpPr>
          <a:xfrm>
            <a:off x="1614623" y="1077541"/>
            <a:ext cx="5853359" cy="3849659"/>
            <a:chOff x="1775520" y="1078137"/>
            <a:chExt cx="8667963" cy="5700779"/>
          </a:xfrm>
        </p:grpSpPr>
        <p:pic>
          <p:nvPicPr>
            <p:cNvPr id="3" name="Picture 4" descr="C:\Users\pc\Desktop\DataStructure_2019\Materials\预览图_千图网_编号32581832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3807" y="1078137"/>
              <a:ext cx="4404282" cy="38898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2" descr="C:\Users\pc\Desktop\DataStructure_2019\Materials\580ecb83ac763 [转换].pn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1318" y="1916832"/>
              <a:ext cx="4855123" cy="47525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圆角矩形标注 4"/>
            <p:cNvSpPr/>
            <p:nvPr/>
          </p:nvSpPr>
          <p:spPr>
            <a:xfrm>
              <a:off x="8759670" y="1916832"/>
              <a:ext cx="1296770" cy="792089"/>
            </a:xfrm>
            <a:prstGeom prst="wedgeRoundRectCallout">
              <a:avLst>
                <a:gd name="adj1" fmla="val -66852"/>
                <a:gd name="adj2" fmla="val 100170"/>
                <a:gd name="adj3" fmla="val 16667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rPr>
                <a:t>CPU</a:t>
              </a:r>
              <a:endParaRPr lang="zh-CN" altLang="en-US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圆角矩形标注 5"/>
            <p:cNvSpPr/>
            <p:nvPr/>
          </p:nvSpPr>
          <p:spPr>
            <a:xfrm>
              <a:off x="3960961" y="5871260"/>
              <a:ext cx="1296769" cy="792089"/>
            </a:xfrm>
            <a:prstGeom prst="wedgeRoundRectCallout">
              <a:avLst>
                <a:gd name="adj1" fmla="val 116859"/>
                <a:gd name="adj2" fmla="val -68427"/>
                <a:gd name="adj3" fmla="val 16667"/>
              </a:avLst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RAM</a:t>
              </a:r>
              <a:endPara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" name="圆角矩形标注 6"/>
            <p:cNvSpPr/>
            <p:nvPr/>
          </p:nvSpPr>
          <p:spPr>
            <a:xfrm>
              <a:off x="5257730" y="1232757"/>
              <a:ext cx="2998510" cy="684075"/>
            </a:xfrm>
            <a:prstGeom prst="wedgeRoundRectCallout">
              <a:avLst>
                <a:gd name="adj1" fmla="val -104453"/>
                <a:gd name="adj2" fmla="val -16790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Storage</a:t>
              </a:r>
              <a:endPara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8" name="圆角矩形标注 7"/>
            <p:cNvSpPr/>
            <p:nvPr/>
          </p:nvSpPr>
          <p:spPr>
            <a:xfrm>
              <a:off x="8316718" y="5896890"/>
              <a:ext cx="1296770" cy="792089"/>
            </a:xfrm>
            <a:prstGeom prst="wedgeRoundRectCallout">
              <a:avLst>
                <a:gd name="adj1" fmla="val -36518"/>
                <a:gd name="adj2" fmla="val -203751"/>
                <a:gd name="adj3" fmla="val 16667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App</a:t>
              </a:r>
              <a:endPara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9" name="圆角矩形标注 8"/>
            <p:cNvSpPr/>
            <p:nvPr/>
          </p:nvSpPr>
          <p:spPr>
            <a:xfrm>
              <a:off x="4125645" y="3889103"/>
              <a:ext cx="1296770" cy="792089"/>
            </a:xfrm>
            <a:prstGeom prst="wedgeRoundRectCallout">
              <a:avLst>
                <a:gd name="adj1" fmla="val 154843"/>
                <a:gd name="adj2" fmla="val 159621"/>
                <a:gd name="adj3" fmla="val 16667"/>
              </a:avLst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Data</a:t>
              </a:r>
              <a:endParaRPr lang="zh-CN" altLang="en-US" b="1" dirty="0">
                <a:solidFill>
                  <a:prstClr val="whit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" name="圆角矩形标注 9"/>
            <p:cNvSpPr/>
            <p:nvPr/>
          </p:nvSpPr>
          <p:spPr>
            <a:xfrm>
              <a:off x="9146713" y="5150205"/>
              <a:ext cx="1296770" cy="792089"/>
            </a:xfrm>
            <a:prstGeom prst="wedgeRoundRectCallout">
              <a:avLst>
                <a:gd name="adj1" fmla="val -62213"/>
                <a:gd name="adj2" fmla="val -156536"/>
                <a:gd name="adj3" fmla="val 16667"/>
              </a:avLst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App</a:t>
              </a:r>
              <a:endParaRPr lang="zh-CN" altLang="en-US" b="1" dirty="0">
                <a:solidFill>
                  <a:prstClr val="black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1" name="圆角矩形标注 10"/>
            <p:cNvSpPr/>
            <p:nvPr/>
          </p:nvSpPr>
          <p:spPr>
            <a:xfrm>
              <a:off x="5292918" y="2312876"/>
              <a:ext cx="1296770" cy="792089"/>
            </a:xfrm>
            <a:prstGeom prst="wedgeRoundRectCallout">
              <a:avLst>
                <a:gd name="adj1" fmla="val 70464"/>
                <a:gd name="adj2" fmla="val 212574"/>
                <a:gd name="adj3" fmla="val 16667"/>
              </a:avLst>
            </a:prstGeom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Data</a:t>
              </a:r>
              <a:endParaRPr lang="zh-CN" altLang="en-US" b="1" dirty="0">
                <a:solidFill>
                  <a:prstClr val="whit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pic>
          <p:nvPicPr>
            <p:cNvPr id="12" name="Picture 2" descr="C:\Users\pc\Desktop\DataStructure_2019\Materials\25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89688" y="3933057"/>
              <a:ext cx="2376264" cy="2376264"/>
            </a:xfrm>
            <a:prstGeom prst="rect">
              <a:avLst/>
            </a:prstGeom>
            <a:noFill/>
            <a:effectLst>
              <a:glow rad="101600">
                <a:schemeClr val="accent2">
                  <a:satMod val="175000"/>
                  <a:alpha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圆角矩形标注 12"/>
            <p:cNvSpPr/>
            <p:nvPr/>
          </p:nvSpPr>
          <p:spPr>
            <a:xfrm>
              <a:off x="5933167" y="5986827"/>
              <a:ext cx="1296770" cy="792089"/>
            </a:xfrm>
            <a:prstGeom prst="wedgeRoundRectCallout">
              <a:avLst>
                <a:gd name="adj1" fmla="val 80360"/>
                <a:gd name="adj2" fmla="val -89701"/>
                <a:gd name="adj3" fmla="val 16667"/>
              </a:avLst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smtClean="0">
                  <a:solidFill>
                    <a:prstClr val="white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OS</a:t>
              </a:r>
              <a:endParaRPr lang="zh-CN" altLang="en-US" sz="1100" b="1" dirty="0">
                <a:solidFill>
                  <a:prstClr val="white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圆角矩形标注 13"/>
            <p:cNvSpPr/>
            <p:nvPr/>
          </p:nvSpPr>
          <p:spPr>
            <a:xfrm>
              <a:off x="1775520" y="4779152"/>
              <a:ext cx="2998510" cy="684075"/>
            </a:xfrm>
            <a:prstGeom prst="wedgeRoundRectCallout">
              <a:avLst>
                <a:gd name="adj1" fmla="val -6191"/>
                <a:gd name="adj2" fmla="val -193160"/>
                <a:gd name="adj3" fmla="val 16667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 dirty="0" smtClean="0">
                  <a:solidFill>
                    <a:prstClr val="black"/>
                  </a:solidFill>
                  <a:latin typeface="Arial" panose="020B0604020202020204" pitchFamily="34" charset="0"/>
                  <a:ea typeface="微软雅黑" pitchFamily="34" charset="-122"/>
                  <a:cs typeface="Arial" panose="020B0604020202020204" pitchFamily="34" charset="0"/>
                </a:rPr>
                <a:t>Input/output devices</a:t>
              </a:r>
              <a:endParaRPr lang="zh-CN" altLang="en-US" sz="1400" b="1" dirty="0">
                <a:solidFill>
                  <a:prstClr val="black"/>
                </a:solidFill>
                <a:latin typeface="Arial" panose="020B0604020202020204" pitchFamily="34" charset="0"/>
                <a:ea typeface="微软雅黑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6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Putting Them All Together</a:t>
            </a:r>
            <a:r>
              <a:rPr lang="en-US" altLang="zh-CN" sz="20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-- How a Computer Works?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7460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2062F224-DFCA-3697-3C7E-99266825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="" xmlns:a16="http://schemas.microsoft.com/office/drawing/2014/main" id="{74B75520-AB1A-E4AD-3AB2-5E7516816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FECDF-D51D-4CE3-BD90-7F06D39BB90F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23" name="标题 1">
            <a:extLst>
              <a:ext uri="{FF2B5EF4-FFF2-40B4-BE49-F238E27FC236}">
                <a16:creationId xmlns="" xmlns:a16="http://schemas.microsoft.com/office/drawing/2014/main" id="{4C58FD3F-F573-6062-164F-A9645FE96092}"/>
              </a:ext>
            </a:extLst>
          </p:cNvPr>
          <p:cNvSpPr txBox="1">
            <a:spLocks/>
          </p:cNvSpPr>
          <p:nvPr/>
        </p:nvSpPr>
        <p:spPr>
          <a:xfrm>
            <a:off x="438894" y="168502"/>
            <a:ext cx="7733506" cy="52150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Keyboard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0" y="225337"/>
            <a:ext cx="9144000" cy="327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ctr"/>
          <a:lstStyle/>
          <a:p>
            <a:pPr algn="ctr">
              <a:lnSpc>
                <a:spcPct val="135000"/>
              </a:lnSpc>
            </a:pPr>
            <a:endParaRPr lang="en-US" altLang="zh-CN" b="1" i="1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="" xmlns:a16="http://schemas.microsoft.com/office/drawing/2014/main" id="{19729455-A591-2CF9-FDB4-62B022089179}"/>
              </a:ext>
            </a:extLst>
          </p:cNvPr>
          <p:cNvSpPr/>
          <p:nvPr/>
        </p:nvSpPr>
        <p:spPr>
          <a:xfrm>
            <a:off x="272672" y="841276"/>
            <a:ext cx="8784976" cy="34563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rtlCol="0" anchor="t" anchorCtr="0"/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 standard keyboard has about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104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to </a:t>
            </a:r>
            <a:r>
              <a:rPr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108</a:t>
            </a:r>
            <a:r>
              <a:rPr lang="en-US" altLang="zh-CN" sz="16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600" dirty="0" smtClean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keys</a:t>
            </a:r>
            <a:endParaRPr lang="en-US" altLang="zh-CN" sz="1200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788" y="1273324"/>
            <a:ext cx="8388424" cy="380318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4295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22482</TotalTime>
  <Words>841</Words>
  <Application>Microsoft Office PowerPoint</Application>
  <PresentationFormat>全屏显示(16:10)</PresentationFormat>
  <Paragraphs>162</Paragraphs>
  <Slides>19</Slides>
  <Notes>19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单像素成像技术与 单像素免成像技术</dc:title>
  <dc:creator>pc</dc:creator>
  <cp:lastModifiedBy>pc</cp:lastModifiedBy>
  <cp:revision>1854</cp:revision>
  <dcterms:created xsi:type="dcterms:W3CDTF">2020-06-09T03:02:09Z</dcterms:created>
  <dcterms:modified xsi:type="dcterms:W3CDTF">2026-09-08T09:38:02Z</dcterms:modified>
</cp:coreProperties>
</file>