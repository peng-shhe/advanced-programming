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87" r:id="rId2"/>
    <p:sldId id="331" r:id="rId3"/>
    <p:sldId id="2007579617" r:id="rId4"/>
    <p:sldId id="2007579630" r:id="rId5"/>
    <p:sldId id="2007579631" r:id="rId6"/>
    <p:sldId id="2007579632" r:id="rId7"/>
    <p:sldId id="2007579634" r:id="rId8"/>
    <p:sldId id="2007579635" r:id="rId9"/>
    <p:sldId id="2007579636" r:id="rId10"/>
    <p:sldId id="2007579637" r:id="rId11"/>
    <p:sldId id="2007579638" r:id="rId12"/>
    <p:sldId id="2007579639" r:id="rId13"/>
    <p:sldId id="2007579640" r:id="rId14"/>
    <p:sldId id="2007579641" r:id="rId15"/>
    <p:sldId id="2007579643" r:id="rId16"/>
    <p:sldId id="2007579642" r:id="rId17"/>
    <p:sldId id="2007579644" r:id="rId18"/>
    <p:sldId id="2007579645" r:id="rId19"/>
    <p:sldId id="2007579648" r:id="rId20"/>
    <p:sldId id="2007579649" r:id="rId21"/>
    <p:sldId id="2007579650" r:id="rId22"/>
    <p:sldId id="2007579651" r:id="rId23"/>
    <p:sldId id="2007579646" r:id="rId24"/>
    <p:sldId id="2007579647" r:id="rId25"/>
    <p:sldId id="2007579652" r:id="rId26"/>
    <p:sldId id="2007579653" r:id="rId27"/>
    <p:sldId id="2007579658" r:id="rId28"/>
    <p:sldId id="2007579654" r:id="rId29"/>
    <p:sldId id="2007579655" r:id="rId30"/>
    <p:sldId id="2007579656" r:id="rId31"/>
    <p:sldId id="2007579657" r:id="rId32"/>
    <p:sldId id="2007579659" r:id="rId33"/>
    <p:sldId id="2007579660" r:id="rId34"/>
    <p:sldId id="2007579661" r:id="rId3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1">
          <p15:clr>
            <a:srgbClr val="A4A3A4"/>
          </p15:clr>
        </p15:guide>
        <p15:guide id="2" pos="269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 Zibang" initials="ZZ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1515"/>
    <a:srgbClr val="3C679C"/>
    <a:srgbClr val="E0E0E0"/>
    <a:srgbClr val="C9742F"/>
    <a:srgbClr val="CF7225"/>
    <a:srgbClr val="8B0B0B"/>
    <a:srgbClr val="00008F"/>
    <a:srgbClr val="FDCA73"/>
    <a:srgbClr val="AA7453"/>
    <a:srgbClr val="FFDF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54" autoAdjust="0"/>
    <p:restoredTop sz="78480" autoAdjust="0"/>
  </p:normalViewPr>
  <p:slideViewPr>
    <p:cSldViewPr>
      <p:cViewPr varScale="1">
        <p:scale>
          <a:sx n="69" d="100"/>
          <a:sy n="69" d="100"/>
        </p:scale>
        <p:origin x="1068" y="34"/>
      </p:cViewPr>
      <p:guideLst>
        <p:guide orient="horz" pos="1181"/>
        <p:guide pos="269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19C75-063A-4430-A319-3780764FEA8E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2EEAF-8DE4-409C-A614-809959D8A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207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7647B-E055-44F4-BDAD-511D5418643E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6792D-4616-4DF5-9FAF-847C90E5E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851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8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795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795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375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7397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863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7248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7378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496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981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5548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6679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4526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0903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35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0900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09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106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435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66F26E-16D4-4285-86B5-5A02881A0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257800"/>
            <a:ext cx="9155113" cy="457200"/>
          </a:xfrm>
          <a:prstGeom prst="rect">
            <a:avLst/>
          </a:prstGeom>
          <a:solidFill>
            <a:srgbClr val="8C1515"/>
          </a:solidFill>
          <a:ln w="9525">
            <a:solidFill>
              <a:srgbClr val="8C1515"/>
            </a:solidFill>
            <a:miter lim="800000"/>
            <a:headEnd/>
            <a:tailEnd/>
          </a:ln>
          <a:effectLst>
            <a:outerShdw blurRad="38100" dist="25401" dir="2700000" algn="br" rotWithShape="0">
              <a:srgbClr val="808080">
                <a:alpha val="59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79712" y="1460356"/>
            <a:ext cx="2954337" cy="123444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单击此处编辑母版标题样式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9712" y="2837669"/>
            <a:ext cx="2954337" cy="124396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all" spc="300" normalizeH="0" baseline="0" noProof="0">
                <a:ln>
                  <a:noFill/>
                </a:ln>
                <a:solidFill>
                  <a:srgbClr val="A4001D"/>
                </a:solidFill>
                <a:effectLst/>
                <a:uLnTx/>
                <a:uFillTx/>
              </a:rPr>
              <a:t>单击此处编辑母版文本样式</a:t>
            </a:r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5041994" y="1455485"/>
            <a:ext cx="1951038" cy="2601384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44450" cap="flat" cmpd="sng" algn="ctr">
            <a:solidFill>
              <a:srgbClr val="FFFFFF"/>
            </a:solidFill>
            <a:prstDash val="solid"/>
          </a:ln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txBody>
          <a:bodyPr/>
          <a:lstStyle>
            <a:lvl1pPr>
              <a:buNone/>
              <a:defRPr sz="1200"/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单击图标添加图片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7080" y="5358976"/>
            <a:ext cx="807077" cy="25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9A8DF32-1A1B-3C3E-D235-D057C4233D1B}"/>
              </a:ext>
            </a:extLst>
          </p:cNvPr>
          <p:cNvSpPr/>
          <p:nvPr userDrawn="1"/>
        </p:nvSpPr>
        <p:spPr>
          <a:xfrm>
            <a:off x="0" y="118046"/>
            <a:ext cx="228600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24903-F4DA-DDF5-351D-FF499065F442}"/>
              </a:ext>
            </a:extLst>
          </p:cNvPr>
          <p:cNvSpPr/>
          <p:nvPr userDrawn="1"/>
        </p:nvSpPr>
        <p:spPr>
          <a:xfrm>
            <a:off x="300221" y="118046"/>
            <a:ext cx="83756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E52F7B5-FAEE-B7D9-CDE1-95CD25BAC7F3}"/>
              </a:ext>
            </a:extLst>
          </p:cNvPr>
          <p:cNvCxnSpPr>
            <a:cxnSpLocks/>
          </p:cNvCxnSpPr>
          <p:nvPr userDrawn="1"/>
        </p:nvCxnSpPr>
        <p:spPr>
          <a:xfrm>
            <a:off x="506887" y="625252"/>
            <a:ext cx="8637113" cy="0"/>
          </a:xfrm>
          <a:prstGeom prst="line">
            <a:avLst/>
          </a:prstGeom>
          <a:ln w="19050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98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328163-63B1-448A-8C5E-85E95C5B897F}"/>
              </a:ext>
            </a:extLst>
          </p:cNvPr>
          <p:cNvSpPr/>
          <p:nvPr userDrawn="1"/>
        </p:nvSpPr>
        <p:spPr>
          <a:xfrm>
            <a:off x="0" y="0"/>
            <a:ext cx="457200" cy="5714999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4408" y="5377780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27542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757592" y="-5351412"/>
            <a:ext cx="36004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9117616" y="-5639444"/>
            <a:ext cx="36004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0477672" y="11066412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8253520" y="11138496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928833"/>
            <a:ext cx="9144000" cy="39158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Picture 2" descr="See the source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388" y="3571779"/>
            <a:ext cx="1659527" cy="124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D:\Work\Openhouse\logo2.png">
            <a:extLst>
              <a:ext uri="{FF2B5EF4-FFF2-40B4-BE49-F238E27FC236}">
                <a16:creationId xmlns:a16="http://schemas.microsoft.com/office/drawing/2014/main" id="{9B2CA439-5E9F-4CE2-A272-854DAA849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628" y="221948"/>
            <a:ext cx="1799792" cy="57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70F6FD2C-7DD5-4800-84E5-469FFEDEA8E5}"/>
              </a:ext>
            </a:extLst>
          </p:cNvPr>
          <p:cNvGrpSpPr/>
          <p:nvPr/>
        </p:nvGrpSpPr>
        <p:grpSpPr>
          <a:xfrm>
            <a:off x="192320" y="1197264"/>
            <a:ext cx="8775511" cy="1945366"/>
            <a:chOff x="1802914" y="1417340"/>
            <a:chExt cx="11700681" cy="1945366"/>
          </a:xfrm>
        </p:grpSpPr>
        <p:sp>
          <p:nvSpPr>
            <p:cNvPr id="33" name="TextBox 3">
              <a:extLst>
                <a:ext uri="{FF2B5EF4-FFF2-40B4-BE49-F238E27FC236}">
                  <a16:creationId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1802914" y="1568947"/>
              <a:ext cx="5647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prstClr val="black"/>
                </a:buClr>
              </a:pPr>
              <a:r>
                <a:rPr lang="en-US" altLang="zh-CN" sz="2400" b="1" dirty="0" smtClean="0">
                  <a:solidFill>
                    <a:prstClr val="white">
                      <a:lumMod val="85000"/>
                    </a:prstClr>
                  </a:solidFill>
                  <a:latin typeface="微软雅黑" pitchFamily="34" charset="-122"/>
                  <a:cs typeface="Arial" panose="020B0604020202020204" pitchFamily="34" charset="0"/>
                </a:rPr>
                <a:t>Advanced Programming</a:t>
              </a:r>
              <a:endParaRPr lang="zh-CN" altLang="en-US" sz="2400" dirty="0">
                <a:solidFill>
                  <a:prstClr val="white">
                    <a:lumMod val="85000"/>
                  </a:prstClr>
                </a:solidFill>
                <a:latin typeface="微软雅黑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31593D7-94FD-48F3-8E01-E12F509FC844}"/>
                </a:ext>
              </a:extLst>
            </p:cNvPr>
            <p:cNvCxnSpPr/>
            <p:nvPr/>
          </p:nvCxnSpPr>
          <p:spPr>
            <a:xfrm>
              <a:off x="1802915" y="1417340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E660E5E-8A20-446F-BDA6-56D9A3964607}"/>
                </a:ext>
              </a:extLst>
            </p:cNvPr>
            <p:cNvCxnSpPr/>
            <p:nvPr/>
          </p:nvCxnSpPr>
          <p:spPr>
            <a:xfrm>
              <a:off x="1802915" y="2174498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">
              <a:extLst>
                <a:ext uri="{FF2B5EF4-FFF2-40B4-BE49-F238E27FC236}">
                  <a16:creationId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2960925" y="2285488"/>
              <a:ext cx="938608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prstClr val="black"/>
                </a:buClr>
              </a:pP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Lecture 03</a:t>
              </a:r>
              <a:b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Types &amp; Expression</a:t>
              </a:r>
              <a:endParaRPr lang="zh-CN" altLang="en-US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0"/>
            <a:ext cx="9144000" cy="1063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8624931" y="4444663"/>
            <a:ext cx="950053" cy="4000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">
            <a:extLst>
              <a:ext uri="{FF2B5EF4-FFF2-40B4-BE49-F238E27FC236}">
                <a16:creationId xmlns:a16="http://schemas.microsoft.com/office/drawing/2014/main" id="{B326EBC7-93F8-41CA-9C03-87466766C001}"/>
              </a:ext>
            </a:extLst>
          </p:cNvPr>
          <p:cNvSpPr txBox="1"/>
          <p:nvPr/>
        </p:nvSpPr>
        <p:spPr>
          <a:xfrm>
            <a:off x="1942068" y="3172319"/>
            <a:ext cx="536623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200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Zibang Zhang</a:t>
            </a:r>
            <a:endParaRPr lang="en-US" altLang="zh-CN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140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Optoelectronic Engineering, Jinan University</a:t>
            </a:r>
            <a:endParaRPr lang="zh-CN" altLang="en-US" sz="14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9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1325380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2091095"/>
            <a:ext cx="6729772" cy="2278573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Identifer, Variable, Assignment</a:t>
            </a:r>
            <a:endParaRPr lang="en-US" altLang="zh-CN" sz="1800" dirty="0">
              <a:solidFill>
                <a:srgbClr val="C00000"/>
              </a:solidFill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Built-in Data Types</a:t>
            </a:r>
            <a:endParaRPr lang="en-US" altLang="zh-CN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Operator &amp; Expression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Basic Input / Ouput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1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Identifier, Variable, Assignment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Identifer </a:t>
            </a:r>
            <a:r>
              <a:rPr lang="zh-CN" altLang="en-US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标识符</a:t>
            </a:r>
            <a:endParaRPr lang="en-US" altLang="zh-CN" sz="1600" b="1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What is 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it?</a:t>
            </a:r>
            <a:b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Simply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name given to entities like variables, functions, classes, modules, or other objects</a:t>
            </a:r>
            <a:endParaRPr lang="en-US" altLang="zh-CN" sz="14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1400" b="1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Rules 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 </a:t>
            </a: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Identifiers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✅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Allowed characters (</a:t>
            </a:r>
            <a:r>
              <a:rPr lang="en-US" altLang="zh-CN" sz="1400" b="1" i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same as C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Letters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(A–Z, a–z)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Digits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(0–9) — but cannot start with a digit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Underscore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(_)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❌</a:t>
            </a: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Not allowed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Spaces or special characters like @, #, $, %, !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Cannot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 a Python keyword (reserved words like if, else, for, while, def, class, etc.)</a:t>
            </a:r>
          </a:p>
          <a:p>
            <a:pPr lvl="1">
              <a:lnSpc>
                <a:spcPct val="150000"/>
              </a:lnSpc>
            </a:pPr>
            <a:endParaRPr lang="en-US" altLang="zh-CN" sz="14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045856"/>
            <a:ext cx="3434730" cy="1797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567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Identifier, Variable, Assignment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Identifer </a:t>
            </a:r>
            <a:r>
              <a:rPr lang="zh-CN" altLang="en-US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标识符</a:t>
            </a:r>
            <a:endParaRPr lang="en-US" altLang="zh-CN" sz="1600" b="1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Valid Examples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my_var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986801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10</a:t>
            </a:r>
            <a:endParaRPr lang="zh-CN" altLang="zh-CN" sz="1400" dirty="0">
              <a:solidFill>
                <a:srgbClr val="383A42"/>
              </a:solidFill>
              <a:latin typeface="Consolas" pitchFamily="49" charset="0"/>
              <a:ea typeface="宋体" pitchFamily="2" charset="-122"/>
              <a:cs typeface="宋体" pitchFamily="2" charset="-122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_name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50A14F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"private"</a:t>
            </a:r>
            <a:endParaRPr lang="zh-CN" altLang="zh-CN" sz="1400" dirty="0">
              <a:solidFill>
                <a:srgbClr val="383A42"/>
              </a:solidFill>
              <a:latin typeface="Consolas" pitchFamily="49" charset="0"/>
              <a:ea typeface="宋体" pitchFamily="2" charset="-122"/>
              <a:cs typeface="宋体" pitchFamily="2" charset="-122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variable1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986801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5</a:t>
            </a:r>
            <a:endParaRPr lang="zh-CN" altLang="zh-CN" sz="1400" dirty="0">
              <a:solidFill>
                <a:srgbClr val="383A42"/>
              </a:solidFill>
              <a:latin typeface="Consolas" pitchFamily="49" charset="0"/>
              <a:ea typeface="宋体" pitchFamily="2" charset="-122"/>
              <a:cs typeface="宋体" pitchFamily="2" charset="-122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user_name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50A14F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"John"</a:t>
            </a:r>
            <a:endParaRPr lang="zh-CN" altLang="zh-CN" sz="1400" dirty="0">
              <a:solidFill>
                <a:srgbClr val="383A42"/>
              </a:solidFill>
              <a:latin typeface="Consolas" pitchFamily="49" charset="0"/>
              <a:ea typeface="宋体" pitchFamily="2" charset="-122"/>
              <a:cs typeface="宋体" pitchFamily="2" charset="-122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_private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0184BB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True</a:t>
            </a:r>
            <a:endParaRPr lang="zh-CN" altLang="zh-CN" sz="1400" dirty="0">
              <a:solidFill>
                <a:srgbClr val="383A42"/>
              </a:solidFill>
              <a:latin typeface="Consolas" pitchFamily="49" charset="0"/>
              <a:ea typeface="宋体" pitchFamily="2" charset="-122"/>
              <a:cs typeface="宋体" pitchFamily="2" charset="-122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myFunction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50A14F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"hello"</a:t>
            </a:r>
            <a:endParaRPr lang="zh-CN" altLang="zh-CN" sz="1400" dirty="0">
              <a:solidFill>
                <a:srgbClr val="383A42"/>
              </a:solidFill>
              <a:latin typeface="Consolas" pitchFamily="49" charset="0"/>
              <a:ea typeface="宋体" pitchFamily="2" charset="-122"/>
              <a:cs typeface="宋体" pitchFamily="2" charset="-122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MyClass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50A14F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"example"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1400" b="1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Invalid Examples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1variable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986801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10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  </a:t>
            </a:r>
            <a:r>
              <a:rPr lang="zh-CN" altLang="zh-CN" sz="1400" i="1" dirty="0" smtClean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#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Can't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start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with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a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digit</a:t>
            </a:r>
            <a:endParaRPr lang="zh-CN" altLang="zh-CN" sz="1400" dirty="0">
              <a:solidFill>
                <a:srgbClr val="383A42"/>
              </a:solidFill>
              <a:latin typeface="Consolas" pitchFamily="49" charset="0"/>
              <a:ea typeface="宋体" pitchFamily="2" charset="-122"/>
              <a:cs typeface="宋体" pitchFamily="2" charset="-122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my-var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986801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20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       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#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Hyphen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not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allowed</a:t>
            </a:r>
            <a:endParaRPr lang="zh-CN" altLang="zh-CN" sz="1400" dirty="0">
              <a:solidFill>
                <a:srgbClr val="383A42"/>
              </a:solidFill>
              <a:latin typeface="Consolas" pitchFamily="49" charset="0"/>
              <a:ea typeface="宋体" pitchFamily="2" charset="-122"/>
              <a:cs typeface="宋体" pitchFamily="2" charset="-122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my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var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986801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30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        </a:t>
            </a:r>
            <a:r>
              <a:rPr lang="en-US" altLang="zh-CN" sz="1400" dirty="0" smtClean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 </a:t>
            </a:r>
            <a:r>
              <a:rPr lang="zh-CN" altLang="zh-CN" sz="1400" i="1" dirty="0" smtClean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#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Space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not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allowed</a:t>
            </a:r>
            <a:endParaRPr lang="zh-CN" altLang="zh-CN" sz="1400" dirty="0">
              <a:solidFill>
                <a:srgbClr val="383A42"/>
              </a:solidFill>
              <a:latin typeface="Consolas" pitchFamily="49" charset="0"/>
              <a:ea typeface="宋体" pitchFamily="2" charset="-122"/>
              <a:cs typeface="宋体" pitchFamily="2" charset="-122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A626A4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class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383A4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50A14F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"test"</a:t>
            </a:r>
            <a:r>
              <a:rPr lang="zh-CN" altLang="zh-CN" sz="1400" dirty="0">
                <a:solidFill>
                  <a:srgbClr val="383A42"/>
                </a:solidFill>
                <a:latin typeface="Arial"/>
                <a:ea typeface="宋体" pitchFamily="2" charset="-122"/>
                <a:cs typeface="宋体" pitchFamily="2" charset="-122"/>
              </a:rPr>
              <a:t>   </a:t>
            </a:r>
            <a:r>
              <a:rPr lang="zh-CN" altLang="zh-CN" sz="1400" i="1" dirty="0" smtClean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#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'class'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is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a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reserved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keyword</a:t>
            </a:r>
            <a:endParaRPr lang="zh-CN" altLang="zh-CN" sz="1400" dirty="0">
              <a:solidFill>
                <a:srgbClr val="383A42"/>
              </a:solidFill>
              <a:latin typeface="Consolas" pitchFamily="49" charset="0"/>
              <a:ea typeface="宋体" pitchFamily="2" charset="-122"/>
              <a:cs typeface="宋体" pitchFamily="2" charset="-122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4078F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@name</a:t>
            </a:r>
            <a:r>
              <a:rPr lang="zh-CN" altLang="zh-CN" sz="1400" dirty="0">
                <a:solidFill>
                  <a:srgbClr val="4078F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4078F2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=</a:t>
            </a:r>
            <a:r>
              <a:rPr lang="zh-CN" altLang="zh-CN" sz="1400" dirty="0">
                <a:solidFill>
                  <a:srgbClr val="4078F2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dirty="0">
                <a:solidFill>
                  <a:srgbClr val="50A14F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"John"</a:t>
            </a:r>
            <a:r>
              <a:rPr lang="zh-CN" altLang="zh-CN" sz="1400" dirty="0">
                <a:solidFill>
                  <a:srgbClr val="4078F2"/>
                </a:solidFill>
                <a:latin typeface="Arial"/>
                <a:ea typeface="宋体" pitchFamily="2" charset="-122"/>
                <a:cs typeface="宋体" pitchFamily="2" charset="-122"/>
              </a:rPr>
              <a:t>   </a:t>
            </a:r>
            <a:r>
              <a:rPr lang="zh-CN" altLang="zh-CN" sz="1400" i="1" dirty="0" smtClean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#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@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symbol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not</a:t>
            </a:r>
            <a:r>
              <a:rPr lang="zh-CN" altLang="zh-CN" sz="1400" i="1" dirty="0">
                <a:solidFill>
                  <a:srgbClr val="A0A1A7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zh-CN" sz="1400" i="1" dirty="0" smtClean="0">
                <a:solidFill>
                  <a:srgbClr val="A0A1A7"/>
                </a:solidFill>
                <a:latin typeface="Consolas" pitchFamily="49" charset="0"/>
                <a:ea typeface="宋体" pitchFamily="2" charset="-122"/>
                <a:cs typeface="宋体" pitchFamily="2" charset="-122"/>
              </a:rPr>
              <a:t>allowed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045856"/>
            <a:ext cx="3434730" cy="1797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96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Identifier, Variable, Assignment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Identifer </a:t>
            </a:r>
            <a:r>
              <a:rPr lang="zh-CN" altLang="en-US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标识符</a:t>
            </a:r>
            <a:endParaRPr lang="en-US" altLang="zh-CN" sz="1600" b="1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Naming Conventions (Best Practices)</a:t>
            </a:r>
          </a:p>
          <a:p>
            <a:pPr lvl="1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While not enforced by Python, these are strongly recommended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992512"/>
              </p:ext>
            </p:extLst>
          </p:nvPr>
        </p:nvGraphicFramePr>
        <p:xfrm>
          <a:off x="827584" y="2281436"/>
          <a:ext cx="7488831" cy="2516906"/>
        </p:xfrm>
        <a:graphic>
          <a:graphicData uri="http://schemas.openxmlformats.org/drawingml/2006/table">
            <a:tbl>
              <a:tblPr/>
              <a:tblGrid>
                <a:gridCol w="2496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92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Convention</a:t>
                      </a:r>
                    </a:p>
                  </a:txBody>
                  <a:tcPr marL="87719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marL="116958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</a:t>
                      </a:r>
                    </a:p>
                  </a:txBody>
                  <a:tcPr marL="116958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25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effectLst/>
                        </a:rPr>
                        <a:t>camalCase</a:t>
                      </a:r>
                      <a:endParaRPr lang="en-US" sz="1400" dirty="0">
                        <a:effectLst/>
                      </a:endParaRPr>
                    </a:p>
                  </a:txBody>
                  <a:tcPr marL="87719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effectLst/>
                        </a:rPr>
                        <a:t>getText</a:t>
                      </a:r>
                      <a:r>
                        <a:rPr lang="en-US" sz="1400" dirty="0" smtClean="0">
                          <a:effectLst/>
                        </a:rPr>
                        <a:t>,</a:t>
                      </a:r>
                      <a:r>
                        <a:rPr lang="en-US" sz="1400" baseline="0" dirty="0" smtClean="0">
                          <a:effectLst/>
                        </a:rPr>
                        <a:t> </a:t>
                      </a:r>
                      <a:r>
                        <a:rPr lang="en-US" sz="1400" baseline="0" dirty="0" err="1" smtClean="0">
                          <a:effectLst/>
                        </a:rPr>
                        <a:t>setValue</a:t>
                      </a:r>
                      <a:r>
                        <a:rPr lang="en-US" sz="1400" baseline="0" dirty="0" smtClean="0">
                          <a:effectLst/>
                        </a:rPr>
                        <a:t>, </a:t>
                      </a:r>
                      <a:r>
                        <a:rPr lang="en-US" sz="1400" baseline="0" dirty="0" err="1" smtClean="0">
                          <a:effectLst/>
                        </a:rPr>
                        <a:t>loadData</a:t>
                      </a:r>
                      <a:endParaRPr lang="en-US" sz="1400" dirty="0">
                        <a:effectLst/>
                      </a:endParaRPr>
                    </a:p>
                  </a:txBody>
                  <a:tcPr marL="116958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Functions</a:t>
                      </a:r>
                      <a:endParaRPr lang="en-US" sz="1400" dirty="0">
                        <a:effectLst/>
                      </a:endParaRPr>
                    </a:p>
                  </a:txBody>
                  <a:tcPr marL="116958" marR="87719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16485"/>
                  </a:ext>
                </a:extLst>
              </a:tr>
              <a:tr h="358225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snake_case</a:t>
                      </a:r>
                    </a:p>
                  </a:txBody>
                  <a:tcPr marL="87719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user_name, total_count</a:t>
                      </a:r>
                    </a:p>
                  </a:txBody>
                  <a:tcPr marL="116958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Variables, modules, files</a:t>
                      </a:r>
                      <a:endParaRPr lang="en-US" sz="1400" dirty="0">
                        <a:effectLst/>
                      </a:endParaRPr>
                    </a:p>
                  </a:txBody>
                  <a:tcPr marL="116958" marR="87719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25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PascalCase</a:t>
                      </a:r>
                    </a:p>
                  </a:txBody>
                  <a:tcPr marL="87719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MyClass, UserProfile</a:t>
                      </a:r>
                    </a:p>
                  </a:txBody>
                  <a:tcPr marL="116958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Class names</a:t>
                      </a:r>
                    </a:p>
                  </a:txBody>
                  <a:tcPr marL="116958" marR="87719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25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UPPER_CASE</a:t>
                      </a:r>
                    </a:p>
                  </a:txBody>
                  <a:tcPr marL="87719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PI, MAX_LIMIT</a:t>
                      </a:r>
                    </a:p>
                  </a:txBody>
                  <a:tcPr marL="116958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Constants</a:t>
                      </a:r>
                    </a:p>
                  </a:txBody>
                  <a:tcPr marL="116958" marR="87719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225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_single_leading</a:t>
                      </a:r>
                    </a:p>
                  </a:txBody>
                  <a:tcPr marL="87719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_internal</a:t>
                      </a:r>
                    </a:p>
                  </a:txBody>
                  <a:tcPr marL="116958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"Private" by convention</a:t>
                      </a:r>
                    </a:p>
                  </a:txBody>
                  <a:tcPr marL="116958" marR="87719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25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__double_leading</a:t>
                      </a:r>
                    </a:p>
                  </a:txBody>
                  <a:tcPr marL="87719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__private</a:t>
                      </a:r>
                    </a:p>
                  </a:txBody>
                  <a:tcPr marL="116958" marR="116958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Name mangling in classes</a:t>
                      </a:r>
                    </a:p>
                  </a:txBody>
                  <a:tcPr marL="116958" marR="87719" marT="73099" marB="73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09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Identifier, Variable, Assignment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Identifer </a:t>
            </a:r>
            <a:r>
              <a:rPr lang="zh-CN" altLang="en-US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标识符</a:t>
            </a:r>
            <a:endParaRPr lang="en-US" altLang="zh-CN" sz="1600" b="1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Importatnt Notes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Case-sensitive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Unicode allowed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Python supports Unicode characters in identifiers (though not commonly used)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Dunder (double underscores)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Methods like </a:t>
            </a:r>
            <a:r>
              <a:rPr lang="en-US" altLang="zh-CN" sz="1200" dirty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__init__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have special meaning in 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Python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735" y="2700640"/>
            <a:ext cx="45148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902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Identifier, Variable, Assignment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Variable </a:t>
            </a:r>
            <a:r>
              <a:rPr lang="zh-CN" altLang="en-US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变量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variable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is a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named container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that stores a value in memory. 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8"/>
          <a:stretch/>
        </p:blipFill>
        <p:spPr bwMode="auto">
          <a:xfrm>
            <a:off x="1730896" y="1662086"/>
            <a:ext cx="5682208" cy="3499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66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Identifier, Variable, Assignment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761169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Variable </a:t>
            </a:r>
            <a:r>
              <a:rPr lang="zh-CN" altLang="en-US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变量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 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Characteristics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of Python </a:t>
            </a: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Variables: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 Declaration Required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Unlike many languages, you don't need to declare a variable's type beforehand. Python figures it out 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automatically.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Dynamically Typed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Variables can change type at any 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time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Case-Sensitive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b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myvar, MyVar, and MYVAR are three different variables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24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Identifier, Variable, Assignment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761169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Assignment </a:t>
            </a:r>
            <a:r>
              <a:rPr lang="zh-CN" altLang="en-US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赋值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034325"/>
            <a:ext cx="4896544" cy="200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046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1325380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2091095"/>
            <a:ext cx="6729772" cy="2278573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Identifer, Variable, Assignment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Built-in Data Types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Operator &amp; Expression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Basic Input / Ouput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86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Built-in Data Types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内置数据类型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Boolean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布尔型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Integer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整型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Float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浮点型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Complex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复数型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字符串型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NoneType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空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4" t="3913" r="37647"/>
          <a:stretch/>
        </p:blipFill>
        <p:spPr bwMode="auto">
          <a:xfrm>
            <a:off x="4710720" y="1705372"/>
            <a:ext cx="4102323" cy="341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906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Built-in Data Types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内置数据类型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Boolean </a:t>
            </a:r>
            <a:r>
              <a:rPr lang="zh-CN" altLang="en-US" sz="1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布尔型</a:t>
            </a:r>
            <a:endParaRPr lang="en-US" altLang="zh-CN" sz="1600" dirty="0" smtClean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Integer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整型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Float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浮点型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Complex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复数型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字符串型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NoneType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空型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31840" y="3192047"/>
            <a:ext cx="2880320" cy="6463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is_student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is_married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7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Built-in Data Types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内置数据类型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Boolean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布尔型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Integer </a:t>
            </a:r>
            <a:r>
              <a:rPr lang="zh-CN" altLang="en-US" sz="1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整型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Float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浮点型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Complex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复数型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字符串型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NoneType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空型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05564" y="3013993"/>
            <a:ext cx="2132872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25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2000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month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12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day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25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97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Built-in Data Types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内置数据类型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Boolean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布尔型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Integer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整型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6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Float </a:t>
            </a:r>
            <a:r>
              <a:rPr lang="zh-CN" altLang="en-US" sz="1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浮点型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Complex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复数型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字符串型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NoneType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空型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82598" y="2809633"/>
            <a:ext cx="4378804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height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168.6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weight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55.0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PI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3.14159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LIGHT_SPEED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2.99792458e8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dist_sun_earth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1.49597870700e11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44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382598" y="2809633"/>
            <a:ext cx="4378804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height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168.6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weight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55.0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PI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3.14159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LIGHT_SPEED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2.99792458e8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dist_sun_earth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1.49597870700e11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Built-in Data Types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内置数据类型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Boolean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布尔型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Integer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整型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6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Float </a:t>
            </a:r>
            <a:r>
              <a:rPr lang="zh-CN" altLang="en-US" sz="1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浮点型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Complex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复数型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字符串型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NoneType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空型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标注 8"/>
          <p:cNvSpPr/>
          <p:nvPr/>
        </p:nvSpPr>
        <p:spPr>
          <a:xfrm>
            <a:off x="5436096" y="3104725"/>
            <a:ext cx="3384376" cy="828092"/>
          </a:xfrm>
          <a:prstGeom prst="wedgeRoundRectCallout">
            <a:avLst>
              <a:gd name="adj1" fmla="val -36619"/>
              <a:gd name="adj2" fmla="val 897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Exercise: Calculate how long it takes light to travel from the Sun to the Earth</a:t>
            </a:r>
            <a:r>
              <a:rPr lang="en-US" altLang="zh-C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45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Built-in Data Types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内置数据类型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Boolean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布尔型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Integer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整型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Float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浮点型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6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Complex </a:t>
            </a:r>
            <a:r>
              <a:rPr lang="zh-CN" altLang="en-US" sz="1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复数型</a:t>
            </a:r>
            <a:endParaRPr lang="en-US" altLang="zh-CN" sz="1600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字符串型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NoneType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空型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059832" y="3013993"/>
            <a:ext cx="3024336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coeft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12.3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4.56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j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17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Built-in Data Types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内置数据类型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Boolean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布尔型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Integer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整型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Float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浮点型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Complex 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复数型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</a:t>
            </a:r>
            <a:r>
              <a:rPr lang="zh-CN" altLang="en-US" sz="1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字符串型</a:t>
            </a:r>
            <a:endParaRPr lang="en-US" altLang="zh-CN" sz="1600" dirty="0" smtClean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NoneType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空型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627784" y="3013993"/>
            <a:ext cx="3888432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9CDCFE"/>
                </a:solidFill>
                <a:latin typeface="Consolas"/>
              </a:rPr>
              <a:t>nationality</a:t>
            </a:r>
            <a:r>
              <a:rPr lang="en-US" altLang="zh-CN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dirty="0">
                <a:solidFill>
                  <a:srgbClr val="CE9178"/>
                </a:solidFill>
                <a:latin typeface="Consolas"/>
              </a:rPr>
              <a:t>"China"</a:t>
            </a:r>
            <a:endParaRPr lang="en-US" altLang="zh-CN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dirty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altLang="zh-CN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dirty="0">
                <a:solidFill>
                  <a:srgbClr val="CE9178"/>
                </a:solidFill>
                <a:latin typeface="Consolas"/>
              </a:rPr>
              <a:t>"Zibang Zhang"</a:t>
            </a:r>
            <a:endParaRPr lang="en-US" altLang="zh-CN" dirty="0">
              <a:solidFill>
                <a:srgbClr val="CCCCCC"/>
              </a:solidFill>
              <a:latin typeface="Consolas"/>
            </a:endParaRPr>
          </a:p>
          <a:p>
            <a:r>
              <a:rPr lang="en-US" altLang="zh-CN" dirty="0">
                <a:solidFill>
                  <a:srgbClr val="9CDCFE"/>
                </a:solidFill>
                <a:latin typeface="Consolas"/>
              </a:rPr>
              <a:t>major</a:t>
            </a:r>
            <a:r>
              <a:rPr lang="en-US" altLang="zh-CN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dirty="0">
                <a:solidFill>
                  <a:srgbClr val="CE9178"/>
                </a:solidFill>
                <a:latin typeface="Consolas"/>
              </a:rPr>
              <a:t>"</a:t>
            </a:r>
            <a:r>
              <a:rPr lang="zh-CN" altLang="en-US" dirty="0">
                <a:solidFill>
                  <a:srgbClr val="CE9178"/>
                </a:solidFill>
                <a:latin typeface="Consolas"/>
              </a:rPr>
              <a:t>光电信息科学与工程</a:t>
            </a:r>
            <a:r>
              <a:rPr lang="en-US" altLang="zh-CN" dirty="0">
                <a:solidFill>
                  <a:srgbClr val="CE9178"/>
                </a:solidFill>
                <a:latin typeface="Consolas"/>
              </a:rPr>
              <a:t>"</a:t>
            </a:r>
            <a:endParaRPr lang="zh-CN" altLang="en-US" b="0" dirty="0">
              <a:solidFill>
                <a:srgbClr val="CCCCCC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67159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Built-in Data Types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内置数据类型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Boolean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布尔型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Integer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整型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Float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浮点型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Complex 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复数型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</a:t>
            </a:r>
            <a:r>
              <a:rPr lang="zh-CN" altLang="en-US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字符串型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NoneType </a:t>
            </a:r>
            <a:r>
              <a:rPr lang="zh-CN" altLang="en-US" sz="1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空型</a:t>
            </a:r>
            <a:endParaRPr lang="en-US" altLang="zh-CN" sz="1600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627784" y="3198659"/>
            <a:ext cx="3888432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9CDCFE"/>
                </a:solidFill>
                <a:latin typeface="Consolas"/>
              </a:rPr>
              <a:t>supervisor</a:t>
            </a:r>
            <a:r>
              <a:rPr lang="en-US" altLang="zh-CN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dirty="0">
                <a:solidFill>
                  <a:srgbClr val="D4D4D4"/>
                </a:solidFill>
                <a:latin typeface="Consolas"/>
              </a:rPr>
              <a:t>=</a:t>
            </a:r>
            <a:r>
              <a:rPr lang="en-US" altLang="zh-CN" dirty="0">
                <a:solidFill>
                  <a:srgbClr val="CCCCCC"/>
                </a:solidFill>
                <a:latin typeface="Consolas"/>
              </a:rPr>
              <a:t> </a:t>
            </a:r>
            <a:r>
              <a:rPr lang="en-US" altLang="zh-CN" dirty="0">
                <a:solidFill>
                  <a:srgbClr val="569CD6"/>
                </a:solidFill>
                <a:latin typeface="Consolas"/>
              </a:rPr>
              <a:t>None</a:t>
            </a:r>
            <a:endParaRPr lang="en-US" altLang="zh-CN" b="0" dirty="0">
              <a:solidFill>
                <a:srgbClr val="CCCCCC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165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String Formatting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字符串格式化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%-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formatting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(also called </a:t>
            </a:r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printf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-style string formatting) is one of the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oldest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ways to format strings. It uses the % operator to substitute values into a 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551931"/>
              </p:ext>
            </p:extLst>
          </p:nvPr>
        </p:nvGraphicFramePr>
        <p:xfrm>
          <a:off x="683568" y="2281436"/>
          <a:ext cx="2664296" cy="1879466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188973032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58138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032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21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896013"/>
                  </a:ext>
                </a:extLst>
              </a:tr>
              <a:tr h="32498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Floating-point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615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Hexadecimal (lowercase)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534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083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literal % 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28517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3758760" y="1840652"/>
            <a:ext cx="4824536" cy="29700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"Alice"</a:t>
            </a:r>
            <a:endParaRPr lang="en-US" sz="11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"Hello, </a:t>
            </a:r>
            <a:r>
              <a:rPr lang="en-US" sz="1100" dirty="0">
                <a:solidFill>
                  <a:srgbClr val="569CD6"/>
                </a:solidFill>
                <a:latin typeface="Consolas" panose="020B0609020204030204" pitchFamily="49" charset="0"/>
              </a:rPr>
              <a:t>%s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!"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en-US" sz="11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"Bob"</a:t>
            </a:r>
            <a:endParaRPr lang="en-US" sz="11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9CDCFE"/>
                </a:solidFill>
                <a:latin typeface="Consolas" panose="020B0609020204030204" pitchFamily="49" charset="0"/>
              </a:rPr>
              <a:t>age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B5CEA8"/>
                </a:solidFill>
                <a:latin typeface="Consolas" panose="020B0609020204030204" pitchFamily="49" charset="0"/>
              </a:rPr>
              <a:t>25</a:t>
            </a:r>
            <a:endParaRPr lang="en-US" sz="11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569CD6"/>
                </a:solidFill>
                <a:latin typeface="Consolas" panose="020B0609020204030204" pitchFamily="49" charset="0"/>
              </a:rPr>
              <a:t>%s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 is </a:t>
            </a:r>
            <a:r>
              <a:rPr lang="en-US" sz="1100" dirty="0">
                <a:solidFill>
                  <a:srgbClr val="569CD6"/>
                </a:solidFill>
                <a:latin typeface="Consolas" panose="020B0609020204030204" pitchFamily="49" charset="0"/>
              </a:rPr>
              <a:t>%d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 years old."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% (</a:t>
            </a:r>
            <a:r>
              <a:rPr lang="en-US" sz="11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1100" dirty="0">
                <a:solidFill>
                  <a:srgbClr val="9CDCFE"/>
                </a:solidFill>
                <a:latin typeface="Consolas" panose="020B0609020204030204" pitchFamily="49" charset="0"/>
              </a:rPr>
              <a:t>age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9CDCFE"/>
                </a:solidFill>
                <a:latin typeface="Consolas" panose="020B0609020204030204" pitchFamily="49" charset="0"/>
              </a:rPr>
              <a:t>pi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B5CEA8"/>
                </a:solidFill>
                <a:latin typeface="Consolas" panose="020B0609020204030204" pitchFamily="49" charset="0"/>
              </a:rPr>
              <a:t>3.14159265</a:t>
            </a:r>
            <a:endParaRPr lang="en-US" sz="11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"Pi is approximately </a:t>
            </a:r>
            <a:r>
              <a:rPr lang="en-US" sz="1100" dirty="0">
                <a:solidFill>
                  <a:srgbClr val="569CD6"/>
                </a:solidFill>
                <a:latin typeface="Consolas" panose="020B0609020204030204" pitchFamily="49" charset="0"/>
              </a:rPr>
              <a:t>%.2f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en-US" sz="1100" dirty="0">
                <a:solidFill>
                  <a:srgbClr val="9CDCFE"/>
                </a:solidFill>
                <a:latin typeface="Consolas" panose="020B0609020204030204" pitchFamily="49" charset="0"/>
              </a:rPr>
              <a:t>pi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solidFill>
                  <a:srgbClr val="6A9955"/>
                </a:solidFill>
                <a:latin typeface="Consolas" panose="020B0609020204030204" pitchFamily="49" charset="0"/>
              </a:rPr>
              <a:t># Output: Pi is approximately 3.14</a:t>
            </a:r>
            <a:endParaRPr lang="en-US" sz="11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"Pi is approximately </a:t>
            </a:r>
            <a:r>
              <a:rPr lang="en-US" sz="1100" dirty="0">
                <a:solidFill>
                  <a:srgbClr val="569CD6"/>
                </a:solidFill>
                <a:latin typeface="Consolas" panose="020B0609020204030204" pitchFamily="49" charset="0"/>
              </a:rPr>
              <a:t>%10.3f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en-US" sz="1100" dirty="0">
                <a:solidFill>
                  <a:srgbClr val="9CDCFE"/>
                </a:solidFill>
                <a:latin typeface="Consolas" panose="020B0609020204030204" pitchFamily="49" charset="0"/>
              </a:rPr>
              <a:t>pi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solidFill>
                  <a:srgbClr val="6A9955"/>
                </a:solidFill>
                <a:latin typeface="Consolas" panose="020B0609020204030204" pitchFamily="49" charset="0"/>
              </a:rPr>
              <a:t># Output: Pi is approximately      3.142</a:t>
            </a:r>
            <a:endParaRPr lang="en-US" sz="11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569CD6"/>
                </a:solidFill>
                <a:latin typeface="Consolas" panose="020B0609020204030204" pitchFamily="49" charset="0"/>
              </a:rPr>
              <a:t>%5d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en-US" sz="1100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)      </a:t>
            </a:r>
            <a:r>
              <a:rPr lang="en-US" sz="1100" dirty="0">
                <a:solidFill>
                  <a:srgbClr val="6A9955"/>
                </a:solidFill>
                <a:latin typeface="Consolas" panose="020B0609020204030204" pitchFamily="49" charset="0"/>
              </a:rPr>
              <a:t># Output: "   42"  (right-aligned)</a:t>
            </a:r>
            <a:endParaRPr lang="en-US" sz="11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569CD6"/>
                </a:solidFill>
                <a:latin typeface="Consolas" panose="020B0609020204030204" pitchFamily="49" charset="0"/>
              </a:rPr>
              <a:t>%-5d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|"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en-US" sz="1100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)    </a:t>
            </a:r>
            <a:r>
              <a:rPr lang="en-US" sz="1100" dirty="0">
                <a:solidFill>
                  <a:srgbClr val="6A9955"/>
                </a:solidFill>
                <a:latin typeface="Consolas" panose="020B0609020204030204" pitchFamily="49" charset="0"/>
              </a:rPr>
              <a:t># Output: "42   |" (left-aligned)</a:t>
            </a:r>
            <a:endParaRPr lang="en-US" sz="11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569CD6"/>
                </a:solidFill>
                <a:latin typeface="Consolas" panose="020B0609020204030204" pitchFamily="49" charset="0"/>
              </a:rPr>
              <a:t>%05d</a:t>
            </a: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en-US" sz="1100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)     </a:t>
            </a:r>
            <a:r>
              <a:rPr lang="en-US" sz="1100" dirty="0">
                <a:solidFill>
                  <a:srgbClr val="6A9955"/>
                </a:solidFill>
                <a:latin typeface="Consolas" panose="020B0609020204030204" pitchFamily="49" charset="0"/>
              </a:rPr>
              <a:t># Output: "00042"  (zero-padded)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3568" y="1970623"/>
            <a:ext cx="25250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Common Format Specifiers</a:t>
            </a:r>
          </a:p>
        </p:txBody>
      </p:sp>
    </p:spTree>
    <p:extLst>
      <p:ext uri="{BB962C8B-B14F-4D97-AF65-F5344CB8AC3E}">
        <p14:creationId xmlns:p14="http://schemas.microsoft.com/office/powerpoint/2010/main" val="386531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Data Type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Conversion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数据类型转换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 conversion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(also called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 casting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means changing a value from one data type to another. 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9552" y="2356367"/>
            <a:ext cx="80648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There are two main kinds: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Implicit conversion 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隐式转换 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Python does it automatically.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Explicit conversion 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显示转换 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you do it manually using built-in functions.</a:t>
            </a:r>
          </a:p>
        </p:txBody>
      </p:sp>
    </p:spTree>
    <p:extLst>
      <p:ext uri="{BB962C8B-B14F-4D97-AF65-F5344CB8AC3E}">
        <p14:creationId xmlns:p14="http://schemas.microsoft.com/office/powerpoint/2010/main" val="133621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Implicit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Conversion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(automatic)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Python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automatically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converts a "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smaller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 type to a "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larger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 type when needed, without losing information.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619672" y="2217376"/>
            <a:ext cx="5904656" cy="16312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num_int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num_float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2.5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num_int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num_float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  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12.5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))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&lt;class 'float'&gt;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51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Explicit Conversion (manual) 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099983"/>
              </p:ext>
            </p:extLst>
          </p:nvPr>
        </p:nvGraphicFramePr>
        <p:xfrm>
          <a:off x="539552" y="2043982"/>
          <a:ext cx="2602632" cy="274320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951801">
                  <a:extLst>
                    <a:ext uri="{9D8B030D-6E8A-4147-A177-3AD203B41FA5}">
                      <a16:colId xmlns:a16="http://schemas.microsoft.com/office/drawing/2014/main" val="2440663993"/>
                    </a:ext>
                  </a:extLst>
                </a:gridCol>
                <a:gridCol w="1650831">
                  <a:extLst>
                    <a:ext uri="{9D8B030D-6E8A-4147-A177-3AD203B41FA5}">
                      <a16:colId xmlns:a16="http://schemas.microsoft.com/office/drawing/2014/main" val="1498686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Converts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825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966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6835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527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Boolean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710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807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tuple()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604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269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dict()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Dictionary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9694530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779912" y="2404022"/>
            <a:ext cx="4752528" cy="184665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"123"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x_int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  = 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123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x_float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123.0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x_str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  = </a:t>
            </a:r>
            <a:r>
              <a:rPr lang="en-US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123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"123"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x_bool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 =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bool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True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x_list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 = </a:t>
            </a:r>
            <a:r>
              <a:rPr lang="en-US" sz="1600" dirty="0">
                <a:solidFill>
                  <a:srgbClr val="4EC9B0"/>
                </a:solidFill>
                <a:latin typeface="Consolas" panose="020B0609020204030204" pitchFamily="49" charset="0"/>
              </a:rPr>
              <a:t>list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 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['1', '2', '3']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63824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Use explicit conversion functions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when you need control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 Python only converts automatically when it is safe and lossless (mainly between numeric types).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5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1325380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2091095"/>
            <a:ext cx="6729772" cy="2278573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Identifer, Variable, Assignment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Built-in Data Types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Operators &amp; Expressions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Basic Input / Ouput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3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Operators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运算符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Operators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special symbols or keywords that perform operations on values and variables (called operands). Python groups them into several categories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endParaRPr lang="en-US" altLang="zh-CN" sz="1600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1849388"/>
            <a:ext cx="6048672" cy="316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7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Arithmetic Operators 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算数运算符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032" y="1209178"/>
            <a:ext cx="6451937" cy="337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1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Relational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Operators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关系运算符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1273324"/>
            <a:ext cx="6245475" cy="326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Logical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Operators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逻辑运算符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032" y="1169243"/>
            <a:ext cx="6451937" cy="337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9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Assignment Operators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赋值运算符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1322299"/>
            <a:ext cx="6245475" cy="326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3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Bitwise Operators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（按）位运算符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1390679"/>
            <a:ext cx="6245475" cy="326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9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Membership &amp; Identity Operators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成员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身份运算符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35" y="1097506"/>
            <a:ext cx="7097131" cy="354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3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Membership &amp; Identity Operators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成员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身份运算符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Membership Operators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Test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whether a value is in a sequence. 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Identity Operators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Check whether two variables refer to the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same object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memory (not just equal values).</a:t>
            </a:r>
            <a:endParaRPr lang="en-US" altLang="zh-CN" sz="1600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59408" y="2137420"/>
            <a:ext cx="6534472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"a"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  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True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"z"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True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})      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True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True  (same value)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False (different objects)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is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    </a:t>
            </a: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# True  (same object)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66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1325380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2091095"/>
            <a:ext cx="6729772" cy="2278573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Identifer, Variable, Assignment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Built-in Data Types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Operators &amp; Expressions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 smtClean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Basic Input / Ouput</a:t>
            </a:r>
            <a:endParaRPr lang="en-US" altLang="en-US" sz="1800" dirty="0">
              <a:solidFill>
                <a:srgbClr val="C00000"/>
              </a:solidFill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71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Basic Input / Output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Python uses simple built-in functions for input and output: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input()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for reading data from the user and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print()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 displaying data.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719" y="1978687"/>
            <a:ext cx="5204563" cy="289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6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Escape Characters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28184" y="4873724"/>
            <a:ext cx="15841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An escape character is a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backslash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(\) followed by a special character. 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lets you include characters in a string that would otherwise be difficult or impossible to type directly — like a newline, a tab, or a quote inside a quoted string.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187875"/>
              </p:ext>
            </p:extLst>
          </p:nvPr>
        </p:nvGraphicFramePr>
        <p:xfrm>
          <a:off x="539552" y="2137420"/>
          <a:ext cx="3689901" cy="2421660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137929067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632588218"/>
                    </a:ext>
                  </a:extLst>
                </a:gridCol>
                <a:gridCol w="1961709">
                  <a:extLst>
                    <a:ext uri="{9D8B030D-6E8A-4147-A177-3AD203B41FA5}">
                      <a16:colId xmlns:a16="http://schemas.microsoft.com/office/drawing/2014/main" val="249498912"/>
                    </a:ext>
                  </a:extLst>
                </a:gridCol>
              </a:tblGrid>
              <a:tr h="163996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Escape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3556"/>
                  </a:ext>
                </a:extLst>
              </a:tr>
              <a:tr h="163996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\n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Newline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Moves to the next line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6155611"/>
                  </a:ext>
                </a:extLst>
              </a:tr>
              <a:tr h="163996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\t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Inserts a horizontal tab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7821"/>
                  </a:ext>
                </a:extLst>
              </a:tr>
              <a:tr h="163996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\\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Backslash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Inserts a literal \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102532"/>
                  </a:ext>
                </a:extLst>
              </a:tr>
              <a:tr h="163996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\'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quote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Inserts a literal '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83801"/>
                  </a:ext>
                </a:extLst>
              </a:tr>
              <a:tr h="163996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\"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Double quote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Inserts a literal "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75672"/>
                  </a:ext>
                </a:extLst>
              </a:tr>
              <a:tr h="286992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\r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Carriage return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Moves cursor to the start of the line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93985"/>
                  </a:ext>
                </a:extLst>
              </a:tr>
              <a:tr h="286992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\b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Backspace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Moves cursor back one character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358552"/>
                  </a:ext>
                </a:extLst>
              </a:tr>
              <a:tr h="163996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\f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 feed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 break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213355"/>
                  </a:ext>
                </a:extLst>
              </a:tr>
              <a:tr h="163996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\v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Vertical tab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Vertical tab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188415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709674"/>
              </p:ext>
            </p:extLst>
          </p:nvPr>
        </p:nvGraphicFramePr>
        <p:xfrm>
          <a:off x="4716016" y="2137420"/>
          <a:ext cx="3888432" cy="2496372"/>
        </p:xfrm>
        <a:graphic>
          <a:graphicData uri="http://schemas.openxmlformats.org/drawingml/2006/table">
            <a:tbl>
              <a:tblPr/>
              <a:tblGrid>
                <a:gridCol w="834705">
                  <a:extLst>
                    <a:ext uri="{9D8B030D-6E8A-4147-A177-3AD203B41FA5}">
                      <a16:colId xmlns:a16="http://schemas.microsoft.com/office/drawing/2014/main" val="1379290678"/>
                    </a:ext>
                  </a:extLst>
                </a:gridCol>
                <a:gridCol w="1138235">
                  <a:extLst>
                    <a:ext uri="{9D8B030D-6E8A-4147-A177-3AD203B41FA5}">
                      <a16:colId xmlns:a16="http://schemas.microsoft.com/office/drawing/2014/main" val="632588218"/>
                    </a:ext>
                  </a:extLst>
                </a:gridCol>
                <a:gridCol w="1915492">
                  <a:extLst>
                    <a:ext uri="{9D8B030D-6E8A-4147-A177-3AD203B41FA5}">
                      <a16:colId xmlns:a16="http://schemas.microsoft.com/office/drawing/2014/main" val="249498912"/>
                    </a:ext>
                  </a:extLst>
                </a:gridCol>
              </a:tblGrid>
              <a:tr h="163996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Escape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3556"/>
                  </a:ext>
                </a:extLst>
              </a:tr>
              <a:tr h="286992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\a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Bell (alert)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Attempts to beep (often ignored — see below)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6737946"/>
                  </a:ext>
                </a:extLst>
              </a:tr>
              <a:tr h="163996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\0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 character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964275"/>
                  </a:ext>
                </a:extLst>
              </a:tr>
              <a:tr h="286992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\ooo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Octal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 with octal value </a:t>
                      </a:r>
                      <a:r>
                        <a:rPr lang="en-US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ooo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607466"/>
                  </a:ext>
                </a:extLst>
              </a:tr>
              <a:tr h="286992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\xhh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 with hex value hh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259930"/>
                  </a:ext>
                </a:extLst>
              </a:tr>
              <a:tr h="286992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\N{name}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Unicode name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 by Unicode name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04292"/>
                  </a:ext>
                </a:extLst>
              </a:tr>
              <a:tr h="286992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\uxxxx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Unicode 16-bit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 with 16-bit hex value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239271"/>
                  </a:ext>
                </a:extLst>
              </a:tr>
              <a:tr h="286992"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\Uxxxxxxxx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Unicode 32-bit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 with 32-bit hex value</a:t>
                      </a:r>
                    </a:p>
                  </a:txBody>
                  <a:tcPr marL="40999" marR="40999" marT="20499" marB="20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348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38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22887</TotalTime>
  <Words>1787</Words>
  <Application>Microsoft Office PowerPoint</Application>
  <PresentationFormat>全屏显示(16:10)</PresentationFormat>
  <Paragraphs>368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Arial Unicode MS</vt:lpstr>
      <vt:lpstr>MS PGothic</vt:lpstr>
      <vt:lpstr>宋体</vt:lpstr>
      <vt:lpstr>微软雅黑</vt:lpstr>
      <vt:lpstr>Arial</vt:lpstr>
      <vt:lpstr>Calibri</vt:lpstr>
      <vt:lpstr>Consolas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单像素成像技术与 单像素免成像技术</dc:title>
  <dc:creator>pc</dc:creator>
  <cp:lastModifiedBy>pc</cp:lastModifiedBy>
  <cp:revision>1941</cp:revision>
  <dcterms:created xsi:type="dcterms:W3CDTF">2020-06-09T03:02:09Z</dcterms:created>
  <dcterms:modified xsi:type="dcterms:W3CDTF">2026-09-22T03:03:26Z</dcterms:modified>
</cp:coreProperties>
</file>