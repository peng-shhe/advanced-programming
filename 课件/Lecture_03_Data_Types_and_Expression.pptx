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87" r:id="rId2"/>
    <p:sldId id="331" r:id="rId3"/>
    <p:sldId id="2007579617" r:id="rId4"/>
    <p:sldId id="2007579630" r:id="rId5"/>
    <p:sldId id="2007579631" r:id="rId6"/>
    <p:sldId id="2007579632" r:id="rId7"/>
    <p:sldId id="2007579634" r:id="rId8"/>
    <p:sldId id="2007579635" r:id="rId9"/>
    <p:sldId id="2007579636" r:id="rId10"/>
    <p:sldId id="2007579637" r:id="rId11"/>
    <p:sldId id="2007579638" r:id="rId12"/>
    <p:sldId id="2007579639" r:id="rId13"/>
    <p:sldId id="2007579640" r:id="rId14"/>
    <p:sldId id="2007579641" r:id="rId15"/>
    <p:sldId id="2007579643" r:id="rId16"/>
    <p:sldId id="2007579642" r:id="rId17"/>
    <p:sldId id="2007579644" r:id="rId18"/>
    <p:sldId id="2007579645" r:id="rId19"/>
  </p:sldIdLst>
  <p:sldSz cx="9144000" cy="5715000" type="screen16x1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181">
          <p15:clr>
            <a:srgbClr val="A4A3A4"/>
          </p15:clr>
        </p15:guide>
        <p15:guide id="2" pos="2699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hang Zibang" initials="ZZ" lastIdx="2" clrIdx="0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1515"/>
    <a:srgbClr val="3C679C"/>
    <a:srgbClr val="E0E0E0"/>
    <a:srgbClr val="C9742F"/>
    <a:srgbClr val="CF7225"/>
    <a:srgbClr val="8B0B0B"/>
    <a:srgbClr val="00008F"/>
    <a:srgbClr val="FDCA73"/>
    <a:srgbClr val="AA7453"/>
    <a:srgbClr val="FFDF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54" autoAdjust="0"/>
    <p:restoredTop sz="78480" autoAdjust="0"/>
  </p:normalViewPr>
  <p:slideViewPr>
    <p:cSldViewPr>
      <p:cViewPr varScale="1">
        <p:scale>
          <a:sx n="74" d="100"/>
          <a:sy n="74" d="100"/>
        </p:scale>
        <p:origin x="-1704" y="-77"/>
      </p:cViewPr>
      <p:guideLst>
        <p:guide orient="horz" pos="1181"/>
        <p:guide pos="2699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319C75-063A-4430-A319-3780764FEA8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42EEAF-8DE4-409C-A614-809959D8A8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22079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7647B-E055-44F4-BDAD-511D5418643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76792D-4616-4DF5-9FAF-847C90E5EB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68512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089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17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17952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76792D-4616-4DF5-9FAF-847C90E5EB61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091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FA66F26E-16D4-4285-86B5-5A02881A0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5257800"/>
            <a:ext cx="9155113" cy="457200"/>
          </a:xfrm>
          <a:prstGeom prst="rect">
            <a:avLst/>
          </a:prstGeom>
          <a:solidFill>
            <a:srgbClr val="8C1515"/>
          </a:solidFill>
          <a:ln w="9525">
            <a:solidFill>
              <a:srgbClr val="8C1515"/>
            </a:solidFill>
            <a:miter lim="800000"/>
            <a:headEnd/>
            <a:tailEnd/>
          </a:ln>
          <a:effectLst>
            <a:outerShdw blurRad="38100" dist="25401" dir="2700000" algn="br" rotWithShape="0">
              <a:srgbClr val="808080">
                <a:alpha val="59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Source Sans Pro" panose="020B0503030403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endParaRPr lang="en-US" altLang="en-US" sz="18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1979712" y="1460356"/>
            <a:ext cx="2954337" cy="1234440"/>
          </a:xfrm>
          <a:prstGeom prst="rect">
            <a:avLst/>
          </a:prstGeom>
        </p:spPr>
        <p:txBody>
          <a:bodyPr/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单击此处编辑母版标题样式</a:t>
            </a:r>
            <a:endParaRPr kumimoji="0" lang="en-US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9712" y="2837669"/>
            <a:ext cx="2954337" cy="124396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cap="all" spc="300">
                <a:solidFill>
                  <a:srgbClr val="A4001D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0" cap="all" spc="300" normalizeH="0" baseline="0" noProof="0">
                <a:ln>
                  <a:noFill/>
                </a:ln>
                <a:solidFill>
                  <a:srgbClr val="A4001D"/>
                </a:solidFill>
                <a:effectLst/>
                <a:uLnTx/>
                <a:uFillTx/>
              </a:rPr>
              <a:t>单击此处编辑母版文本样式</a:t>
            </a:r>
          </a:p>
        </p:txBody>
      </p:sp>
      <p:sp>
        <p:nvSpPr>
          <p:cNvPr id="10" name="Picture Placeholder 16"/>
          <p:cNvSpPr>
            <a:spLocks noGrp="1"/>
          </p:cNvSpPr>
          <p:nvPr>
            <p:ph type="pic" sz="quarter" idx="13"/>
          </p:nvPr>
        </p:nvSpPr>
        <p:spPr>
          <a:xfrm>
            <a:off x="5041994" y="1455485"/>
            <a:ext cx="1951038" cy="2601384"/>
          </a:xfrm>
          <a:prstGeom prst="rect">
            <a:avLst/>
          </a:prstGeom>
          <a:blipFill rotWithShape="1">
            <a:blip r:embed="rId2"/>
            <a:stretch>
              <a:fillRect/>
            </a:stretch>
          </a:blipFill>
          <a:ln w="44450" cap="flat" cmpd="sng" algn="ctr">
            <a:solidFill>
              <a:srgbClr val="FFFFFF"/>
            </a:solidFill>
            <a:prstDash val="solid"/>
          </a:ln>
          <a:effectLst>
            <a:outerShdw blurRad="50800" dist="25400" dir="2700000" algn="tl" rotWithShape="0">
              <a:prstClr val="black">
                <a:alpha val="36000"/>
              </a:prstClr>
            </a:outerShdw>
          </a:effectLst>
        </p:spPr>
        <p:txBody>
          <a:bodyPr/>
          <a:lstStyle>
            <a:lvl1pPr>
              <a:buNone/>
              <a:defRPr sz="1200"/>
            </a:lvl1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单击图标添加图片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pic>
        <p:nvPicPr>
          <p:cNvPr id="11" name="Picture 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37080" y="5358976"/>
            <a:ext cx="807077" cy="256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251520" y="5305772"/>
            <a:ext cx="8568952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9CA70F5C-EE30-4F39-9914-96B3414A3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02896" y="5359820"/>
            <a:ext cx="2133600" cy="304271"/>
          </a:xfrm>
          <a:prstGeom prst="rect">
            <a:avLst/>
          </a:prstGeom>
        </p:spPr>
        <p:txBody>
          <a:bodyPr/>
          <a:lstStyle>
            <a:lvl1pPr algn="r"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="" xmlns:a16="http://schemas.microsoft.com/office/drawing/2014/main" id="{8D1A3300-9584-4427-9F43-A1245D5B510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74253" y="49188"/>
            <a:ext cx="807077" cy="256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251520" y="5305772"/>
            <a:ext cx="8568952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9CA70F5C-EE30-4F39-9914-96B3414A3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02896" y="5359820"/>
            <a:ext cx="2133600" cy="304271"/>
          </a:xfrm>
          <a:prstGeom prst="rect">
            <a:avLst/>
          </a:prstGeom>
        </p:spPr>
        <p:txBody>
          <a:bodyPr/>
          <a:lstStyle>
            <a:lvl1pPr algn="r"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="" xmlns:a16="http://schemas.microsoft.com/office/drawing/2014/main" id="{8D1A3300-9584-4427-9F43-A1245D5B510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74253" y="49188"/>
            <a:ext cx="807077" cy="256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="" xmlns:a16="http://schemas.microsoft.com/office/drawing/2014/main" id="{79A8DF32-1A1B-3C3E-D235-D057C4233D1B}"/>
              </a:ext>
            </a:extLst>
          </p:cNvPr>
          <p:cNvSpPr/>
          <p:nvPr userDrawn="1"/>
        </p:nvSpPr>
        <p:spPr>
          <a:xfrm>
            <a:off x="0" y="118046"/>
            <a:ext cx="228600" cy="507206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="" xmlns:a16="http://schemas.microsoft.com/office/drawing/2014/main" id="{27A24903-F4DA-DDF5-351D-FF499065F442}"/>
              </a:ext>
            </a:extLst>
          </p:cNvPr>
          <p:cNvSpPr/>
          <p:nvPr userDrawn="1"/>
        </p:nvSpPr>
        <p:spPr>
          <a:xfrm>
            <a:off x="300221" y="118046"/>
            <a:ext cx="83756" cy="507206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8E52F7B5-FAEE-B7D9-CDE1-95CD25BAC7F3}"/>
              </a:ext>
            </a:extLst>
          </p:cNvPr>
          <p:cNvCxnSpPr>
            <a:cxnSpLocks/>
          </p:cNvCxnSpPr>
          <p:nvPr userDrawn="1"/>
        </p:nvCxnSpPr>
        <p:spPr>
          <a:xfrm>
            <a:off x="506887" y="625252"/>
            <a:ext cx="8637113" cy="0"/>
          </a:xfrm>
          <a:prstGeom prst="line">
            <a:avLst/>
          </a:prstGeom>
          <a:ln w="19050">
            <a:solidFill>
              <a:srgbClr val="8C151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989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49328163-63B1-448A-8C5E-85E95C5B897F}"/>
              </a:ext>
            </a:extLst>
          </p:cNvPr>
          <p:cNvSpPr/>
          <p:nvPr userDrawn="1"/>
        </p:nvSpPr>
        <p:spPr>
          <a:xfrm>
            <a:off x="0" y="0"/>
            <a:ext cx="457200" cy="5714999"/>
          </a:xfrm>
          <a:prstGeom prst="rect">
            <a:avLst/>
          </a:prstGeom>
          <a:solidFill>
            <a:srgbClr val="8C1515"/>
          </a:solidFill>
          <a:ln>
            <a:solidFill>
              <a:srgbClr val="8C15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Arial"/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44408" y="5377780"/>
            <a:ext cx="807077" cy="256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63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63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279261"/>
            <a:ext cx="4040188" cy="5331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812396"/>
            <a:ext cx="4040188" cy="32927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8" y="1279261"/>
            <a:ext cx="4041775" cy="5331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8" y="1812396"/>
            <a:ext cx="4041775" cy="329274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27542"/>
            <a:ext cx="3008313" cy="96837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27543"/>
            <a:ext cx="5111750" cy="487759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195918"/>
            <a:ext cx="3008313" cy="390921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228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510646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472782"/>
            <a:ext cx="5486400" cy="67071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28866"/>
            <a:ext cx="2057400" cy="487627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28866"/>
            <a:ext cx="6019800" cy="487627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5296960"/>
            <a:ext cx="2895600" cy="304271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5296960"/>
            <a:ext cx="2133600" cy="304271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28864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矩形 6"/>
          <p:cNvSpPr/>
          <p:nvPr userDrawn="1"/>
        </p:nvSpPr>
        <p:spPr>
          <a:xfrm>
            <a:off x="-9757592" y="-5351412"/>
            <a:ext cx="360040" cy="1440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19117616" y="-5639444"/>
            <a:ext cx="36004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-10477672" y="11066412"/>
            <a:ext cx="432048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18253520" y="11138496"/>
            <a:ext cx="432048" cy="2160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="" xmlns:a16="http://schemas.microsoft.com/office/drawing/2014/main" id="{EA7BECC0-C999-4547-8007-C75FBF2B9BD5}"/>
              </a:ext>
            </a:extLst>
          </p:cNvPr>
          <p:cNvSpPr/>
          <p:nvPr/>
        </p:nvSpPr>
        <p:spPr>
          <a:xfrm>
            <a:off x="0" y="928833"/>
            <a:ext cx="9144000" cy="391586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endParaRPr lang="zh-CN" altLang="en-US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0" name="Picture 2" descr="See the source image"/>
          <p:cNvPicPr>
            <a:picLocks noChangeAspect="1" noChangeArrowheads="1"/>
          </p:cNvPicPr>
          <p:nvPr/>
        </p:nvPicPr>
        <p:blipFill>
          <a:blip r:embed="rId3" cstate="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6388" y="3571779"/>
            <a:ext cx="1659527" cy="1244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D:\Work\Openhouse\logo2.png">
            <a:extLst>
              <a:ext uri="{FF2B5EF4-FFF2-40B4-BE49-F238E27FC236}">
                <a16:creationId xmlns="" xmlns:a16="http://schemas.microsoft.com/office/drawing/2014/main" id="{9B2CA439-5E9F-4CE2-A272-854DAA849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628" y="221948"/>
            <a:ext cx="1799792" cy="573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组合 31">
            <a:extLst>
              <a:ext uri="{FF2B5EF4-FFF2-40B4-BE49-F238E27FC236}">
                <a16:creationId xmlns="" xmlns:a16="http://schemas.microsoft.com/office/drawing/2014/main" id="{70F6FD2C-7DD5-4800-84E5-469FFEDEA8E5}"/>
              </a:ext>
            </a:extLst>
          </p:cNvPr>
          <p:cNvGrpSpPr/>
          <p:nvPr/>
        </p:nvGrpSpPr>
        <p:grpSpPr>
          <a:xfrm>
            <a:off x="192320" y="1197264"/>
            <a:ext cx="8775511" cy="1945366"/>
            <a:chOff x="1802914" y="1417340"/>
            <a:chExt cx="11700681" cy="1945366"/>
          </a:xfrm>
        </p:grpSpPr>
        <p:sp>
          <p:nvSpPr>
            <p:cNvPr id="33" name="TextBox 3">
              <a:extLst>
                <a:ext uri="{FF2B5EF4-FFF2-40B4-BE49-F238E27FC236}">
                  <a16:creationId xmlns="" xmlns:a16="http://schemas.microsoft.com/office/drawing/2014/main" id="{E7CA9D9A-A2C1-440F-8642-C3AB1FFE720D}"/>
                </a:ext>
              </a:extLst>
            </p:cNvPr>
            <p:cNvSpPr txBox="1"/>
            <p:nvPr/>
          </p:nvSpPr>
          <p:spPr>
            <a:xfrm>
              <a:off x="1802914" y="1568947"/>
              <a:ext cx="564754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buClr>
                  <a:prstClr val="black"/>
                </a:buClr>
              </a:pPr>
              <a:r>
                <a:rPr lang="en-US" altLang="zh-CN" sz="2400" b="1" dirty="0" smtClean="0">
                  <a:solidFill>
                    <a:prstClr val="white">
                      <a:lumMod val="85000"/>
                    </a:prstClr>
                  </a:solidFill>
                  <a:latin typeface="微软雅黑" pitchFamily="34" charset="-122"/>
                  <a:cs typeface="Arial" panose="020B0604020202020204" pitchFamily="34" charset="0"/>
                </a:rPr>
                <a:t>Advanced Programming</a:t>
              </a:r>
              <a:endParaRPr lang="zh-CN" altLang="en-US" sz="2400" dirty="0">
                <a:solidFill>
                  <a:prstClr val="white">
                    <a:lumMod val="85000"/>
                  </a:prstClr>
                </a:solidFill>
                <a:latin typeface="微软雅黑" pitchFamily="34" charset="-122"/>
                <a:cs typeface="Arial" panose="020B0604020202020204" pitchFamily="34" charset="0"/>
              </a:endParaRPr>
            </a:p>
          </p:txBody>
        </p:sp>
        <p:cxnSp>
          <p:nvCxnSpPr>
            <p:cNvPr id="34" name="直接连接符 33">
              <a:extLst>
                <a:ext uri="{FF2B5EF4-FFF2-40B4-BE49-F238E27FC236}">
                  <a16:creationId xmlns="" xmlns:a16="http://schemas.microsoft.com/office/drawing/2014/main" id="{531593D7-94FD-48F3-8E01-E12F509FC844}"/>
                </a:ext>
              </a:extLst>
            </p:cNvPr>
            <p:cNvCxnSpPr/>
            <p:nvPr/>
          </p:nvCxnSpPr>
          <p:spPr>
            <a:xfrm>
              <a:off x="1802915" y="1417340"/>
              <a:ext cx="11700680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="" xmlns:a16="http://schemas.microsoft.com/office/drawing/2014/main" id="{4E660E5E-8A20-446F-BDA6-56D9A3964607}"/>
                </a:ext>
              </a:extLst>
            </p:cNvPr>
            <p:cNvCxnSpPr/>
            <p:nvPr/>
          </p:nvCxnSpPr>
          <p:spPr>
            <a:xfrm>
              <a:off x="1802915" y="2174498"/>
              <a:ext cx="11700680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">
              <a:extLst>
                <a:ext uri="{FF2B5EF4-FFF2-40B4-BE49-F238E27FC236}">
                  <a16:creationId xmlns="" xmlns:a16="http://schemas.microsoft.com/office/drawing/2014/main" id="{E7CA9D9A-A2C1-440F-8642-C3AB1FFE720D}"/>
                </a:ext>
              </a:extLst>
            </p:cNvPr>
            <p:cNvSpPr txBox="1"/>
            <p:nvPr/>
          </p:nvSpPr>
          <p:spPr>
            <a:xfrm>
              <a:off x="2960925" y="2285488"/>
              <a:ext cx="938608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>
                  <a:prstClr val="black"/>
                </a:buClr>
              </a:pPr>
              <a:r>
                <a:rPr lang="en-US" altLang="zh-CN" sz="3200" b="1" dirty="0" smtClean="0">
                  <a:solidFill>
                    <a:prstClr val="whit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Lecture </a:t>
              </a:r>
              <a:r>
                <a:rPr lang="en-US" altLang="zh-CN" sz="3200" b="1" dirty="0" smtClean="0">
                  <a:solidFill>
                    <a:prstClr val="whit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03</a:t>
              </a:r>
              <a:br>
                <a:rPr lang="en-US" altLang="zh-CN" sz="3200" b="1" dirty="0" smtClean="0">
                  <a:solidFill>
                    <a:prstClr val="whit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altLang="zh-CN" sz="3200" b="1" dirty="0" smtClean="0">
                  <a:solidFill>
                    <a:prstClr val="whit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Types &amp; Expression</a:t>
              </a:r>
              <a:endParaRPr lang="zh-CN" altLang="en-US" sz="32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7" name="矩形 36">
            <a:extLst>
              <a:ext uri="{FF2B5EF4-FFF2-40B4-BE49-F238E27FC236}">
                <a16:creationId xmlns="" xmlns:a16="http://schemas.microsoft.com/office/drawing/2014/main" id="{EA7BECC0-C999-4547-8007-C75FBF2B9BD5}"/>
              </a:ext>
            </a:extLst>
          </p:cNvPr>
          <p:cNvSpPr/>
          <p:nvPr/>
        </p:nvSpPr>
        <p:spPr>
          <a:xfrm>
            <a:off x="0" y="0"/>
            <a:ext cx="9144000" cy="10632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endParaRPr lang="zh-CN" altLang="en-US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="" xmlns:a16="http://schemas.microsoft.com/office/drawing/2014/main" id="{EA7BECC0-C999-4547-8007-C75FBF2B9BD5}"/>
              </a:ext>
            </a:extLst>
          </p:cNvPr>
          <p:cNvSpPr/>
          <p:nvPr/>
        </p:nvSpPr>
        <p:spPr>
          <a:xfrm>
            <a:off x="8624931" y="4444663"/>
            <a:ext cx="950053" cy="40003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endParaRPr lang="zh-CN" altLang="en-US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1">
            <a:extLst>
              <a:ext uri="{FF2B5EF4-FFF2-40B4-BE49-F238E27FC236}">
                <a16:creationId xmlns="" xmlns:a16="http://schemas.microsoft.com/office/drawing/2014/main" id="{B326EBC7-93F8-41CA-9C03-87466766C001}"/>
              </a:ext>
            </a:extLst>
          </p:cNvPr>
          <p:cNvSpPr txBox="1"/>
          <p:nvPr/>
        </p:nvSpPr>
        <p:spPr>
          <a:xfrm>
            <a:off x="1942068" y="3172319"/>
            <a:ext cx="5366236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prstClr val="black"/>
              </a:buClr>
            </a:pPr>
            <a:r>
              <a:rPr lang="en-US" altLang="zh-CN" sz="2000" dirty="0" smtClean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Zibang Zhang</a:t>
            </a:r>
            <a:endParaRPr lang="en-US" altLang="zh-CN" dirty="0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  <a:buClr>
                <a:prstClr val="black"/>
              </a:buClr>
            </a:pPr>
            <a:r>
              <a:rPr lang="en-US" altLang="zh-CN" sz="1400" dirty="0" smtClean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Dept. of Optoelectronic Engineering, Jinan University</a:t>
            </a:r>
            <a:endParaRPr lang="zh-CN" altLang="en-US" sz="1400" dirty="0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4494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>
            <a:spLocks/>
          </p:cNvSpPr>
          <p:nvPr/>
        </p:nvSpPr>
        <p:spPr>
          <a:xfrm>
            <a:off x="368087" y="1325380"/>
            <a:ext cx="2962672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b="1" dirty="0">
                <a:solidFill>
                  <a:srgbClr val="C00000"/>
                </a:solidFill>
                <a:latin typeface="Arial Unicode MS" pitchFamily="34" charset="-122"/>
                <a:ea typeface="Arial Unicode MS" pitchFamily="34" charset="-122"/>
                <a:cs typeface="Arial Unicode MS" pitchFamily="34" charset="-122"/>
              </a:rPr>
              <a:t>Outline</a:t>
            </a:r>
            <a:endParaRPr lang="zh-CN" altLang="en-US" sz="3600" b="1" dirty="0">
              <a:solidFill>
                <a:srgbClr val="C00000"/>
              </a:solidFill>
              <a:latin typeface="Arial Unicode MS" pitchFamily="34" charset="-122"/>
              <a:ea typeface="Arial Unicode MS" pitchFamily="34" charset="-122"/>
              <a:cs typeface="Arial Unicode MS" pitchFamily="34" charset="-122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="" xmlns:a16="http://schemas.microsoft.com/office/drawing/2014/main" id="{31CABB17-4D5E-468E-B44F-137A264FDC99}"/>
              </a:ext>
            </a:extLst>
          </p:cNvPr>
          <p:cNvSpPr txBox="1">
            <a:spLocks/>
          </p:cNvSpPr>
          <p:nvPr/>
        </p:nvSpPr>
        <p:spPr>
          <a:xfrm>
            <a:off x="1082588" y="2091095"/>
            <a:ext cx="6729772" cy="2278573"/>
          </a:xfrm>
          <a:prstGeom prst="rect">
            <a:avLst/>
          </a:prstGeom>
        </p:spPr>
        <p:txBody>
          <a:bodyPr wrap="square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zh-CN" sz="1800" dirty="0" smtClean="0">
                <a:solidFill>
                  <a:srgbClr val="C00000"/>
                </a:solidFill>
                <a:latin typeface="Arial" pitchFamily="34" charset="0"/>
                <a:ea typeface="微软雅黑" panose="020B0503020204020204" pitchFamily="34" charset="-122"/>
                <a:cs typeface="Arial" pitchFamily="34" charset="0"/>
              </a:rPr>
              <a:t>Identifer, Variable, Assignment</a:t>
            </a:r>
            <a:endParaRPr lang="en-US" altLang="zh-CN" sz="1800" dirty="0">
              <a:solidFill>
                <a:srgbClr val="C00000"/>
              </a:solidFill>
              <a:latin typeface="Arial" pitchFamily="34" charset="0"/>
              <a:ea typeface="微软雅黑" panose="020B0503020204020204" pitchFamily="34" charset="-122"/>
              <a:cs typeface="Arial" pitchFamily="34" charset="0"/>
            </a:endParaRP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zh-CN" sz="1800" dirty="0" smtClean="0">
                <a:latin typeface="Arial" pitchFamily="34" charset="0"/>
                <a:ea typeface="微软雅黑" panose="020B0503020204020204" pitchFamily="34" charset="-122"/>
                <a:cs typeface="Arial" pitchFamily="34" charset="0"/>
              </a:rPr>
              <a:t>Built-in Data Types</a:t>
            </a:r>
            <a:endParaRPr lang="en-US" altLang="zh-CN" sz="1800" dirty="0">
              <a:latin typeface="Arial" pitchFamily="34" charset="0"/>
              <a:ea typeface="微软雅黑" panose="020B0503020204020204" pitchFamily="34" charset="-122"/>
              <a:cs typeface="Arial" pitchFamily="34" charset="0"/>
            </a:endParaRP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zh-CN" sz="1800" dirty="0" smtClean="0">
                <a:latin typeface="Arial" pitchFamily="34" charset="0"/>
                <a:ea typeface="微软雅黑" panose="020B0503020204020204" pitchFamily="34" charset="-122"/>
                <a:cs typeface="Arial" pitchFamily="34" charset="0"/>
              </a:rPr>
              <a:t>Operator &amp; Expression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en-US" sz="1800" dirty="0" smtClean="0">
                <a:latin typeface="Arial" pitchFamily="34" charset="0"/>
                <a:ea typeface="微软雅黑" panose="020B0503020204020204" pitchFamily="34" charset="-122"/>
                <a:cs typeface="Arial" pitchFamily="34" charset="0"/>
              </a:rPr>
              <a:t>Basic Input / Ouput</a:t>
            </a:r>
            <a:endParaRPr lang="en-US" altLang="en-US" sz="1800" dirty="0">
              <a:latin typeface="Arial" pitchFamily="34" charset="0"/>
              <a:ea typeface="微软雅黑" panose="020B0503020204020204" pitchFamily="34" charset="-122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315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3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Identifier, Variable, Assignment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784976" cy="34563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Identifer </a:t>
            </a:r>
            <a:r>
              <a:rPr lang="zh-CN" altLang="en-US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标识符</a:t>
            </a:r>
            <a:endParaRPr lang="en-US" altLang="zh-CN" sz="1600" b="1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What is </a:t>
            </a: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it?</a:t>
            </a:r>
            <a:b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Simply </a:t>
            </a:r>
            <a:r>
              <a:rPr lang="en-US" altLang="zh-CN" sz="14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 name given to entities like variables, functions, classes, modules, or other objects</a:t>
            </a:r>
            <a:endParaRPr lang="en-US" altLang="zh-CN" sz="14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endParaRPr lang="en-US" altLang="zh-CN" sz="1400" b="1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Rules </a:t>
            </a: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for </a:t>
            </a: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Identifiers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400" b="1" dirty="0">
                <a:solidFill>
                  <a:srgbClr val="00B05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✅</a:t>
            </a: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Allowed characters (</a:t>
            </a:r>
            <a:r>
              <a:rPr lang="en-US" altLang="zh-CN" sz="1400" b="1" i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same as C</a:t>
            </a: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)</a:t>
            </a:r>
          </a:p>
          <a:p>
            <a:pPr marL="1657350" lvl="3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Letters 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(A–Z, a–z)</a:t>
            </a:r>
          </a:p>
          <a:p>
            <a:pPr marL="1657350" lvl="3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Digits 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(0–9) — but cannot start with a digit</a:t>
            </a:r>
          </a:p>
          <a:p>
            <a:pPr marL="1657350" lvl="3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Underscore 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(_)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400" b="1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❌</a:t>
            </a: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Not allowed</a:t>
            </a:r>
          </a:p>
          <a:p>
            <a:pPr marL="1657350" lvl="3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Spaces or special characters like @, #, $, %, !</a:t>
            </a:r>
          </a:p>
          <a:p>
            <a:pPr marL="1657350" lvl="3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Cannot 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 a Python keyword (reserved words like if, else, for, while, def, class, etc.)</a:t>
            </a:r>
          </a:p>
          <a:p>
            <a:pPr lvl="1">
              <a:lnSpc>
                <a:spcPct val="150000"/>
              </a:lnSpc>
            </a:pPr>
            <a:endParaRPr lang="en-US" altLang="zh-CN" sz="1400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2045856"/>
            <a:ext cx="3434730" cy="17970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05675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4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Identifier, Variable, Assignment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784976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Identifer </a:t>
            </a:r>
            <a:r>
              <a:rPr lang="zh-CN" altLang="en-US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标识符</a:t>
            </a:r>
            <a:endParaRPr lang="en-US" altLang="zh-CN" sz="1600" b="1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Valid Examples</a:t>
            </a:r>
          </a:p>
          <a:p>
            <a:pPr lvl="2" fontAlgn="base">
              <a:spcBef>
                <a:spcPct val="0"/>
              </a:spcBef>
              <a:spcAft>
                <a:spcPct val="0"/>
              </a:spcAft>
            </a:pP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my_var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=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986801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10</a:t>
            </a:r>
            <a:endParaRPr lang="zh-CN" altLang="zh-CN" sz="1400" dirty="0">
              <a:solidFill>
                <a:srgbClr val="383A42"/>
              </a:solidFill>
              <a:latin typeface="Consolas" pitchFamily="49" charset="0"/>
              <a:ea typeface="宋体" pitchFamily="2" charset="-122"/>
              <a:cs typeface="宋体" pitchFamily="2" charset="-122"/>
            </a:endParaRP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_name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=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50A14F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"private"</a:t>
            </a:r>
            <a:endParaRPr lang="zh-CN" altLang="zh-CN" sz="1400" dirty="0">
              <a:solidFill>
                <a:srgbClr val="383A42"/>
              </a:solidFill>
              <a:latin typeface="Consolas" pitchFamily="49" charset="0"/>
              <a:ea typeface="宋体" pitchFamily="2" charset="-122"/>
              <a:cs typeface="宋体" pitchFamily="2" charset="-122"/>
            </a:endParaRP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variable1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=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986801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5</a:t>
            </a:r>
            <a:endParaRPr lang="zh-CN" altLang="zh-CN" sz="1400" dirty="0">
              <a:solidFill>
                <a:srgbClr val="383A42"/>
              </a:solidFill>
              <a:latin typeface="Consolas" pitchFamily="49" charset="0"/>
              <a:ea typeface="宋体" pitchFamily="2" charset="-122"/>
              <a:cs typeface="宋体" pitchFamily="2" charset="-122"/>
            </a:endParaRP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user_name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=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50A14F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"John"</a:t>
            </a:r>
            <a:endParaRPr lang="zh-CN" altLang="zh-CN" sz="1400" dirty="0">
              <a:solidFill>
                <a:srgbClr val="383A42"/>
              </a:solidFill>
              <a:latin typeface="Consolas" pitchFamily="49" charset="0"/>
              <a:ea typeface="宋体" pitchFamily="2" charset="-122"/>
              <a:cs typeface="宋体" pitchFamily="2" charset="-122"/>
            </a:endParaRP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_private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=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0184BB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True</a:t>
            </a:r>
            <a:endParaRPr lang="zh-CN" altLang="zh-CN" sz="1400" dirty="0">
              <a:solidFill>
                <a:srgbClr val="383A42"/>
              </a:solidFill>
              <a:latin typeface="Consolas" pitchFamily="49" charset="0"/>
              <a:ea typeface="宋体" pitchFamily="2" charset="-122"/>
              <a:cs typeface="宋体" pitchFamily="2" charset="-122"/>
            </a:endParaRP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myFunction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=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50A14F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"hello"</a:t>
            </a:r>
            <a:endParaRPr lang="zh-CN" altLang="zh-CN" sz="1400" dirty="0">
              <a:solidFill>
                <a:srgbClr val="383A42"/>
              </a:solidFill>
              <a:latin typeface="Consolas" pitchFamily="49" charset="0"/>
              <a:ea typeface="宋体" pitchFamily="2" charset="-122"/>
              <a:cs typeface="宋体" pitchFamily="2" charset="-122"/>
            </a:endParaRP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MyClass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=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50A14F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"example"</a:t>
            </a:r>
            <a:endParaRPr lang="zh-CN" altLang="zh-CN" sz="3200" dirty="0">
              <a:solidFill>
                <a:schemeClr val="tx1"/>
              </a:solidFill>
              <a:latin typeface="Arial" pitchFamily="34" charset="0"/>
              <a:ea typeface="宋体" pitchFamily="2" charset="-122"/>
              <a:cs typeface="宋体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endParaRPr lang="en-US" altLang="zh-CN" sz="1400" b="1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Invalid Examples</a:t>
            </a:r>
          </a:p>
          <a:p>
            <a:pPr lvl="2" fontAlgn="base">
              <a:spcBef>
                <a:spcPct val="0"/>
              </a:spcBef>
              <a:spcAft>
                <a:spcPct val="0"/>
              </a:spcAft>
            </a:pP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1variable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=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986801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10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  </a:t>
            </a:r>
            <a:r>
              <a:rPr lang="zh-CN" altLang="zh-CN" sz="1400" i="1" dirty="0" smtClean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#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Can't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start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with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a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digit</a:t>
            </a:r>
            <a:endParaRPr lang="zh-CN" altLang="zh-CN" sz="1400" dirty="0">
              <a:solidFill>
                <a:srgbClr val="383A42"/>
              </a:solidFill>
              <a:latin typeface="Consolas" pitchFamily="49" charset="0"/>
              <a:ea typeface="宋体" pitchFamily="2" charset="-122"/>
              <a:cs typeface="宋体" pitchFamily="2" charset="-122"/>
            </a:endParaRP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my-var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=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986801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20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       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#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Hyphen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not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allowed</a:t>
            </a:r>
            <a:endParaRPr lang="zh-CN" altLang="zh-CN" sz="1400" dirty="0">
              <a:solidFill>
                <a:srgbClr val="383A42"/>
              </a:solidFill>
              <a:latin typeface="Consolas" pitchFamily="49" charset="0"/>
              <a:ea typeface="宋体" pitchFamily="2" charset="-122"/>
              <a:cs typeface="宋体" pitchFamily="2" charset="-122"/>
            </a:endParaRP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my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var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=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986801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30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        </a:t>
            </a:r>
            <a:r>
              <a:rPr lang="en-US" altLang="zh-CN" sz="1400" dirty="0" smtClean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 </a:t>
            </a:r>
            <a:r>
              <a:rPr lang="zh-CN" altLang="zh-CN" sz="1400" i="1" dirty="0" smtClean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#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Space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not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allowed</a:t>
            </a:r>
            <a:endParaRPr lang="zh-CN" altLang="zh-CN" sz="1400" dirty="0">
              <a:solidFill>
                <a:srgbClr val="383A42"/>
              </a:solidFill>
              <a:latin typeface="Consolas" pitchFamily="49" charset="0"/>
              <a:ea typeface="宋体" pitchFamily="2" charset="-122"/>
              <a:cs typeface="宋体" pitchFamily="2" charset="-122"/>
            </a:endParaRP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1400" dirty="0">
                <a:solidFill>
                  <a:srgbClr val="A626A4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class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383A4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=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50A14F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"test"</a:t>
            </a:r>
            <a:r>
              <a:rPr lang="zh-CN" altLang="zh-CN" sz="1400" dirty="0">
                <a:solidFill>
                  <a:srgbClr val="383A42"/>
                </a:solidFill>
                <a:latin typeface="Arial"/>
                <a:ea typeface="宋体" pitchFamily="2" charset="-122"/>
                <a:cs typeface="宋体" pitchFamily="2" charset="-122"/>
              </a:rPr>
              <a:t>   </a:t>
            </a:r>
            <a:r>
              <a:rPr lang="zh-CN" altLang="zh-CN" sz="1400" i="1" dirty="0" smtClean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#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'class'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is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a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reserved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keyword</a:t>
            </a:r>
            <a:endParaRPr lang="zh-CN" altLang="zh-CN" sz="1400" dirty="0">
              <a:solidFill>
                <a:srgbClr val="383A42"/>
              </a:solidFill>
              <a:latin typeface="Consolas" pitchFamily="49" charset="0"/>
              <a:ea typeface="宋体" pitchFamily="2" charset="-122"/>
              <a:cs typeface="宋体" pitchFamily="2" charset="-122"/>
            </a:endParaRP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1400" dirty="0">
                <a:solidFill>
                  <a:srgbClr val="4078F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@name</a:t>
            </a:r>
            <a:r>
              <a:rPr lang="zh-CN" altLang="zh-CN" sz="1400" dirty="0">
                <a:solidFill>
                  <a:srgbClr val="4078F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4078F2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=</a:t>
            </a:r>
            <a:r>
              <a:rPr lang="zh-CN" altLang="zh-CN" sz="1400" dirty="0">
                <a:solidFill>
                  <a:srgbClr val="4078F2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dirty="0">
                <a:solidFill>
                  <a:srgbClr val="50A14F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"John"</a:t>
            </a:r>
            <a:r>
              <a:rPr lang="zh-CN" altLang="zh-CN" sz="1400" dirty="0">
                <a:solidFill>
                  <a:srgbClr val="4078F2"/>
                </a:solidFill>
                <a:latin typeface="Arial"/>
                <a:ea typeface="宋体" pitchFamily="2" charset="-122"/>
                <a:cs typeface="宋体" pitchFamily="2" charset="-122"/>
              </a:rPr>
              <a:t>   </a:t>
            </a:r>
            <a:r>
              <a:rPr lang="zh-CN" altLang="zh-CN" sz="1400" i="1" dirty="0" smtClean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#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@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symbol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not</a:t>
            </a:r>
            <a:r>
              <a:rPr lang="zh-CN" altLang="zh-CN" sz="1400" i="1" dirty="0">
                <a:solidFill>
                  <a:srgbClr val="A0A1A7"/>
                </a:solidFill>
                <a:latin typeface="Arial"/>
                <a:ea typeface="宋体" pitchFamily="2" charset="-122"/>
                <a:cs typeface="宋体" pitchFamily="2" charset="-122"/>
              </a:rPr>
              <a:t> </a:t>
            </a:r>
            <a:r>
              <a:rPr lang="zh-CN" altLang="zh-CN" sz="1400" i="1" dirty="0" smtClean="0">
                <a:solidFill>
                  <a:srgbClr val="A0A1A7"/>
                </a:solidFill>
                <a:latin typeface="Consolas" pitchFamily="49" charset="0"/>
                <a:ea typeface="宋体" pitchFamily="2" charset="-122"/>
                <a:cs typeface="宋体" pitchFamily="2" charset="-122"/>
              </a:rPr>
              <a:t>allowed</a:t>
            </a:r>
            <a:endParaRPr lang="zh-CN" altLang="zh-CN" sz="3200" dirty="0">
              <a:solidFill>
                <a:schemeClr val="tx1"/>
              </a:solidFill>
              <a:latin typeface="Arial" pitchFamily="34" charset="0"/>
              <a:ea typeface="宋体" pitchFamily="2" charset="-122"/>
              <a:cs typeface="宋体" pitchFamily="2" charset="-122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2045856"/>
            <a:ext cx="3434730" cy="17970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711964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5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Identifier, Variable, Assignment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784976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Identifer </a:t>
            </a:r>
            <a:r>
              <a:rPr lang="zh-CN" altLang="en-US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标识符</a:t>
            </a:r>
            <a:endParaRPr lang="en-US" altLang="zh-CN" sz="1600" b="1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Naming Conventions (Best Practices)</a:t>
            </a:r>
          </a:p>
          <a:p>
            <a:pPr lvl="1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While not enforced by Python, these are strongly recommended</a:t>
            </a: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:</a:t>
            </a:r>
            <a:endParaRPr lang="en-US" altLang="zh-CN" sz="12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181568"/>
              </p:ext>
            </p:extLst>
          </p:nvPr>
        </p:nvGraphicFramePr>
        <p:xfrm>
          <a:off x="827584" y="2281436"/>
          <a:ext cx="7488831" cy="2386624"/>
        </p:xfrm>
        <a:graphic>
          <a:graphicData uri="http://schemas.openxmlformats.org/drawingml/2006/table">
            <a:tbl>
              <a:tblPr/>
              <a:tblGrid>
                <a:gridCol w="2496277"/>
                <a:gridCol w="2496277"/>
                <a:gridCol w="2496277"/>
              </a:tblGrid>
              <a:tr h="343524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Convention</a:t>
                      </a:r>
                    </a:p>
                  </a:txBody>
                  <a:tcPr marL="87719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Example</a:t>
                      </a:r>
                    </a:p>
                  </a:txBody>
                  <a:tcPr marL="116958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 Case</a:t>
                      </a:r>
                    </a:p>
                  </a:txBody>
                  <a:tcPr marL="116958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58285"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snake_case</a:t>
                      </a:r>
                    </a:p>
                  </a:txBody>
                  <a:tcPr marL="87719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user_name, total_count</a:t>
                      </a:r>
                    </a:p>
                  </a:txBody>
                  <a:tcPr marL="116958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Variables, functions, modules</a:t>
                      </a:r>
                    </a:p>
                  </a:txBody>
                  <a:tcPr marL="116958" marR="87719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9741"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PascalCase</a:t>
                      </a:r>
                    </a:p>
                  </a:txBody>
                  <a:tcPr marL="87719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MyClass, UserProfile</a:t>
                      </a:r>
                    </a:p>
                  </a:txBody>
                  <a:tcPr marL="116958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Class names</a:t>
                      </a:r>
                    </a:p>
                  </a:txBody>
                  <a:tcPr marL="116958" marR="87719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3524"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UPPER_CASE</a:t>
                      </a:r>
                    </a:p>
                  </a:txBody>
                  <a:tcPr marL="87719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PI, MAX_LIMIT</a:t>
                      </a:r>
                    </a:p>
                  </a:txBody>
                  <a:tcPr marL="116958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Constants</a:t>
                      </a:r>
                    </a:p>
                  </a:txBody>
                  <a:tcPr marL="116958" marR="87719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9741"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_single_leading</a:t>
                      </a:r>
                    </a:p>
                  </a:txBody>
                  <a:tcPr marL="87719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_internal</a:t>
                      </a:r>
                    </a:p>
                  </a:txBody>
                  <a:tcPr marL="116958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"Private" by convention</a:t>
                      </a:r>
                    </a:p>
                  </a:txBody>
                  <a:tcPr marL="116958" marR="87719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9741"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__double_leading</a:t>
                      </a:r>
                    </a:p>
                  </a:txBody>
                  <a:tcPr marL="87719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__private</a:t>
                      </a:r>
                    </a:p>
                  </a:txBody>
                  <a:tcPr marL="116958" marR="116958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Name mangling in classes</a:t>
                      </a:r>
                    </a:p>
                  </a:txBody>
                  <a:tcPr marL="116958" marR="87719" marT="73099" marB="7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3090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6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Identifier, Variable, Assignment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784976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Identifer </a:t>
            </a:r>
            <a:r>
              <a:rPr lang="zh-CN" altLang="en-US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标识符</a:t>
            </a:r>
            <a:endParaRPr lang="en-US" altLang="zh-CN" sz="1600" b="1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4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Importatnt Notes</a:t>
            </a:r>
          </a:p>
          <a:p>
            <a:pPr marL="800100" lvl="1" indent="-342900">
              <a:lnSpc>
                <a:spcPct val="150000"/>
              </a:lnSpc>
              <a:buAutoNum type="arabicPeriod"/>
            </a:pPr>
            <a:r>
              <a:rPr lang="en-US" altLang="zh-CN" sz="12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Case-sensitive</a:t>
            </a:r>
          </a:p>
          <a:p>
            <a:pPr marL="800100" lvl="1" indent="-342900">
              <a:lnSpc>
                <a:spcPct val="150000"/>
              </a:lnSpc>
              <a:buAutoNum type="arabicPeriod"/>
            </a:pPr>
            <a:r>
              <a:rPr lang="en-US" altLang="zh-CN" sz="12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Unicode allowed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: Python supports Unicode characters in identifiers (though not commonly used)</a:t>
            </a:r>
          </a:p>
          <a:p>
            <a:pPr marL="800100" lvl="1" indent="-342900">
              <a:lnSpc>
                <a:spcPct val="150000"/>
              </a:lnSpc>
              <a:buAutoNum type="arabicPeriod"/>
            </a:pPr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Dunder (double underscores)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: Methods like </a:t>
            </a:r>
            <a:r>
              <a:rPr lang="en-US" altLang="zh-CN" sz="1200" dirty="0">
                <a:solidFill>
                  <a:schemeClr val="tx1"/>
                </a:solidFill>
                <a:latin typeface="+mj-lt"/>
                <a:ea typeface="微软雅黑" panose="020B0503020204020204" pitchFamily="34" charset="-122"/>
                <a:cs typeface="Arial" panose="020B0604020202020204" pitchFamily="34" charset="0"/>
              </a:rPr>
              <a:t>__init__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have special meaning in </a:t>
            </a: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Python</a:t>
            </a:r>
            <a:endParaRPr lang="en-US" altLang="zh-CN" sz="12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7735" y="2700640"/>
            <a:ext cx="4514850" cy="2362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69029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7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Identifier, Variable, Assignment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784976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Variable </a:t>
            </a:r>
            <a:r>
              <a:rPr lang="zh-CN" altLang="en-US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变量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</a:t>
            </a: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variable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is a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named container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that stores a value in memory. 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88"/>
          <a:stretch/>
        </p:blipFill>
        <p:spPr bwMode="auto">
          <a:xfrm>
            <a:off x="1730896" y="1662086"/>
            <a:ext cx="5682208" cy="34996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矩形 2"/>
          <p:cNvSpPr/>
          <p:nvPr/>
        </p:nvSpPr>
        <p:spPr>
          <a:xfrm>
            <a:off x="6228184" y="4873724"/>
            <a:ext cx="1584176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666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8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Identifier, Variable, Assignment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7611696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Variable </a:t>
            </a:r>
            <a:r>
              <a:rPr lang="zh-CN" altLang="en-US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变量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4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Key </a:t>
            </a:r>
            <a:r>
              <a:rPr lang="en-US" altLang="zh-CN" sz="14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Characteristics</a:t>
            </a:r>
            <a:r>
              <a:rPr lang="en-US" altLang="zh-CN" sz="14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of Python </a:t>
            </a:r>
            <a:r>
              <a:rPr lang="en-US" altLang="zh-CN" sz="14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Variables: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zh-CN" sz="12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No Declaration Required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Unlike many languages, you don't need to declare a variable's type beforehand. Python figures it out </a:t>
            </a: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automatically.</a:t>
            </a:r>
            <a:endParaRPr lang="en-US" altLang="zh-CN" sz="12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zh-CN" sz="12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Dynamically Typed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Variables can change type at any </a:t>
            </a: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time</a:t>
            </a:r>
            <a:endParaRPr lang="en-US" altLang="zh-CN" sz="12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zh-CN" sz="12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Case-Sensitive</a:t>
            </a: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/>
            </a:r>
            <a:b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</a:br>
            <a:r>
              <a:rPr lang="en-US" altLang="zh-CN" sz="12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myvar, MyVar, and MYVAR are three different variables</a:t>
            </a:r>
            <a:r>
              <a:rPr lang="en-US" altLang="zh-CN" sz="12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.</a:t>
            </a:r>
            <a:endParaRPr lang="en-US" altLang="zh-CN" sz="12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zh-CN" sz="12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228184" y="4873724"/>
            <a:ext cx="1584176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4243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9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Identifier, Variable, Assignment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7611696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Assignment </a:t>
            </a:r>
            <a:r>
              <a:rPr lang="zh-CN" altLang="en-US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赋值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228184" y="4873724"/>
            <a:ext cx="1584176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2034325"/>
            <a:ext cx="4896544" cy="20063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00462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>
            <a:spLocks/>
          </p:cNvSpPr>
          <p:nvPr/>
        </p:nvSpPr>
        <p:spPr>
          <a:xfrm>
            <a:off x="368087" y="1325380"/>
            <a:ext cx="2962672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b="1" dirty="0">
                <a:solidFill>
                  <a:srgbClr val="C00000"/>
                </a:solidFill>
                <a:latin typeface="Arial Unicode MS" pitchFamily="34" charset="-122"/>
                <a:ea typeface="Arial Unicode MS" pitchFamily="34" charset="-122"/>
                <a:cs typeface="Arial Unicode MS" pitchFamily="34" charset="-122"/>
              </a:rPr>
              <a:t>Outline</a:t>
            </a:r>
            <a:endParaRPr lang="zh-CN" altLang="en-US" sz="3600" b="1" dirty="0">
              <a:solidFill>
                <a:srgbClr val="C00000"/>
              </a:solidFill>
              <a:latin typeface="Arial Unicode MS" pitchFamily="34" charset="-122"/>
              <a:ea typeface="Arial Unicode MS" pitchFamily="34" charset="-122"/>
              <a:cs typeface="Arial Unicode MS" pitchFamily="34" charset="-122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="" xmlns:a16="http://schemas.microsoft.com/office/drawing/2014/main" id="{31CABB17-4D5E-468E-B44F-137A264FDC99}"/>
              </a:ext>
            </a:extLst>
          </p:cNvPr>
          <p:cNvSpPr txBox="1">
            <a:spLocks/>
          </p:cNvSpPr>
          <p:nvPr/>
        </p:nvSpPr>
        <p:spPr>
          <a:xfrm>
            <a:off x="1082588" y="2091095"/>
            <a:ext cx="6729772" cy="2278573"/>
          </a:xfrm>
          <a:prstGeom prst="rect">
            <a:avLst/>
          </a:prstGeom>
        </p:spPr>
        <p:txBody>
          <a:bodyPr wrap="square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zh-CN" sz="1800" dirty="0">
                <a:latin typeface="Arial" pitchFamily="34" charset="0"/>
                <a:ea typeface="微软雅黑" panose="020B0503020204020204" pitchFamily="34" charset="-122"/>
                <a:cs typeface="Arial" pitchFamily="34" charset="0"/>
              </a:rPr>
              <a:t>Identifer, Variable, Assignment</a:t>
            </a:r>
            <a:endParaRPr lang="en-US" altLang="zh-CN" sz="1800" dirty="0">
              <a:latin typeface="Arial" pitchFamily="34" charset="0"/>
              <a:ea typeface="微软雅黑" panose="020B0503020204020204" pitchFamily="34" charset="-122"/>
              <a:cs typeface="Arial" pitchFamily="34" charset="0"/>
            </a:endParaRP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zh-CN" sz="1800" dirty="0">
                <a:solidFill>
                  <a:srgbClr val="C00000"/>
                </a:solidFill>
                <a:latin typeface="Arial" pitchFamily="34" charset="0"/>
                <a:ea typeface="微软雅黑" panose="020B0503020204020204" pitchFamily="34" charset="-122"/>
                <a:cs typeface="Arial" pitchFamily="34" charset="0"/>
              </a:rPr>
              <a:t>Built-in Data Types</a:t>
            </a:r>
            <a:endParaRPr lang="en-US" altLang="zh-CN" sz="1800" dirty="0">
              <a:solidFill>
                <a:srgbClr val="C00000"/>
              </a:solidFill>
              <a:latin typeface="Arial" pitchFamily="34" charset="0"/>
              <a:ea typeface="微软雅黑" panose="020B0503020204020204" pitchFamily="34" charset="-122"/>
              <a:cs typeface="Arial" pitchFamily="34" charset="0"/>
            </a:endParaRP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zh-CN" sz="1800" dirty="0" smtClean="0">
                <a:latin typeface="Arial" pitchFamily="34" charset="0"/>
                <a:ea typeface="微软雅黑" panose="020B0503020204020204" pitchFamily="34" charset="-122"/>
                <a:cs typeface="Arial" pitchFamily="34" charset="0"/>
              </a:rPr>
              <a:t>Operator &amp; Expression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en-US" sz="1800" dirty="0" smtClean="0">
                <a:latin typeface="Arial" pitchFamily="34" charset="0"/>
                <a:ea typeface="微软雅黑" panose="020B0503020204020204" pitchFamily="34" charset="-122"/>
                <a:cs typeface="Arial" pitchFamily="34" charset="0"/>
              </a:rPr>
              <a:t>Basic Input / Ouput</a:t>
            </a:r>
            <a:endParaRPr lang="en-US" altLang="en-US" sz="1800" dirty="0">
              <a:latin typeface="Arial" pitchFamily="34" charset="0"/>
              <a:ea typeface="微软雅黑" panose="020B0503020204020204" pitchFamily="34" charset="-122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586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11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Built-in Data Types </a:t>
            </a:r>
            <a:r>
              <a:rPr lang="zh-CN" altLang="en-US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内置数据类型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547800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Boolean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布尔型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Integer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整型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Float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浮点型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Complex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复数型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String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字符串型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NoneType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空</a:t>
            </a:r>
            <a:r>
              <a:rPr lang="zh-CN" altLang="en-US" sz="1600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型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228184" y="4873724"/>
            <a:ext cx="1584176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04" t="3913" r="37647"/>
          <a:stretch/>
        </p:blipFill>
        <p:spPr bwMode="auto">
          <a:xfrm>
            <a:off x="4710720" y="1705372"/>
            <a:ext cx="4102323" cy="3415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29060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12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Built-in Data Types </a:t>
            </a:r>
            <a:r>
              <a:rPr lang="zh-CN" altLang="en-US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内置数据类型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547800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Boolean </a:t>
            </a:r>
            <a:r>
              <a:rPr lang="zh-CN" altLang="en-US" sz="1600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布尔型</a:t>
            </a:r>
            <a:endParaRPr lang="en-US" altLang="zh-CN" sz="1600" dirty="0" smtClean="0">
              <a:solidFill>
                <a:srgbClr val="C00000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Integer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整型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Float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浮点型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Complex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复数型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String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字符串型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NoneType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空型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228184" y="4873724"/>
            <a:ext cx="1584176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3131840" y="3192047"/>
            <a:ext cx="2880320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is_student = </a:t>
            </a:r>
            <a:r>
              <a:rPr lang="en-US" altLang="zh-CN" dirty="0">
                <a:solidFill>
                  <a:srgbClr val="569CD6"/>
                </a:solidFill>
                <a:latin typeface="Consolas"/>
              </a:rPr>
              <a:t>True</a:t>
            </a:r>
            <a:endParaRPr lang="en-US" altLang="zh-CN" dirty="0">
              <a:solidFill>
                <a:srgbClr val="D4D4D4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is_married = </a:t>
            </a:r>
            <a:r>
              <a:rPr lang="en-US" altLang="zh-CN" dirty="0">
                <a:solidFill>
                  <a:srgbClr val="569CD6"/>
                </a:solidFill>
                <a:latin typeface="Consolas"/>
              </a:rPr>
              <a:t>False</a:t>
            </a:r>
            <a:endParaRPr lang="en-US" altLang="zh-CN" b="0" dirty="0">
              <a:solidFill>
                <a:srgbClr val="D4D4D4"/>
              </a:solidFill>
              <a:effectLst/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81171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13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Built-in Data Types </a:t>
            </a:r>
            <a:r>
              <a:rPr lang="zh-CN" altLang="en-US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内置数据类型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547800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Boolean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布尔型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Integer </a:t>
            </a:r>
            <a:r>
              <a:rPr lang="zh-CN" altLang="en-US" sz="1600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整型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Float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浮点型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Complex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复数型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String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字符串型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NoneType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空型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228184" y="4873724"/>
            <a:ext cx="1584176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505564" y="3013993"/>
            <a:ext cx="2132872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age = </a:t>
            </a:r>
            <a:r>
              <a:rPr lang="en-US" altLang="zh-CN" dirty="0">
                <a:solidFill>
                  <a:srgbClr val="B5CEA8"/>
                </a:solidFill>
                <a:latin typeface="Consolas"/>
              </a:rPr>
              <a:t>25</a:t>
            </a:r>
            <a:endParaRPr lang="en-US" altLang="zh-CN" dirty="0">
              <a:solidFill>
                <a:srgbClr val="D4D4D4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year = </a:t>
            </a:r>
            <a:r>
              <a:rPr lang="en-US" altLang="zh-CN" dirty="0">
                <a:solidFill>
                  <a:srgbClr val="B5CEA8"/>
                </a:solidFill>
                <a:latin typeface="Consolas"/>
              </a:rPr>
              <a:t>2000</a:t>
            </a:r>
            <a:endParaRPr lang="en-US" altLang="zh-CN" dirty="0">
              <a:solidFill>
                <a:srgbClr val="D4D4D4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month = </a:t>
            </a:r>
            <a:r>
              <a:rPr lang="en-US" altLang="zh-CN" dirty="0">
                <a:solidFill>
                  <a:srgbClr val="B5CEA8"/>
                </a:solidFill>
                <a:latin typeface="Consolas"/>
              </a:rPr>
              <a:t>12</a:t>
            </a:r>
            <a:endParaRPr lang="en-US" altLang="zh-CN" dirty="0">
              <a:solidFill>
                <a:srgbClr val="D4D4D4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day = </a:t>
            </a:r>
            <a:r>
              <a:rPr lang="en-US" altLang="zh-CN" dirty="0">
                <a:solidFill>
                  <a:srgbClr val="B5CEA8"/>
                </a:solidFill>
                <a:latin typeface="Consolas"/>
              </a:rPr>
              <a:t>25</a:t>
            </a:r>
            <a:endParaRPr lang="en-US" altLang="zh-CN" b="0" dirty="0">
              <a:solidFill>
                <a:srgbClr val="D4D4D4"/>
              </a:solidFill>
              <a:effectLst/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029975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14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Built-in Data Types </a:t>
            </a:r>
            <a:r>
              <a:rPr lang="zh-CN" altLang="en-US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内置数据类型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547800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Boolean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布尔型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Integer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整型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</a:t>
            </a:r>
            <a:r>
              <a:rPr lang="en-US" altLang="zh-CN" sz="1600" b="1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Float </a:t>
            </a:r>
            <a:r>
              <a:rPr lang="zh-CN" altLang="en-US" sz="1600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浮点型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Complex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复数型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String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字符串型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NoneType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空型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228184" y="4873724"/>
            <a:ext cx="1584176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2382598" y="2809633"/>
            <a:ext cx="4378804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height = </a:t>
            </a:r>
            <a:r>
              <a:rPr lang="en-US" altLang="zh-CN" dirty="0">
                <a:solidFill>
                  <a:srgbClr val="B5CEA8"/>
                </a:solidFill>
                <a:latin typeface="Consolas"/>
              </a:rPr>
              <a:t>168.6</a:t>
            </a:r>
            <a:endParaRPr lang="en-US" altLang="zh-CN" dirty="0">
              <a:solidFill>
                <a:srgbClr val="D4D4D4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weight = </a:t>
            </a:r>
            <a:r>
              <a:rPr lang="en-US" altLang="zh-CN" dirty="0" smtClean="0">
                <a:solidFill>
                  <a:srgbClr val="B5CEA8"/>
                </a:solidFill>
                <a:latin typeface="Consolas"/>
              </a:rPr>
              <a:t>55.0</a:t>
            </a:r>
          </a:p>
          <a:p>
            <a:endParaRPr lang="en-US" altLang="zh-CN" dirty="0">
              <a:solidFill>
                <a:srgbClr val="D4D4D4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PI = </a:t>
            </a:r>
            <a:r>
              <a:rPr lang="en-US" altLang="zh-CN" dirty="0" smtClean="0">
                <a:solidFill>
                  <a:srgbClr val="B5CEA8"/>
                </a:solidFill>
                <a:latin typeface="Consolas"/>
              </a:rPr>
              <a:t>3.14159</a:t>
            </a:r>
          </a:p>
          <a:p>
            <a:endParaRPr lang="en-US" altLang="zh-CN" dirty="0" smtClean="0">
              <a:solidFill>
                <a:srgbClr val="B5CEA8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LIGHT_SPEED = </a:t>
            </a:r>
            <a:r>
              <a:rPr lang="en-US" altLang="zh-CN" dirty="0">
                <a:solidFill>
                  <a:srgbClr val="B5CEA8"/>
                </a:solidFill>
                <a:latin typeface="Consolas"/>
              </a:rPr>
              <a:t>2.99792458e8</a:t>
            </a:r>
            <a:endParaRPr lang="en-US" altLang="zh-CN" dirty="0">
              <a:solidFill>
                <a:srgbClr val="D4D4D4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dist_sun_earth = </a:t>
            </a:r>
            <a:r>
              <a:rPr lang="en-US" altLang="zh-CN" dirty="0" smtClean="0">
                <a:solidFill>
                  <a:srgbClr val="B5CEA8"/>
                </a:solidFill>
                <a:latin typeface="Consolas"/>
              </a:rPr>
              <a:t>1.49597870700e11</a:t>
            </a:r>
            <a:endParaRPr lang="en-US" altLang="zh-CN" b="0" dirty="0">
              <a:solidFill>
                <a:srgbClr val="D4D4D4"/>
              </a:solidFill>
              <a:effectLst/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21441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15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Built-in Data Types </a:t>
            </a:r>
            <a:r>
              <a:rPr lang="zh-CN" altLang="en-US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内置数据类型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547800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Boolean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布尔型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Integer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整型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</a:t>
            </a:r>
            <a:r>
              <a:rPr lang="en-US" altLang="zh-CN" sz="1600" b="1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Float </a:t>
            </a:r>
            <a:r>
              <a:rPr lang="zh-CN" altLang="en-US" sz="1600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浮点型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Complex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复数型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String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字符串型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NoneType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空型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228184" y="4873724"/>
            <a:ext cx="1584176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2382598" y="2809633"/>
            <a:ext cx="4378804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height = </a:t>
            </a:r>
            <a:r>
              <a:rPr lang="en-US" altLang="zh-CN" dirty="0">
                <a:solidFill>
                  <a:srgbClr val="B5CEA8"/>
                </a:solidFill>
                <a:latin typeface="Consolas"/>
              </a:rPr>
              <a:t>168.6</a:t>
            </a:r>
            <a:endParaRPr lang="en-US" altLang="zh-CN" dirty="0">
              <a:solidFill>
                <a:srgbClr val="D4D4D4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weight = </a:t>
            </a:r>
            <a:r>
              <a:rPr lang="en-US" altLang="zh-CN" dirty="0" smtClean="0">
                <a:solidFill>
                  <a:srgbClr val="B5CEA8"/>
                </a:solidFill>
                <a:latin typeface="Consolas"/>
              </a:rPr>
              <a:t>55.0</a:t>
            </a:r>
          </a:p>
          <a:p>
            <a:endParaRPr lang="en-US" altLang="zh-CN" dirty="0">
              <a:solidFill>
                <a:srgbClr val="D4D4D4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PI = </a:t>
            </a:r>
            <a:r>
              <a:rPr lang="en-US" altLang="zh-CN" dirty="0" smtClean="0">
                <a:solidFill>
                  <a:srgbClr val="B5CEA8"/>
                </a:solidFill>
                <a:latin typeface="Consolas"/>
              </a:rPr>
              <a:t>3.14159</a:t>
            </a:r>
          </a:p>
          <a:p>
            <a:endParaRPr lang="en-US" altLang="zh-CN" dirty="0" smtClean="0">
              <a:solidFill>
                <a:srgbClr val="B5CEA8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LIGHT_SPEED = </a:t>
            </a:r>
            <a:r>
              <a:rPr lang="en-US" altLang="zh-CN" dirty="0">
                <a:solidFill>
                  <a:srgbClr val="B5CEA8"/>
                </a:solidFill>
                <a:latin typeface="Consolas"/>
              </a:rPr>
              <a:t>2.99792458e8</a:t>
            </a:r>
            <a:endParaRPr lang="en-US" altLang="zh-CN" dirty="0">
              <a:solidFill>
                <a:srgbClr val="D4D4D4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dist_sun_earth = </a:t>
            </a:r>
            <a:r>
              <a:rPr lang="en-US" altLang="zh-CN" dirty="0" smtClean="0">
                <a:solidFill>
                  <a:srgbClr val="B5CEA8"/>
                </a:solidFill>
                <a:latin typeface="Consolas"/>
              </a:rPr>
              <a:t>1.49597870700e11</a:t>
            </a:r>
            <a:endParaRPr lang="en-US" altLang="zh-CN" b="0" dirty="0">
              <a:solidFill>
                <a:srgbClr val="D4D4D4"/>
              </a:solidFill>
              <a:effectLst/>
              <a:latin typeface="Consolas"/>
            </a:endParaRPr>
          </a:p>
        </p:txBody>
      </p:sp>
      <p:sp>
        <p:nvSpPr>
          <p:cNvPr id="9" name="圆角矩形标注 8"/>
          <p:cNvSpPr/>
          <p:nvPr/>
        </p:nvSpPr>
        <p:spPr>
          <a:xfrm>
            <a:off x="5436096" y="3104725"/>
            <a:ext cx="3384376" cy="828092"/>
          </a:xfrm>
          <a:prstGeom prst="wedgeRoundRectCallout">
            <a:avLst>
              <a:gd name="adj1" fmla="val -36619"/>
              <a:gd name="adj2" fmla="val 8979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Exercise: Calculate how long it takes light to travel from the Sun to the Earth</a:t>
            </a:r>
            <a:r>
              <a:rPr lang="en-US" altLang="zh-CN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zh-CN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454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16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Built-in Data Types </a:t>
            </a:r>
            <a:r>
              <a:rPr lang="zh-CN" altLang="en-US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内置数据类型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547800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Boolean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布尔型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Integer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整型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Float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浮点型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</a:t>
            </a:r>
            <a:r>
              <a:rPr lang="en-US" altLang="zh-CN" sz="1600" b="1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Complex </a:t>
            </a:r>
            <a:r>
              <a:rPr lang="zh-CN" altLang="en-US" sz="1600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复数型</a:t>
            </a:r>
            <a:endParaRPr lang="en-US" altLang="zh-CN" sz="1600" dirty="0">
              <a:solidFill>
                <a:srgbClr val="C00000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String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字符串型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NoneType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空型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228184" y="4873724"/>
            <a:ext cx="1584176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059832" y="3013993"/>
            <a:ext cx="3024336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D4D4D4"/>
                </a:solidFill>
                <a:latin typeface="Consolas"/>
              </a:rPr>
              <a:t>coeft = </a:t>
            </a:r>
            <a:r>
              <a:rPr lang="en-US" altLang="zh-CN" dirty="0">
                <a:solidFill>
                  <a:srgbClr val="B5CEA8"/>
                </a:solidFill>
                <a:latin typeface="Consolas"/>
              </a:rPr>
              <a:t>12.3</a:t>
            </a:r>
            <a:r>
              <a:rPr lang="en-US" altLang="zh-CN" dirty="0">
                <a:solidFill>
                  <a:srgbClr val="D4D4D4"/>
                </a:solidFill>
                <a:latin typeface="Consolas"/>
              </a:rPr>
              <a:t> + </a:t>
            </a:r>
            <a:r>
              <a:rPr lang="en-US" altLang="zh-CN" dirty="0">
                <a:solidFill>
                  <a:srgbClr val="B5CEA8"/>
                </a:solidFill>
                <a:latin typeface="Consolas"/>
              </a:rPr>
              <a:t>4.56j</a:t>
            </a:r>
            <a:endParaRPr lang="en-US" altLang="zh-CN" b="0" dirty="0">
              <a:solidFill>
                <a:srgbClr val="D4D4D4"/>
              </a:solidFill>
              <a:effectLst/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114179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17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Built-in Data Types </a:t>
            </a:r>
            <a:r>
              <a:rPr lang="zh-CN" altLang="en-US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内置数据类型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547800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Boolean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布尔型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Integer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整型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Float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浮点型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Complex </a:t>
            </a:r>
            <a:r>
              <a:rPr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复数型</a:t>
            </a:r>
            <a:endParaRPr lang="en-US" altLang="zh-CN" sz="1600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String </a:t>
            </a:r>
            <a:r>
              <a:rPr lang="zh-CN" altLang="en-US" sz="1600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字符串型</a:t>
            </a:r>
            <a:endParaRPr lang="en-US" altLang="zh-CN" sz="1600" dirty="0" smtClean="0">
              <a:solidFill>
                <a:srgbClr val="C00000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NoneType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空型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228184" y="4873724"/>
            <a:ext cx="1584176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2627784" y="3013993"/>
            <a:ext cx="3888432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9CDCFE"/>
                </a:solidFill>
                <a:latin typeface="Consolas"/>
              </a:rPr>
              <a:t>nationality</a:t>
            </a:r>
            <a:r>
              <a:rPr lang="en-US" altLang="zh-CN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dirty="0">
                <a:solidFill>
                  <a:srgbClr val="D4D4D4"/>
                </a:solidFill>
                <a:latin typeface="Consolas"/>
              </a:rPr>
              <a:t>=</a:t>
            </a:r>
            <a:r>
              <a:rPr lang="en-US" altLang="zh-CN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dirty="0">
                <a:solidFill>
                  <a:srgbClr val="CE9178"/>
                </a:solidFill>
                <a:latin typeface="Consolas"/>
              </a:rPr>
              <a:t>"China"</a:t>
            </a:r>
            <a:endParaRPr lang="en-US" altLang="zh-CN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9CDCFE"/>
                </a:solidFill>
                <a:latin typeface="Consolas"/>
              </a:rPr>
              <a:t>name</a:t>
            </a:r>
            <a:r>
              <a:rPr lang="en-US" altLang="zh-CN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dirty="0">
                <a:solidFill>
                  <a:srgbClr val="D4D4D4"/>
                </a:solidFill>
                <a:latin typeface="Consolas"/>
              </a:rPr>
              <a:t>=</a:t>
            </a:r>
            <a:r>
              <a:rPr lang="en-US" altLang="zh-CN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dirty="0">
                <a:solidFill>
                  <a:srgbClr val="CE9178"/>
                </a:solidFill>
                <a:latin typeface="Consolas"/>
              </a:rPr>
              <a:t>"Zibang Zhang"</a:t>
            </a:r>
            <a:endParaRPr lang="en-US" altLang="zh-CN" dirty="0">
              <a:solidFill>
                <a:srgbClr val="CCCCCC"/>
              </a:solidFill>
              <a:latin typeface="Consolas"/>
            </a:endParaRPr>
          </a:p>
          <a:p>
            <a:r>
              <a:rPr lang="en-US" altLang="zh-CN" dirty="0">
                <a:solidFill>
                  <a:srgbClr val="9CDCFE"/>
                </a:solidFill>
                <a:latin typeface="Consolas"/>
              </a:rPr>
              <a:t>major</a:t>
            </a:r>
            <a:r>
              <a:rPr lang="en-US" altLang="zh-CN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dirty="0">
                <a:solidFill>
                  <a:srgbClr val="D4D4D4"/>
                </a:solidFill>
                <a:latin typeface="Consolas"/>
              </a:rPr>
              <a:t>=</a:t>
            </a:r>
            <a:r>
              <a:rPr lang="en-US" altLang="zh-CN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dirty="0">
                <a:solidFill>
                  <a:srgbClr val="CE9178"/>
                </a:solidFill>
                <a:latin typeface="Consolas"/>
              </a:rPr>
              <a:t>"</a:t>
            </a:r>
            <a:r>
              <a:rPr lang="zh-CN" altLang="en-US" dirty="0">
                <a:solidFill>
                  <a:srgbClr val="CE9178"/>
                </a:solidFill>
                <a:latin typeface="Consolas"/>
              </a:rPr>
              <a:t>光电信息科学与工程</a:t>
            </a:r>
            <a:r>
              <a:rPr lang="en-US" altLang="zh-CN" dirty="0">
                <a:solidFill>
                  <a:srgbClr val="CE9178"/>
                </a:solidFill>
                <a:latin typeface="Consolas"/>
              </a:rPr>
              <a:t>"</a:t>
            </a:r>
            <a:endParaRPr lang="zh-CN" altLang="en-US" b="0" dirty="0">
              <a:solidFill>
                <a:srgbClr val="CCCCCC"/>
              </a:solidFill>
              <a:effectLst/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67159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62F224-DFCA-3697-3C7E-992668257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="" xmlns:a16="http://schemas.microsoft.com/office/drawing/2014/main" id="{74B75520-AB1A-E4AD-3AB2-5E7516816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FECDF-D51D-4CE3-BD90-7F06D39BB90F}" type="slidenum">
              <a:rPr lang="zh-CN" altLang="en-US" smtClean="0"/>
              <a:t>18</a:t>
            </a:fld>
            <a:endParaRPr lang="zh-CN" altLang="en-US"/>
          </a:p>
        </p:txBody>
      </p:sp>
      <p:sp>
        <p:nvSpPr>
          <p:cNvPr id="23" name="标题 1">
            <a:extLst>
              <a:ext uri="{FF2B5EF4-FFF2-40B4-BE49-F238E27FC236}">
                <a16:creationId xmlns="" xmlns:a16="http://schemas.microsoft.com/office/drawing/2014/main" id="{4C58FD3F-F573-6062-164F-A9645FE96092}"/>
              </a:ext>
            </a:extLst>
          </p:cNvPr>
          <p:cNvSpPr txBox="1">
            <a:spLocks/>
          </p:cNvSpPr>
          <p:nvPr/>
        </p:nvSpPr>
        <p:spPr>
          <a:xfrm>
            <a:off x="438894" y="168502"/>
            <a:ext cx="7733506" cy="52150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Built-in Data Types </a:t>
            </a:r>
            <a:r>
              <a:rPr lang="zh-CN" altLang="en-US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内置数据类型</a:t>
            </a:r>
            <a:endParaRPr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0" y="225337"/>
            <a:ext cx="9144000" cy="327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>
              <a:lnSpc>
                <a:spcPct val="135000"/>
              </a:lnSpc>
            </a:pPr>
            <a:endParaRPr lang="en-US" altLang="zh-CN" b="1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="" xmlns:a16="http://schemas.microsoft.com/office/drawing/2014/main" id="{19729455-A591-2CF9-FDB4-62B022089179}"/>
              </a:ext>
            </a:extLst>
          </p:cNvPr>
          <p:cNvSpPr/>
          <p:nvPr/>
        </p:nvSpPr>
        <p:spPr>
          <a:xfrm>
            <a:off x="272672" y="841276"/>
            <a:ext cx="8547800" cy="4392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Boolean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布尔型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Integer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整型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Float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浮点型</a:t>
            </a: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, </a:t>
            </a:r>
            <a:r>
              <a:rPr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Complex </a:t>
            </a:r>
            <a:r>
              <a:rPr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复数型</a:t>
            </a:r>
            <a:endParaRPr lang="en-US" altLang="zh-CN" sz="1600" b="1" dirty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String </a:t>
            </a:r>
            <a:r>
              <a:rPr lang="zh-CN" altLang="en-US" sz="1600" dirty="0" smtClean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字符串型</a:t>
            </a:r>
            <a:endParaRPr lang="en-US" altLang="zh-CN" sz="1600" dirty="0" smtClean="0">
              <a:solidFill>
                <a:schemeClr val="tx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en-US" altLang="zh-CN" sz="1600" b="1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NoneType </a:t>
            </a:r>
            <a:r>
              <a:rPr lang="zh-CN" altLang="en-US" sz="1600" dirty="0" smtClean="0">
                <a:solidFill>
                  <a:srgbClr val="C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空型</a:t>
            </a:r>
            <a:endParaRPr lang="en-US" altLang="zh-CN" sz="1600" dirty="0">
              <a:solidFill>
                <a:srgbClr val="C00000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AutoShape 2" descr="https://i.pinimg.com/736x/f7/be/bc/f7bebcafbacf057106eee3622de70a28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228184" y="4873724"/>
            <a:ext cx="1584176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2627784" y="3198659"/>
            <a:ext cx="3888432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9CDCFE"/>
                </a:solidFill>
                <a:latin typeface="Consolas"/>
              </a:rPr>
              <a:t>supervisor</a:t>
            </a:r>
            <a:r>
              <a:rPr lang="en-US" altLang="zh-CN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dirty="0">
                <a:solidFill>
                  <a:srgbClr val="D4D4D4"/>
                </a:solidFill>
                <a:latin typeface="Consolas"/>
              </a:rPr>
              <a:t>=</a:t>
            </a:r>
            <a:r>
              <a:rPr lang="en-US" altLang="zh-CN" dirty="0">
                <a:solidFill>
                  <a:srgbClr val="CCCCCC"/>
                </a:solidFill>
                <a:latin typeface="Consolas"/>
              </a:rPr>
              <a:t> </a:t>
            </a:r>
            <a:r>
              <a:rPr lang="en-US" altLang="zh-CN" dirty="0">
                <a:solidFill>
                  <a:srgbClr val="569CD6"/>
                </a:solidFill>
                <a:latin typeface="Consolas"/>
              </a:rPr>
              <a:t>None</a:t>
            </a:r>
            <a:endParaRPr lang="en-US" altLang="zh-CN" b="0" dirty="0">
              <a:solidFill>
                <a:srgbClr val="CCCCCC"/>
              </a:solidFill>
              <a:effectLst/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71657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22776</TotalTime>
  <Words>603</Words>
  <Application>Microsoft Office PowerPoint</Application>
  <PresentationFormat>全屏显示(16:10)</PresentationFormat>
  <Paragraphs>182</Paragraphs>
  <Slides>18</Slides>
  <Notes>18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19" baseType="lpstr"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单像素成像技术与 单像素免成像技术</dc:title>
  <dc:creator>pc</dc:creator>
  <cp:lastModifiedBy>pc</cp:lastModifiedBy>
  <cp:revision>1879</cp:revision>
  <dcterms:created xsi:type="dcterms:W3CDTF">2020-06-09T03:02:09Z</dcterms:created>
  <dcterms:modified xsi:type="dcterms:W3CDTF">2026-09-08T10:11:02Z</dcterms:modified>
</cp:coreProperties>
</file>