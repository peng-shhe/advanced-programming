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87" r:id="rId2"/>
    <p:sldId id="2007579617" r:id="rId3"/>
    <p:sldId id="331" r:id="rId4"/>
    <p:sldId id="2007579630" r:id="rId5"/>
    <p:sldId id="2007579662" r:id="rId6"/>
    <p:sldId id="2007579663" r:id="rId7"/>
    <p:sldId id="2007579664" r:id="rId8"/>
    <p:sldId id="2007579665" r:id="rId9"/>
    <p:sldId id="2007579666" r:id="rId10"/>
    <p:sldId id="2007579667" r:id="rId11"/>
    <p:sldId id="2007579668" r:id="rId12"/>
    <p:sldId id="2007579670" r:id="rId13"/>
    <p:sldId id="2007579669" r:id="rId14"/>
    <p:sldId id="2007579671" r:id="rId15"/>
    <p:sldId id="2007579672" r:id="rId16"/>
    <p:sldId id="2007579631" r:id="rId17"/>
    <p:sldId id="2007579673" r:id="rId18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1">
          <p15:clr>
            <a:srgbClr val="A4A3A4"/>
          </p15:clr>
        </p15:guide>
        <p15:guide id="2" pos="269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 Zibang" initials="ZZ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1515"/>
    <a:srgbClr val="3C679C"/>
    <a:srgbClr val="E0E0E0"/>
    <a:srgbClr val="C9742F"/>
    <a:srgbClr val="CF7225"/>
    <a:srgbClr val="8B0B0B"/>
    <a:srgbClr val="00008F"/>
    <a:srgbClr val="FDCA73"/>
    <a:srgbClr val="AA7453"/>
    <a:srgbClr val="FFDF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54" autoAdjust="0"/>
    <p:restoredTop sz="78480" autoAdjust="0"/>
  </p:normalViewPr>
  <p:slideViewPr>
    <p:cSldViewPr>
      <p:cViewPr>
        <p:scale>
          <a:sx n="60" d="100"/>
          <a:sy n="60" d="100"/>
        </p:scale>
        <p:origin x="1267" y="214"/>
      </p:cViewPr>
      <p:guideLst>
        <p:guide orient="horz" pos="1181"/>
        <p:guide pos="269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19C75-063A-4430-A319-3780764FEA8E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2EEAF-8DE4-409C-A614-809959D8A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207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7647B-E055-44F4-BDAD-511D5418643E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6792D-4616-4DF5-9FAF-847C90E5E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851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8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795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189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292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47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644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28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867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914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56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826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527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1585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44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66F26E-16D4-4285-86B5-5A02881A0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257800"/>
            <a:ext cx="9155113" cy="457200"/>
          </a:xfrm>
          <a:prstGeom prst="rect">
            <a:avLst/>
          </a:prstGeom>
          <a:solidFill>
            <a:srgbClr val="8C1515"/>
          </a:solidFill>
          <a:ln w="9525">
            <a:solidFill>
              <a:srgbClr val="8C1515"/>
            </a:solidFill>
            <a:miter lim="800000"/>
            <a:headEnd/>
            <a:tailEnd/>
          </a:ln>
          <a:effectLst>
            <a:outerShdw blurRad="38100" dist="25401" dir="2700000" algn="br" rotWithShape="0">
              <a:srgbClr val="808080">
                <a:alpha val="59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79712" y="1460356"/>
            <a:ext cx="2954337" cy="123444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单击此处编辑母版标题样式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9712" y="2837669"/>
            <a:ext cx="2954337" cy="124396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all" spc="300" normalizeH="0" baseline="0" noProof="0">
                <a:ln>
                  <a:noFill/>
                </a:ln>
                <a:solidFill>
                  <a:srgbClr val="A4001D"/>
                </a:solidFill>
                <a:effectLst/>
                <a:uLnTx/>
                <a:uFillTx/>
              </a:rPr>
              <a:t>单击此处编辑母版文本样式</a:t>
            </a:r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5041994" y="1455485"/>
            <a:ext cx="1951038" cy="2601384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44450" cap="flat" cmpd="sng" algn="ctr">
            <a:solidFill>
              <a:srgbClr val="FFFFFF"/>
            </a:solidFill>
            <a:prstDash val="solid"/>
          </a:ln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txBody>
          <a:bodyPr/>
          <a:lstStyle>
            <a:lvl1pPr>
              <a:buNone/>
              <a:defRPr sz="1200"/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单击图标添加图片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7080" y="5358976"/>
            <a:ext cx="807077" cy="25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9A8DF32-1A1B-3C3E-D235-D057C4233D1B}"/>
              </a:ext>
            </a:extLst>
          </p:cNvPr>
          <p:cNvSpPr/>
          <p:nvPr userDrawn="1"/>
        </p:nvSpPr>
        <p:spPr>
          <a:xfrm>
            <a:off x="0" y="118046"/>
            <a:ext cx="228600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24903-F4DA-DDF5-351D-FF499065F442}"/>
              </a:ext>
            </a:extLst>
          </p:cNvPr>
          <p:cNvSpPr/>
          <p:nvPr userDrawn="1"/>
        </p:nvSpPr>
        <p:spPr>
          <a:xfrm>
            <a:off x="300221" y="118046"/>
            <a:ext cx="83756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E52F7B5-FAEE-B7D9-CDE1-95CD25BAC7F3}"/>
              </a:ext>
            </a:extLst>
          </p:cNvPr>
          <p:cNvCxnSpPr>
            <a:cxnSpLocks/>
          </p:cNvCxnSpPr>
          <p:nvPr userDrawn="1"/>
        </p:nvCxnSpPr>
        <p:spPr>
          <a:xfrm>
            <a:off x="506887" y="625252"/>
            <a:ext cx="8637113" cy="0"/>
          </a:xfrm>
          <a:prstGeom prst="line">
            <a:avLst/>
          </a:prstGeom>
          <a:ln w="19050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98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328163-63B1-448A-8C5E-85E95C5B897F}"/>
              </a:ext>
            </a:extLst>
          </p:cNvPr>
          <p:cNvSpPr/>
          <p:nvPr userDrawn="1"/>
        </p:nvSpPr>
        <p:spPr>
          <a:xfrm>
            <a:off x="0" y="0"/>
            <a:ext cx="457200" cy="5714999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4408" y="5377780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27542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757592" y="-5351412"/>
            <a:ext cx="36004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9117616" y="-5639444"/>
            <a:ext cx="36004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0477672" y="11066412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8253520" y="11138496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928833"/>
            <a:ext cx="9144000" cy="39158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Picture 2" descr="See the source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388" y="3571779"/>
            <a:ext cx="1659527" cy="124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D:\Work\Openhouse\logo2.png">
            <a:extLst>
              <a:ext uri="{FF2B5EF4-FFF2-40B4-BE49-F238E27FC236}">
                <a16:creationId xmlns:a16="http://schemas.microsoft.com/office/drawing/2014/main" id="{9B2CA439-5E9F-4CE2-A272-854DAA849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628" y="221948"/>
            <a:ext cx="1799792" cy="57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70F6FD2C-7DD5-4800-84E5-469FFEDEA8E5}"/>
              </a:ext>
            </a:extLst>
          </p:cNvPr>
          <p:cNvGrpSpPr/>
          <p:nvPr/>
        </p:nvGrpSpPr>
        <p:grpSpPr>
          <a:xfrm>
            <a:off x="192320" y="1197264"/>
            <a:ext cx="8775511" cy="1945366"/>
            <a:chOff x="1802914" y="1417340"/>
            <a:chExt cx="11700681" cy="1945366"/>
          </a:xfrm>
        </p:grpSpPr>
        <p:sp>
          <p:nvSpPr>
            <p:cNvPr id="33" name="TextBox 3">
              <a:extLst>
                <a:ext uri="{FF2B5EF4-FFF2-40B4-BE49-F238E27FC236}">
                  <a16:creationId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1802914" y="1568947"/>
              <a:ext cx="5647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prstClr val="black"/>
                </a:buClr>
              </a:pPr>
              <a:r>
                <a:rPr lang="en-US" altLang="zh-CN" sz="2400" b="1" dirty="0" smtClean="0">
                  <a:solidFill>
                    <a:prstClr val="white">
                      <a:lumMod val="85000"/>
                    </a:prstClr>
                  </a:solidFill>
                  <a:latin typeface="微软雅黑" pitchFamily="34" charset="-122"/>
                  <a:cs typeface="Arial" panose="020B0604020202020204" pitchFamily="34" charset="0"/>
                </a:rPr>
                <a:t>Advanced Programming</a:t>
              </a:r>
              <a:endParaRPr lang="zh-CN" altLang="en-US" sz="2400" dirty="0">
                <a:solidFill>
                  <a:prstClr val="white">
                    <a:lumMod val="85000"/>
                  </a:prstClr>
                </a:solidFill>
                <a:latin typeface="微软雅黑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31593D7-94FD-48F3-8E01-E12F509FC844}"/>
                </a:ext>
              </a:extLst>
            </p:cNvPr>
            <p:cNvCxnSpPr/>
            <p:nvPr/>
          </p:nvCxnSpPr>
          <p:spPr>
            <a:xfrm>
              <a:off x="1802915" y="1417340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E660E5E-8A20-446F-BDA6-56D9A3964607}"/>
                </a:ext>
              </a:extLst>
            </p:cNvPr>
            <p:cNvCxnSpPr/>
            <p:nvPr/>
          </p:nvCxnSpPr>
          <p:spPr>
            <a:xfrm>
              <a:off x="1802915" y="2174498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">
              <a:extLst>
                <a:ext uri="{FF2B5EF4-FFF2-40B4-BE49-F238E27FC236}">
                  <a16:creationId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2960925" y="2285488"/>
              <a:ext cx="938608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prstClr val="black"/>
                </a:buClr>
              </a:pP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Lecture </a:t>
              </a: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/>
              </a:r>
              <a:b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 Flow</a:t>
              </a:r>
              <a:endParaRPr lang="zh-CN" altLang="en-US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0"/>
            <a:ext cx="9144000" cy="1063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8624931" y="4444663"/>
            <a:ext cx="950053" cy="4000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">
            <a:extLst>
              <a:ext uri="{FF2B5EF4-FFF2-40B4-BE49-F238E27FC236}">
                <a16:creationId xmlns:a16="http://schemas.microsoft.com/office/drawing/2014/main" id="{B326EBC7-93F8-41CA-9C03-87466766C001}"/>
              </a:ext>
            </a:extLst>
          </p:cNvPr>
          <p:cNvSpPr txBox="1"/>
          <p:nvPr/>
        </p:nvSpPr>
        <p:spPr>
          <a:xfrm>
            <a:off x="1942068" y="3172319"/>
            <a:ext cx="536623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200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Zibang Zhang</a:t>
            </a:r>
            <a:endParaRPr lang="en-US" altLang="zh-CN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140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Optoelectronic Engineering, Jinan University</a:t>
            </a:r>
            <a:endParaRPr lang="zh-CN" altLang="en-US" sz="14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9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Control Flow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Control flow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Python refers to the order in which individual statements, instructions, or function calls are executed or evaluated. 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By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default, Python executes code sequentially from top to bottom, but control flow statements let you change that order — making decisions, repeating actions, or jumping around.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616" y="2716708"/>
            <a:ext cx="4474766" cy="251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7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1325380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2091095"/>
            <a:ext cx="6729772" cy="2278573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Conditional statements</a:t>
            </a:r>
            <a:endParaRPr lang="en-US" altLang="zh-CN" sz="1800" dirty="0">
              <a:solidFill>
                <a:srgbClr val="C00000"/>
              </a:solidFill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Loop statements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1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Conditional Statements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Conditional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statements in Python let your program make decisions — they execute certain code blocks only when specific conditions are met. They're a core part of control 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flow.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2137420"/>
            <a:ext cx="45148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6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if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Statement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Runs a block only if the condition is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True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24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if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 </a:t>
            </a:r>
            <a:r>
              <a:rPr lang="en-US" altLang="zh-CN" sz="2400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else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Statement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Provides an alternative when the condition is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False.</a:t>
            </a:r>
            <a:endParaRPr lang="zh-CN" altLang="zh-CN" sz="3200" b="1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9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if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 </a:t>
            </a:r>
            <a:r>
              <a:rPr lang="en-US" altLang="zh-CN" sz="2400" b="1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elif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/ else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Statement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Chains multiple conditions, checked top to bottom. The first true branch runs; the rest are skipped.</a:t>
            </a:r>
            <a:endParaRPr lang="zh-CN" altLang="zh-CN" sz="3200" b="1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16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match / case </a:t>
            </a:r>
            <a:r>
              <a:rPr lang="en-US" altLang="zh-CN" sz="2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Statement (Python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</a:rPr>
              <a:t>3.10+)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cleaner alternative for many </a:t>
            </a:r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elif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branches — structural pattern matching:</a:t>
            </a:r>
            <a:endParaRPr lang="zh-CN" altLang="zh-CN" sz="3200" b="1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24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1325380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2091095"/>
            <a:ext cx="6729772" cy="2278573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Conditional statements</a:t>
            </a:r>
            <a:endParaRPr lang="en-US" altLang="zh-CN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Loop statements</a:t>
            </a:r>
            <a:endParaRPr lang="en-US" altLang="en-US" sz="1800" dirty="0">
              <a:solidFill>
                <a:srgbClr val="C00000"/>
              </a:solidFill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81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Loop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Statements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Loop statements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 Python let you repeat a block of code multiple times. Python has two main loop types: </a:t>
            </a: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</a:t>
            </a: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while</a:t>
            </a:r>
            <a:endParaRPr lang="zh-CN" altLang="zh-CN" sz="3200" dirty="0">
              <a:solidFill>
                <a:srgbClr val="C00000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516" y="1943395"/>
            <a:ext cx="5462969" cy="306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9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for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Statement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Iterates over items of a sequence (list, tuple, string, range, </a:t>
            </a:r>
            <a:r>
              <a:rPr lang="en-US" altLang="zh-CN" sz="1600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dict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etc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.).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for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Statement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enumerate()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index + value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48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for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Statement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range()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variants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90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for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Statement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zip()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loop over multiple sequences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94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while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Statement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Repeats while a condition stays</a:t>
            </a:r>
            <a:r>
              <a:rPr lang="en-US" altLang="zh-CN" sz="1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True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528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Loop Control Keywords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break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exit the loop immediately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continue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skip to the next 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iteration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pass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do nothing (placeholder)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09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for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vs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while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— When to Use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438210"/>
              </p:ext>
            </p:extLst>
          </p:nvPr>
        </p:nvGraphicFramePr>
        <p:xfrm>
          <a:off x="786408" y="1777380"/>
          <a:ext cx="7571184" cy="1249680"/>
        </p:xfrm>
        <a:graphic>
          <a:graphicData uri="http://schemas.openxmlformats.org/drawingml/2006/table">
            <a:tbl>
              <a:tblPr/>
              <a:tblGrid>
                <a:gridCol w="3785592">
                  <a:extLst>
                    <a:ext uri="{9D8B030D-6E8A-4147-A177-3AD203B41FA5}">
                      <a16:colId xmlns:a16="http://schemas.microsoft.com/office/drawing/2014/main" val="2788009895"/>
                    </a:ext>
                  </a:extLst>
                </a:gridCol>
                <a:gridCol w="3785592">
                  <a:extLst>
                    <a:ext uri="{9D8B030D-6E8A-4147-A177-3AD203B41FA5}">
                      <a16:colId xmlns:a16="http://schemas.microsoft.com/office/drawing/2014/main" val="1589095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when...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while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when...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13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know the sequence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loop until a condition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67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Iterating over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Waiting for user input /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903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Fixed number of repeats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Unknown number of iterations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416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60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23134</TotalTime>
  <Words>360</Words>
  <Application>Microsoft Office PowerPoint</Application>
  <PresentationFormat>全屏显示(16:10)</PresentationFormat>
  <Paragraphs>79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 Unicode MS</vt:lpstr>
      <vt:lpstr>MS PGothic</vt:lpstr>
      <vt:lpstr>宋体</vt:lpstr>
      <vt:lpstr>微软雅黑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单像素成像技术与 单像素免成像技术</dc:title>
  <dc:creator>pc</dc:creator>
  <cp:lastModifiedBy>pc</cp:lastModifiedBy>
  <cp:revision>1975</cp:revision>
  <dcterms:created xsi:type="dcterms:W3CDTF">2020-06-09T03:02:09Z</dcterms:created>
  <dcterms:modified xsi:type="dcterms:W3CDTF">2026-09-22T07:27:13Z</dcterms:modified>
</cp:coreProperties>
</file>