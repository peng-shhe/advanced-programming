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87" r:id="rId2"/>
    <p:sldId id="2007579617" r:id="rId3"/>
    <p:sldId id="331" r:id="rId4"/>
    <p:sldId id="2007579630" r:id="rId5"/>
    <p:sldId id="2007579632" r:id="rId6"/>
    <p:sldId id="2007579631" r:id="rId7"/>
    <p:sldId id="2007579637" r:id="rId8"/>
    <p:sldId id="2007579638" r:id="rId9"/>
    <p:sldId id="2007579639" r:id="rId10"/>
    <p:sldId id="2007579633" r:id="rId11"/>
    <p:sldId id="2007579634" r:id="rId12"/>
    <p:sldId id="2007579635" r:id="rId13"/>
    <p:sldId id="2007579636" r:id="rId14"/>
    <p:sldId id="2007579640" r:id="rId15"/>
    <p:sldId id="2007579641" r:id="rId16"/>
    <p:sldId id="2007579642" r:id="rId17"/>
    <p:sldId id="2007579645" r:id="rId18"/>
    <p:sldId id="2007579643" r:id="rId19"/>
    <p:sldId id="2007579644" r:id="rId20"/>
    <p:sldId id="2007579646" r:id="rId21"/>
    <p:sldId id="2007579647" r:id="rId22"/>
    <p:sldId id="2007579648" r:id="rId23"/>
    <p:sldId id="2007579649" r:id="rId24"/>
    <p:sldId id="2007579650" r:id="rId25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81">
          <p15:clr>
            <a:srgbClr val="A4A3A4"/>
          </p15:clr>
        </p15:guide>
        <p15:guide id="2" pos="269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 Zibang" initials="ZZ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0E0"/>
    <a:srgbClr val="00008F"/>
    <a:srgbClr val="8C1515"/>
    <a:srgbClr val="3C679C"/>
    <a:srgbClr val="C9742F"/>
    <a:srgbClr val="CF7225"/>
    <a:srgbClr val="8B0B0B"/>
    <a:srgbClr val="FDCA73"/>
    <a:srgbClr val="AA7453"/>
    <a:srgbClr val="FFDF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54" autoAdjust="0"/>
    <p:restoredTop sz="78480" autoAdjust="0"/>
  </p:normalViewPr>
  <p:slideViewPr>
    <p:cSldViewPr>
      <p:cViewPr>
        <p:scale>
          <a:sx n="125" d="100"/>
          <a:sy n="125" d="100"/>
        </p:scale>
        <p:origin x="486" y="-372"/>
      </p:cViewPr>
      <p:guideLst>
        <p:guide orient="horz" pos="1181"/>
        <p:guide pos="2699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19C75-063A-4430-A319-3780764FEA8E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2EEAF-8DE4-409C-A614-809959D8A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207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7647B-E055-44F4-BDAD-511D5418643E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6792D-4616-4DF5-9FAF-847C90E5E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68512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89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795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353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475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82B7-FC99-A812-689E-D65B218A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E76C8F-7E32-7049-F25D-511016459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551843-76F0-739A-F05B-50CBA9FC1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6CD482-6924-462C-A4E9-A4B29E0B82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8E0FF6-1B04-7526-1BC5-53427C966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902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7F2B5-0D92-19A6-3E0F-9C51EF83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4B5D04-B04A-08BA-29A0-E29224905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20BA36-9382-816E-612B-4BB2691DA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B20024-C55D-2E93-0B93-ABA1EDBB8D3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97527D-5792-02CF-A035-54B660B26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66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60632-108A-D01E-1ABA-83A802033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B6991D-A5E3-6F36-E032-800EDE436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40527F-2A45-FA98-2BEE-EA344EFD0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40D39D-E694-B297-8097-D05F8861C3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1393D6-6D88-9769-1EE3-3FCA3E7DA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297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80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598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770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030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9D917-F3CA-7B2C-FBD4-830286039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FC9026-70A9-AD9B-EBF5-8D7F68DCA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8958BD-04AA-1D5A-55EB-E58452070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4CF8DD-008C-4473-EA8D-D9017CC044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F818AD-B299-411A-3E77-E478B205F1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838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991C3-5D76-CB48-C032-BF2A1A1A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3FD277-C9FD-C80F-A060-1061EA8E4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03DF2F-50C0-90C5-6E74-56081FE48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95E14D-20DC-322C-54F1-E3E74DEFF4C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D104E6-94D8-9C92-F50C-8A81F7A2B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522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1AA1D-2BAB-CCCF-94C9-1E5A9FF2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1F1BCB-C804-0B1B-A0C8-2DB94DCFE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6407B3-309B-A61C-E514-DDF8632A8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6E06E0-FCDC-FDDA-E7D0-F566ED5C17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5FBAE7-C05F-1096-19E9-1FCC025C9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825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40DAF-DBC1-194F-93D9-4DDC56EFC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C5EEEB-EC57-32A5-D557-65C87D0B8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309F1F-AEEB-7DFC-0803-BEB85CB69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105A04-7404-4F63-8402-7DDD633EE7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2F80C1-8BDF-8EB4-507D-BF0156702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4168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D9234-649B-9078-6E8F-CC2E87CB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227044-9E9F-CE99-E2ED-0ABA52009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2A9631-2AE9-8DB4-62BD-E4034B888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263D43-A052-5DA6-2474-19EF1D40CA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83135B-D939-BEEC-EC81-7529386CE0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278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02497-E3D2-5B4F-7464-433A4D8D3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7FCBDE-6FFC-E268-87F3-3330E4004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4BCCC4-FD2E-0CF1-5E8C-B7E54B7FD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C483C4-6DAD-84F8-A5FE-C399B2E20E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6783E5-707A-8B3E-D41F-13C512995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2093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908E7-7D65-3C89-B69F-247AC62A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0DCB0E-F473-7B4E-9138-6748CDC2B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905223-771D-82E8-CE60-DB4C65765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F06315-EAE0-64C4-72C3-1091A46594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ED63AE-0691-5507-E8D2-358EB96EE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5556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37EF6-5453-F98D-818C-581C576E1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09B4F8-030C-68EA-238C-6AC514EE2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D26230-8BA0-E8A8-5FDD-EEA089EC9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317AE8-9D35-D889-EE35-931C622011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2072BC-B8EA-9DDF-F01E-4A52BDBF3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091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F2C46-93DB-E97B-58B2-E4F8FFA1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14D18E-D629-4E8E-908D-B515885BF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7F0203-549B-65BD-CD50-3F94FFE8F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584319-2C0A-43F8-6515-629503DFB7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08C320-0BCE-4A0C-8FFB-84E1156BAC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0193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120E4-C6D6-DE3B-0860-5D51C3D76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E1A542-CE79-68F8-E8FA-8D0274D1E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9FB4B9-42D0-704E-D42E-1AAC62F2B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F98F81-2971-8F2D-8C25-51A939DC96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5A8EA4-22F2-8D65-7745-165E754AF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3321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0C82E-83A5-AC1E-1DC3-AEC20677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B579DA-B3B7-0279-BDAB-BBA9B2846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A88D24-5F7C-2BD9-2DF4-AEB1430DF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5FA5B1-6B09-EDE5-A7E4-5088C195DC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9FA38B-C15D-5892-CCF5-58F17DCB8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042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66F26E-16D4-4285-86B5-5A02881A0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257800"/>
            <a:ext cx="9155113" cy="457200"/>
          </a:xfrm>
          <a:prstGeom prst="rect">
            <a:avLst/>
          </a:prstGeom>
          <a:solidFill>
            <a:srgbClr val="8C1515"/>
          </a:solidFill>
          <a:ln w="9525">
            <a:solidFill>
              <a:srgbClr val="8C1515"/>
            </a:solidFill>
            <a:miter lim="800000"/>
            <a:headEnd/>
            <a:tailEnd/>
          </a:ln>
          <a:effectLst>
            <a:outerShdw blurRad="38100" dist="25401" dir="2700000" algn="br" rotWithShape="0">
              <a:srgbClr val="808080">
                <a:alpha val="59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79712" y="1460356"/>
            <a:ext cx="2954337" cy="123444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单击此处编辑母版标题样式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9712" y="2837669"/>
            <a:ext cx="2954337" cy="124396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all" spc="300" normalizeH="0" baseline="0" noProof="0">
                <a:ln>
                  <a:noFill/>
                </a:ln>
                <a:solidFill>
                  <a:srgbClr val="A4001D"/>
                </a:solidFill>
                <a:effectLst/>
                <a:uLnTx/>
                <a:uFillTx/>
              </a:rPr>
              <a:t>单击此处编辑母版文本样式</a:t>
            </a:r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5041994" y="1455485"/>
            <a:ext cx="1951038" cy="2601384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44450" cap="flat" cmpd="sng" algn="ctr">
            <a:solidFill>
              <a:srgbClr val="FFFFFF"/>
            </a:solidFill>
            <a:prstDash val="solid"/>
          </a:ln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txBody>
          <a:bodyPr/>
          <a:lstStyle>
            <a:lvl1pPr>
              <a:buNone/>
              <a:defRPr sz="1200"/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单击图标添加图片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37080" y="5358976"/>
            <a:ext cx="807077" cy="25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251520" y="5305772"/>
            <a:ext cx="85689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70F5C-EE30-4F39-9914-96B3414A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896" y="5359820"/>
            <a:ext cx="2133600" cy="304271"/>
          </a:xfrm>
          <a:prstGeom prst="rect">
            <a:avLst/>
          </a:prstGeom>
        </p:spPr>
        <p:txBody>
          <a:bodyPr/>
          <a:lstStyle>
            <a:lvl1pPr algn="r"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D1A3300-9584-4427-9F43-A1245D5B51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4253" y="49188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251520" y="5305772"/>
            <a:ext cx="85689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70F5C-EE30-4F39-9914-96B3414A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896" y="5359820"/>
            <a:ext cx="2133600" cy="304271"/>
          </a:xfrm>
          <a:prstGeom prst="rect">
            <a:avLst/>
          </a:prstGeom>
        </p:spPr>
        <p:txBody>
          <a:bodyPr/>
          <a:lstStyle>
            <a:lvl1pPr algn="r"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D1A3300-9584-4427-9F43-A1245D5B51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4253" y="49188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9A8DF32-1A1B-3C3E-D235-D057C4233D1B}"/>
              </a:ext>
            </a:extLst>
          </p:cNvPr>
          <p:cNvSpPr/>
          <p:nvPr userDrawn="1"/>
        </p:nvSpPr>
        <p:spPr>
          <a:xfrm>
            <a:off x="0" y="118046"/>
            <a:ext cx="228600" cy="507206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24903-F4DA-DDF5-351D-FF499065F442}"/>
              </a:ext>
            </a:extLst>
          </p:cNvPr>
          <p:cNvSpPr/>
          <p:nvPr userDrawn="1"/>
        </p:nvSpPr>
        <p:spPr>
          <a:xfrm>
            <a:off x="300221" y="118046"/>
            <a:ext cx="83756" cy="507206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E52F7B5-FAEE-B7D9-CDE1-95CD25BAC7F3}"/>
              </a:ext>
            </a:extLst>
          </p:cNvPr>
          <p:cNvCxnSpPr>
            <a:cxnSpLocks/>
          </p:cNvCxnSpPr>
          <p:nvPr userDrawn="1"/>
        </p:nvCxnSpPr>
        <p:spPr>
          <a:xfrm>
            <a:off x="506887" y="625252"/>
            <a:ext cx="8637113" cy="0"/>
          </a:xfrm>
          <a:prstGeom prst="line">
            <a:avLst/>
          </a:prstGeom>
          <a:ln w="19050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98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328163-63B1-448A-8C5E-85E95C5B897F}"/>
              </a:ext>
            </a:extLst>
          </p:cNvPr>
          <p:cNvSpPr/>
          <p:nvPr userDrawn="1"/>
        </p:nvSpPr>
        <p:spPr>
          <a:xfrm>
            <a:off x="0" y="0"/>
            <a:ext cx="457200" cy="5714999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4408" y="5377780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27542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757592" y="-5351412"/>
            <a:ext cx="360040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9117616" y="-5639444"/>
            <a:ext cx="36004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10477672" y="11066412"/>
            <a:ext cx="43204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8253520" y="11138496"/>
            <a:ext cx="43204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0" y="928833"/>
            <a:ext cx="9144000" cy="39158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Picture 2" descr="See the source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388" y="3571779"/>
            <a:ext cx="1659527" cy="124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D:\Work\Openhouse\logo2.png">
            <a:extLst>
              <a:ext uri="{FF2B5EF4-FFF2-40B4-BE49-F238E27FC236}">
                <a16:creationId xmlns:a16="http://schemas.microsoft.com/office/drawing/2014/main" id="{9B2CA439-5E9F-4CE2-A272-854DAA849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628" y="221948"/>
            <a:ext cx="1799792" cy="573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70F6FD2C-7DD5-4800-84E5-469FFEDEA8E5}"/>
              </a:ext>
            </a:extLst>
          </p:cNvPr>
          <p:cNvGrpSpPr/>
          <p:nvPr/>
        </p:nvGrpSpPr>
        <p:grpSpPr>
          <a:xfrm>
            <a:off x="192320" y="1197264"/>
            <a:ext cx="8775511" cy="1452923"/>
            <a:chOff x="1802914" y="1417340"/>
            <a:chExt cx="11700681" cy="1452923"/>
          </a:xfrm>
        </p:grpSpPr>
        <p:sp>
          <p:nvSpPr>
            <p:cNvPr id="33" name="TextBox 3">
              <a:extLst>
                <a:ext uri="{FF2B5EF4-FFF2-40B4-BE49-F238E27FC236}">
                  <a16:creationId xmlns:a16="http://schemas.microsoft.com/office/drawing/2014/main" id="{E7CA9D9A-A2C1-440F-8642-C3AB1FFE720D}"/>
                </a:ext>
              </a:extLst>
            </p:cNvPr>
            <p:cNvSpPr txBox="1"/>
            <p:nvPr/>
          </p:nvSpPr>
          <p:spPr>
            <a:xfrm>
              <a:off x="1802914" y="1568947"/>
              <a:ext cx="56475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prstClr val="black"/>
                </a:buClr>
              </a:pPr>
              <a:r>
                <a:rPr lang="en-US" altLang="zh-CN" sz="2400" b="1" dirty="0">
                  <a:solidFill>
                    <a:prstClr val="white">
                      <a:lumMod val="85000"/>
                    </a:prstClr>
                  </a:solidFill>
                  <a:latin typeface="微软雅黑" pitchFamily="34" charset="-122"/>
                  <a:cs typeface="Arial" panose="020B0604020202020204" pitchFamily="34" charset="0"/>
                </a:rPr>
                <a:t>Advanced Programming</a:t>
              </a:r>
              <a:endParaRPr lang="zh-CN" altLang="en-US" sz="2400" dirty="0">
                <a:solidFill>
                  <a:prstClr val="white">
                    <a:lumMod val="85000"/>
                  </a:prstClr>
                </a:solidFill>
                <a:latin typeface="微软雅黑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31593D7-94FD-48F3-8E01-E12F509FC844}"/>
                </a:ext>
              </a:extLst>
            </p:cNvPr>
            <p:cNvCxnSpPr/>
            <p:nvPr/>
          </p:nvCxnSpPr>
          <p:spPr>
            <a:xfrm>
              <a:off x="1802915" y="1417340"/>
              <a:ext cx="1170068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E660E5E-8A20-446F-BDA6-56D9A3964607}"/>
                </a:ext>
              </a:extLst>
            </p:cNvPr>
            <p:cNvCxnSpPr/>
            <p:nvPr/>
          </p:nvCxnSpPr>
          <p:spPr>
            <a:xfrm>
              <a:off x="1802915" y="2174498"/>
              <a:ext cx="1170068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">
              <a:extLst>
                <a:ext uri="{FF2B5EF4-FFF2-40B4-BE49-F238E27FC236}">
                  <a16:creationId xmlns:a16="http://schemas.microsoft.com/office/drawing/2014/main" id="{E7CA9D9A-A2C1-440F-8642-C3AB1FFE720D}"/>
                </a:ext>
              </a:extLst>
            </p:cNvPr>
            <p:cNvSpPr txBox="1"/>
            <p:nvPr/>
          </p:nvSpPr>
          <p:spPr>
            <a:xfrm>
              <a:off x="2960925" y="2285488"/>
              <a:ext cx="93860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prstClr val="black"/>
                </a:buClr>
              </a:pPr>
              <a:r>
                <a:rPr lang="en-US" altLang="zh-CN" sz="3200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Lecture 05 Functions</a:t>
              </a:r>
              <a:endParaRPr lang="zh-CN" altLang="en-US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0" y="0"/>
            <a:ext cx="9144000" cy="1063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8624931" y="4444663"/>
            <a:ext cx="950053" cy="4000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">
            <a:extLst>
              <a:ext uri="{FF2B5EF4-FFF2-40B4-BE49-F238E27FC236}">
                <a16:creationId xmlns:a16="http://schemas.microsoft.com/office/drawing/2014/main" id="{B326EBC7-93F8-41CA-9C03-87466766C001}"/>
              </a:ext>
            </a:extLst>
          </p:cNvPr>
          <p:cNvSpPr txBox="1"/>
          <p:nvPr/>
        </p:nvSpPr>
        <p:spPr>
          <a:xfrm>
            <a:off x="1942068" y="3172319"/>
            <a:ext cx="536623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prstClr val="black"/>
              </a:buClr>
            </a:pPr>
            <a:r>
              <a:rPr lang="en-US" altLang="zh-CN" sz="2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Zibang Zhang</a:t>
            </a:r>
            <a:endParaRPr lang="en-US" altLang="zh-CN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buClr>
                <a:prstClr val="black"/>
              </a:buClr>
            </a:pPr>
            <a:r>
              <a:rPr lang="en-US" altLang="zh-CN" sz="14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Optoelectronic Engineering, Jinan University</a:t>
            </a:r>
            <a:endParaRPr lang="zh-CN" altLang="en-US" sz="14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494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Functions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Functions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 Python are reusable blocks of code that perform a specific task. They let you organize code, avoid repetition, and make programs easier to read, test, and maintain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75" y="2137420"/>
            <a:ext cx="45148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7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68087" y="700128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1CABB17-4D5E-468E-B44F-137A264FDC99}"/>
              </a:ext>
            </a:extLst>
          </p:cNvPr>
          <p:cNvSpPr txBox="1">
            <a:spLocks/>
          </p:cNvSpPr>
          <p:nvPr/>
        </p:nvSpPr>
        <p:spPr>
          <a:xfrm>
            <a:off x="1082588" y="1465843"/>
            <a:ext cx="6729772" cy="3623905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Defining and Calling a Function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Parameters and Arguments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Type Hints (Optional but Recommended)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Return Values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Flexible Arguments: *</a:t>
            </a:r>
            <a:r>
              <a:rPr lang="en-US" altLang="en-US" sz="1800" dirty="0" err="1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args</a:t>
            </a: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 and **</a:t>
            </a:r>
            <a:r>
              <a:rPr lang="en-US" altLang="en-US" sz="1800" dirty="0" err="1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kwargs</a:t>
            </a: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Scope: Local vs Global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Lambda (Anonymous) Functions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1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Defining and Calling a Function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Use </a:t>
            </a:r>
            <a:r>
              <a:rPr lang="en-US" altLang="zh-CN" sz="1600" b="1" dirty="0" err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def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to define, and parentheses to call.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217153-765E-4521-339C-EF04915D69DE}"/>
              </a:ext>
            </a:extLst>
          </p:cNvPr>
          <p:cNvSpPr txBox="1"/>
          <p:nvPr/>
        </p:nvSpPr>
        <p:spPr>
          <a:xfrm>
            <a:off x="2699792" y="2360009"/>
            <a:ext cx="3528392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"Hello!"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         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Hello!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964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68087" y="700128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1CABB17-4D5E-468E-B44F-137A264FDC99}"/>
              </a:ext>
            </a:extLst>
          </p:cNvPr>
          <p:cNvSpPr txBox="1">
            <a:spLocks/>
          </p:cNvSpPr>
          <p:nvPr/>
        </p:nvSpPr>
        <p:spPr>
          <a:xfrm>
            <a:off x="1082588" y="1465843"/>
            <a:ext cx="6729772" cy="3623905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Defining and Calling a Function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Parameters and Arguments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Type Hints (Optional but Recommended)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Return Values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Flexible Arguments: *</a:t>
            </a:r>
            <a:r>
              <a:rPr lang="en-US" altLang="en-US" sz="1800" dirty="0" err="1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args</a:t>
            </a: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 and **</a:t>
            </a:r>
            <a:r>
              <a:rPr lang="en-US" altLang="en-US" sz="1800" dirty="0" err="1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kwargs</a:t>
            </a: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Scope: Local vs Global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Lambda (Anonymous) Functions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18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Parameters and Arguments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Parameters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are variables in the definition; 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arguments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are the values you pass in.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Types of arguments: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Positional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Keyword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Default values (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⚠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Default arguments must come after non-default ones)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0A7664-529B-1BBA-FE01-9138B5279FF5}"/>
              </a:ext>
            </a:extLst>
          </p:cNvPr>
          <p:cNvSpPr txBox="1"/>
          <p:nvPr/>
        </p:nvSpPr>
        <p:spPr>
          <a:xfrm>
            <a:off x="2122723" y="3217540"/>
            <a:ext cx="4898554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(name)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Hello, Alice!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22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4769F-1A0B-AD62-4BB7-C97BDD983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EC8CA7-79A6-D838-9039-6CB4E658D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87F1B876-735F-E060-6A93-B7B20DBA28EF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Parameters and Arguments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56431F7-4A30-5570-B50E-C7CC70E7A14C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DA08AC-1157-55F5-A997-A52B0AC85BA6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Parameters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are variables in the definition; 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arguments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are the values you pass in.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Types of arguments: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Positional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Keyword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Default values (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⚠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Default arguments must come after non-default ones)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6E458FC-CCC6-5F1C-1981-582E22E576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9531E0-A0EC-96CB-44E6-C028BCBFCC0E}"/>
              </a:ext>
            </a:extLst>
          </p:cNvPr>
          <p:cNvSpPr txBox="1"/>
          <p:nvPr/>
        </p:nvSpPr>
        <p:spPr>
          <a:xfrm>
            <a:off x="679896" y="3128425"/>
            <a:ext cx="7784207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Positional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</a:p>
          <a:p>
            <a:pPr>
              <a:buNone/>
            </a:pP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                  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5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42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B05EAB-DB54-BD2C-7B00-C85918B3F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0660B7-50CF-3C8A-951B-2BE6EF15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6191BB12-F9B9-E977-8D60-B747F77A30AA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Parameters and Arguments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95C70E1-513B-9F9B-0872-4FE5F6731B13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AB202CF-C9C6-531A-BA3C-2D2189EC0F01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Parameters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are variables in the definition; 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arguments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are the values you pass in.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Types of arguments: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Positional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Keyword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Default values (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⚠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Default arguments must come after non-default ones)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C9001503-E922-AE6E-C4D7-557F540EAF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915BEB-716A-5943-5938-E5B8651C5594}"/>
              </a:ext>
            </a:extLst>
          </p:cNvPr>
          <p:cNvSpPr txBox="1"/>
          <p:nvPr/>
        </p:nvSpPr>
        <p:spPr>
          <a:xfrm>
            <a:off x="679896" y="3027995"/>
            <a:ext cx="7784207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Keyword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              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5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              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5 (order doesn't matter)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694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69361-5FC9-1D7B-85F4-2467E6C59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05DA37-E6A4-4A09-70DD-C8C53A0D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86A7AA60-A794-7685-F397-E5197E0ABA68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Parameters and Arguments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9C6079E-628B-200D-D3BA-5C57E5B4977E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83A9F7-1AFE-7FD0-05D3-CC7962FFD15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Parameters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are variables in the definition; 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arguments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are the values you pass in.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Types of arguments: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Positional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Keyword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Default values (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⚠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Default arguments must come after non-default ones)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3D59604-FDD2-514E-EEC4-EC4C7444B2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7A2D68-F36E-9B8F-7F7F-E37E044A551F}"/>
              </a:ext>
            </a:extLst>
          </p:cNvPr>
          <p:cNvSpPr txBox="1"/>
          <p:nvPr/>
        </p:nvSpPr>
        <p:spPr>
          <a:xfrm>
            <a:off x="679896" y="3049327"/>
            <a:ext cx="7784207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Default values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“Hello %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s!” % </a:t>
            </a:r>
            <a:r>
              <a:rPr lang="en-US" altLang="zh-CN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name)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                     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Hello, World!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               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Hello, Bob!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245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68087" y="700128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1CABB17-4D5E-468E-B44F-137A264FDC99}"/>
              </a:ext>
            </a:extLst>
          </p:cNvPr>
          <p:cNvSpPr txBox="1">
            <a:spLocks/>
          </p:cNvSpPr>
          <p:nvPr/>
        </p:nvSpPr>
        <p:spPr>
          <a:xfrm>
            <a:off x="1082588" y="1465843"/>
            <a:ext cx="6729772" cy="3623905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Defining and Calling a Function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Parameters and Arguments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Type Hints (Optional but Recommended)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Return Values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Flexible Arguments: *</a:t>
            </a:r>
            <a:r>
              <a:rPr lang="en-US" altLang="en-US" sz="1800" dirty="0" err="1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args</a:t>
            </a: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 and **</a:t>
            </a:r>
            <a:r>
              <a:rPr lang="en-US" altLang="en-US" sz="1800" dirty="0" err="1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kwargs</a:t>
            </a: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Scope: Local vs Global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Lambda (Anonymous) Functions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516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Type Hints 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(Optional but Recommended)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Hints are documentation — Python doesn't enforce them at runtime.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FBEB43-E884-435F-6DDC-8068F3FEF250}"/>
              </a:ext>
            </a:extLst>
          </p:cNvPr>
          <p:cNvSpPr txBox="1"/>
          <p:nvPr/>
        </p:nvSpPr>
        <p:spPr>
          <a:xfrm>
            <a:off x="2034802" y="2624552"/>
            <a:ext cx="4541689" cy="6463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29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68087" y="700128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1CABB17-4D5E-468E-B44F-137A264FDC99}"/>
              </a:ext>
            </a:extLst>
          </p:cNvPr>
          <p:cNvSpPr txBox="1">
            <a:spLocks/>
          </p:cNvSpPr>
          <p:nvPr/>
        </p:nvSpPr>
        <p:spPr>
          <a:xfrm>
            <a:off x="1082588" y="1465843"/>
            <a:ext cx="6729772" cy="3623905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Defining and Calling a Function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Parameters and Arguments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Type Hints (Optional but Recommended)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Return Values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Flexible Arguments: *</a:t>
            </a:r>
            <a:r>
              <a:rPr lang="en-US" altLang="en-US" sz="1800" dirty="0" err="1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args</a:t>
            </a: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 and **</a:t>
            </a:r>
            <a:r>
              <a:rPr lang="en-US" altLang="en-US" sz="1800" dirty="0" err="1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kwargs</a:t>
            </a: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Scope: Local vs Global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Lambda (Anonymous) Functions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26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Return Values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return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sends a value back and exits the function. Without return, a function returns 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None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3F794B-1884-5595-BC1D-3896AEB108C9}"/>
              </a:ext>
            </a:extLst>
          </p:cNvPr>
          <p:cNvSpPr txBox="1"/>
          <p:nvPr/>
        </p:nvSpPr>
        <p:spPr>
          <a:xfrm>
            <a:off x="1258627" y="1396429"/>
            <a:ext cx="6626746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         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16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Return multiple values (as a tuple)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min_max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min_max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   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lo=1, hi=5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03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C6DE9-8FA2-C106-8159-0670E313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4912C-2424-4269-DBF5-11E6C22E8630}"/>
              </a:ext>
            </a:extLst>
          </p:cNvPr>
          <p:cNvSpPr txBox="1">
            <a:spLocks/>
          </p:cNvSpPr>
          <p:nvPr/>
        </p:nvSpPr>
        <p:spPr>
          <a:xfrm>
            <a:off x="368087" y="700128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74C98AAE-6535-116B-C748-FCC5089F6E58}"/>
              </a:ext>
            </a:extLst>
          </p:cNvPr>
          <p:cNvSpPr txBox="1">
            <a:spLocks/>
          </p:cNvSpPr>
          <p:nvPr/>
        </p:nvSpPr>
        <p:spPr>
          <a:xfrm>
            <a:off x="1082588" y="1465843"/>
            <a:ext cx="6729772" cy="3623905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Defining and Calling a Function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Parameters and Arguments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Type Hints (Optional but Recommended)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Return Values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Flexible Arguments: *</a:t>
            </a:r>
            <a:r>
              <a:rPr lang="en-US" altLang="en-US" sz="1800" dirty="0" err="1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args</a:t>
            </a:r>
            <a:r>
              <a:rPr lang="en-US" altLang="en-US" sz="1800" dirty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 and **</a:t>
            </a:r>
            <a:r>
              <a:rPr lang="en-US" altLang="en-US" sz="1800" dirty="0" err="1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kwargs</a:t>
            </a:r>
            <a:endParaRPr lang="en-US" altLang="en-US" sz="1800" dirty="0">
              <a:solidFill>
                <a:srgbClr val="C00000"/>
              </a:solidFill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Scope: Local vs Global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Lambda (Anonymous) Functions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581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0AEA2-A4EA-2953-3946-D97FC2BEE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2B2B91-7743-4C1F-E3F0-9F0D079A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8112EA90-9505-CE4F-ABD8-037A303520A6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Flexible Arguments: *</a:t>
            </a:r>
            <a:r>
              <a:rPr lang="en-US" altLang="zh-CN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args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and **</a:t>
            </a:r>
            <a:r>
              <a:rPr lang="en-US" altLang="zh-CN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kwargs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08B6FF-8A9A-E65A-2B6F-B9C3D237904F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9E5D4A8-91AD-EF44-688D-801DB71471CA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fr-FR" altLang="zh-CN" sz="16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*args</a:t>
            </a:r>
            <a:r>
              <a:rPr lang="fr-FR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 variable positional arguments (tuple)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E8760799-9842-B37D-2928-35D6822767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B4597C-7F98-BF1E-2052-F6307F265C87}"/>
              </a:ext>
            </a:extLst>
          </p:cNvPr>
          <p:cNvSpPr txBox="1"/>
          <p:nvPr/>
        </p:nvSpPr>
        <p:spPr>
          <a:xfrm>
            <a:off x="2195736" y="1776516"/>
            <a:ext cx="4707160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sum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             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6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       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15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219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13E4A-9C52-F7A5-C6BE-1D69511CB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8A476E-7D47-ADB2-659C-871C0634B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CEE0B32A-D80C-5441-DF39-C33C1DA2121E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Flexible Arguments: *</a:t>
            </a:r>
            <a:r>
              <a:rPr lang="en-US" altLang="zh-CN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args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and **</a:t>
            </a:r>
            <a:r>
              <a:rPr lang="en-US" altLang="zh-CN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kwargs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948E6FB-4635-EDB0-5CCE-E968E05849C5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F9280D-5C26-74C6-8946-3BD791590D48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fr-FR" altLang="zh-CN" sz="1600" dirty="0">
                <a:solidFill>
                  <a:schemeClr val="tx1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**kargs</a:t>
            </a:r>
            <a:r>
              <a:rPr lang="fr-FR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fr-FR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 variable keyword arguments (dict)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C66FC399-0C04-E8D4-260E-7CA8F502BE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84E6CA-9ADD-701A-1EBD-4557719D331E}"/>
              </a:ext>
            </a:extLst>
          </p:cNvPr>
          <p:cNvSpPr txBox="1"/>
          <p:nvPr/>
        </p:nvSpPr>
        <p:spPr>
          <a:xfrm>
            <a:off x="1511660" y="1921396"/>
            <a:ext cx="6120680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(**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US" altLang="zh-C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"="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is_female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name = Alice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age = 25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zh-C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is_female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True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304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659D-C35E-7690-86B9-0CD4C399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0521EA-6C77-9A0C-6C08-6B98DCB20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9949EA-25ED-7903-824C-A9D77865F057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Flexible Arguments: *</a:t>
            </a:r>
            <a:r>
              <a:rPr lang="en-US" altLang="zh-CN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args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and **</a:t>
            </a:r>
            <a:r>
              <a:rPr lang="en-US" altLang="zh-CN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kwargs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0B8246-8A8D-03DB-C2BE-33F92EFE0FF0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1CDD83-C97A-C242-D0D6-BD5C49A5B8CD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fr-FR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Excercise</a:t>
            </a:r>
            <a:endParaRPr lang="zh-CN" altLang="zh-CN" sz="32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A05F4380-BAF5-6125-6EC4-CBC11EE470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F1FE5A-7D2F-F467-8BA4-47E3A0AAC1C9}"/>
              </a:ext>
            </a:extLst>
          </p:cNvPr>
          <p:cNvSpPr txBox="1"/>
          <p:nvPr/>
        </p:nvSpPr>
        <p:spPr>
          <a:xfrm>
            <a:off x="2123728" y="1980337"/>
            <a:ext cx="4896544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**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5674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ABF5-F834-D549-DB9D-0866F522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2152D-447E-7B71-CDC6-F0060100CA7C}"/>
              </a:ext>
            </a:extLst>
          </p:cNvPr>
          <p:cNvSpPr txBox="1">
            <a:spLocks/>
          </p:cNvSpPr>
          <p:nvPr/>
        </p:nvSpPr>
        <p:spPr>
          <a:xfrm>
            <a:off x="368087" y="700128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6EA811E3-0829-934E-AD03-F222BC4D0D4E}"/>
              </a:ext>
            </a:extLst>
          </p:cNvPr>
          <p:cNvSpPr txBox="1">
            <a:spLocks/>
          </p:cNvSpPr>
          <p:nvPr/>
        </p:nvSpPr>
        <p:spPr>
          <a:xfrm>
            <a:off x="1082588" y="1465843"/>
            <a:ext cx="6729772" cy="3623905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Defining and Calling a Function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Parameters and Arguments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Type Hints (Optional but Recommended)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Return Values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Flexible Arguments: *</a:t>
            </a:r>
            <a:r>
              <a:rPr lang="en-US" altLang="en-US" sz="1800" dirty="0" err="1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args</a:t>
            </a: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 and **</a:t>
            </a:r>
            <a:r>
              <a:rPr lang="en-US" altLang="en-US" sz="1800" dirty="0" err="1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kwargs</a:t>
            </a: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Scope: Local vs Global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Lambda (Anonymous) Functions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330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919FB-E98A-B311-59EF-F63270113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08E617-DF37-5E3B-318E-8CBCB33F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FEB78162-D4CE-2D7E-93F6-E07439AAF95F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Scope: Local vs Global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D4C4DCC-FE23-CBF9-6664-72EC5C80AE0E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5D49D83-EF9E-2DDE-E19F-778EAACFDBF7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Variables created inside a function are local and disappear when the function ends.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21B73613-A67A-E543-77E3-72327B220E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E21BF3-FE14-860F-8D10-1AE9FDE3E120}"/>
              </a:ext>
            </a:extLst>
          </p:cNvPr>
          <p:cNvSpPr txBox="1"/>
          <p:nvPr/>
        </p:nvSpPr>
        <p:spPr>
          <a:xfrm>
            <a:off x="946172" y="1705372"/>
            <a:ext cx="7251656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           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global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       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local — does NOT affect global x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             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20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10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910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284C7-895A-7E8D-06FC-A7BF5D36F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88F60-7714-67B2-E745-017E81BC6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26ECAC27-8CF7-C38B-7715-2273E816033A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Scope: Local vs Global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FB5A786-3337-1CF6-9F1B-9A35E14EC786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907EFD-F0A7-E371-7BE3-9A23AE7D34FF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Use 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E0E0E0"/>
                </a:highlight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global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to modify a global variable (usually discouraged):</a:t>
            </a:r>
            <a:endParaRPr lang="zh-CN" altLang="zh-CN" sz="3200" dirty="0">
              <a:solidFill>
                <a:schemeClr val="tx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D660EAA-F146-A199-1F77-34588679ED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B5A584-10B9-1840-3176-46643C832562}"/>
              </a:ext>
            </a:extLst>
          </p:cNvPr>
          <p:cNvSpPr txBox="1"/>
          <p:nvPr/>
        </p:nvSpPr>
        <p:spPr>
          <a:xfrm>
            <a:off x="1619672" y="1661100"/>
            <a:ext cx="6192688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            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global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20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136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8914D-ACD9-DCBB-0C8E-498179B97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9015F1-EFE4-935B-B558-DFCD5A6D2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E5C4B8CB-0164-ECE1-CBEE-74A979161D15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Scope: Local vs Global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B7FECA-110C-AF2B-9939-4496B6D52686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210A05-F3B8-FCAB-4307-D2879A2BF865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LEGB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rule — Python looks up names in this order: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	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ocal →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nclosing →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lobal →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uilt-in</a:t>
            </a:r>
            <a:endParaRPr lang="zh-CN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A3970659-6631-71FF-035C-5AA0EE8FD5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7F21B6-03BE-E44D-E076-62302690C276}"/>
              </a:ext>
            </a:extLst>
          </p:cNvPr>
          <p:cNvSpPr txBox="1"/>
          <p:nvPr/>
        </p:nvSpPr>
        <p:spPr>
          <a:xfrm>
            <a:off x="1352792" y="1993404"/>
            <a:ext cx="6624736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outer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"enclosing"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  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found in enclosing scope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outer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              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enclosing</a:t>
            </a: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308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46139-140F-AF00-DC31-4B85C0A75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91AD4-EE3C-7F59-07CA-934D07D1AA69}"/>
              </a:ext>
            </a:extLst>
          </p:cNvPr>
          <p:cNvSpPr txBox="1">
            <a:spLocks/>
          </p:cNvSpPr>
          <p:nvPr/>
        </p:nvSpPr>
        <p:spPr>
          <a:xfrm>
            <a:off x="368087" y="700128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B1239D9D-26E1-0732-C2C3-79493C4B0E77}"/>
              </a:ext>
            </a:extLst>
          </p:cNvPr>
          <p:cNvSpPr txBox="1">
            <a:spLocks/>
          </p:cNvSpPr>
          <p:nvPr/>
        </p:nvSpPr>
        <p:spPr>
          <a:xfrm>
            <a:off x="1082588" y="1465843"/>
            <a:ext cx="6729772" cy="3623905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Defining and Calling a Function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Parameters and Arguments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Type Hints (Optional but Recommended)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Return Values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Flexible Arguments: *</a:t>
            </a:r>
            <a:r>
              <a:rPr lang="en-US" altLang="en-US" sz="1800" dirty="0" err="1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args</a:t>
            </a: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 and **</a:t>
            </a:r>
            <a:r>
              <a:rPr lang="en-US" altLang="en-US" sz="1800" dirty="0" err="1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kwargs</a:t>
            </a: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Scope: Local vs Global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en-US" sz="1800" dirty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Lambda (Anonymous) Functions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41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C2C9E-8B14-B949-77F7-55CD188D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D82A0A-8615-33AF-E701-AC4A29F9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8ECDB906-AD4B-ED8A-849A-4D2F1CD07A6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Lambda (Anonymous) Functions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BF64EE-8564-3A94-AAA7-EC474FBE31D0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7C7EAA-9D32-13D0-4AC9-F900FF49B021}"/>
              </a:ext>
            </a:extLst>
          </p:cNvPr>
          <p:cNvSpPr/>
          <p:nvPr/>
        </p:nvSpPr>
        <p:spPr>
          <a:xfrm>
            <a:off x="272672" y="841276"/>
            <a:ext cx="8784976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small, unnamed (anonymous) function defined with the lambda keyword.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Can take any number of arguments but contains only a single expression, whose value is automatically returned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Basic syntax: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highlight>
                  <a:srgbClr val="E0E0E0"/>
                </a:highlight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lambda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— keyword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highlight>
                  <a:srgbClr val="E0E0E0"/>
                </a:highlight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arguments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— comma-separated parameters (can be zero or more)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highlight>
                  <a:srgbClr val="E0E0E0"/>
                </a:highlight>
                <a:latin typeface="Consolas" panose="020B0609020204030204" pitchFamily="49" charset="0"/>
                <a:ea typeface="微软雅黑" panose="020B0503020204020204" pitchFamily="34" charset="-122"/>
                <a:cs typeface="Arial" panose="020B0604020202020204" pitchFamily="34" charset="0"/>
              </a:rPr>
              <a:t>expression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— a single expression; its result is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implicitly returned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</a:t>
            </a:r>
            <a:endParaRPr lang="zh-CN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7EB422A2-1E7C-7B91-F933-BACEE77F37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2381CB-E6B1-46C3-46DD-562467392882}"/>
              </a:ext>
            </a:extLst>
          </p:cNvPr>
          <p:cNvSpPr txBox="1"/>
          <p:nvPr/>
        </p:nvSpPr>
        <p:spPr>
          <a:xfrm>
            <a:off x="1259632" y="2460659"/>
            <a:ext cx="6408712" cy="32483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buNone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expression</a:t>
            </a:r>
          </a:p>
        </p:txBody>
      </p:sp>
    </p:spTree>
    <p:extLst>
      <p:ext uri="{BB962C8B-B14F-4D97-AF65-F5344CB8AC3E}">
        <p14:creationId xmlns:p14="http://schemas.microsoft.com/office/powerpoint/2010/main" val="3256741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E569A-A1C1-4700-363A-9628F719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5D56B4-6338-F6EA-A7F1-5BCDDF7A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3867F0E0-9BEF-511D-F811-67F5BE51B343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Lambda (Anonymous) Functions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DC81D6B-5717-279B-80C4-5692C4B2AACF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10838A54-4A25-53C1-8428-B41F412C4C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52B488-58BE-9F30-5637-76572416C101}"/>
              </a:ext>
            </a:extLst>
          </p:cNvPr>
          <p:cNvSpPr txBox="1"/>
          <p:nvPr/>
        </p:nvSpPr>
        <p:spPr>
          <a:xfrm>
            <a:off x="1043608" y="696008"/>
            <a:ext cx="7332885" cy="45704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No arguments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             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hello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Multiple arguments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       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7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Default arguments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greet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200" dirty="0">
                <a:solidFill>
                  <a:srgbClr val="569CD6"/>
                </a:solidFill>
                <a:latin typeface="Consolas" panose="020B0609020204030204" pitchFamily="49" charset="0"/>
              </a:rPr>
              <a:t>lambda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200" dirty="0">
                <a:solidFill>
                  <a:srgbClr val="CE9178"/>
                </a:solidFill>
                <a:latin typeface="Consolas" panose="020B0609020204030204" pitchFamily="49" charset="0"/>
              </a:rPr>
              <a:t>"World"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200" dirty="0">
                <a:solidFill>
                  <a:srgbClr val="CE9178"/>
                </a:solidFill>
                <a:latin typeface="Consolas" panose="020B0609020204030204" pitchFamily="49" charset="0"/>
              </a:rPr>
              <a:t>"Hello, </a:t>
            </a:r>
            <a:r>
              <a:rPr lang="en-US" altLang="zh-CN" sz="1200" dirty="0">
                <a:solidFill>
                  <a:srgbClr val="569CD6"/>
                </a:solidFill>
                <a:latin typeface="Consolas" panose="020B0609020204030204" pitchFamily="49" charset="0"/>
              </a:rPr>
              <a:t>%s</a:t>
            </a:r>
            <a:r>
              <a:rPr lang="en-US" altLang="zh-CN" sz="1200" dirty="0">
                <a:solidFill>
                  <a:srgbClr val="CE9178"/>
                </a:solidFill>
                <a:latin typeface="Consolas" panose="020B0609020204030204" pitchFamily="49" charset="0"/>
              </a:rPr>
              <a:t>!"</a:t>
            </a:r>
            <a:r>
              <a:rPr lang="en-US" altLang="zh-CN" sz="1200" dirty="0">
                <a:solidFill>
                  <a:srgbClr val="D4D4D4"/>
                </a:solidFill>
                <a:latin typeface="Consolas" panose="020B0609020204030204" pitchFamily="49" charset="0"/>
              </a:rPr>
              <a:t> % </a:t>
            </a:r>
            <a:r>
              <a:rPr lang="en-US" altLang="zh-CN" sz="1200" dirty="0">
                <a:solidFill>
                  <a:srgbClr val="9CDCFE"/>
                </a:solidFill>
                <a:latin typeface="Consolas" panose="020B0609020204030204" pitchFamily="49" charset="0"/>
              </a:rPr>
              <a:t>(name)</a:t>
            </a:r>
            <a:endParaRPr lang="en-US" altLang="zh-C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           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Hello, World!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Hello, Alice!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*</a:t>
            </a:r>
            <a:r>
              <a:rPr lang="en-US" altLang="zh-CN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args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6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**</a:t>
            </a:r>
            <a:r>
              <a:rPr lang="en-US" altLang="zh-CN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kwargs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**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kw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kw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    </a:t>
            </a:r>
            <a:r>
              <a:rPr lang="en-US" altLang="zh-CN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{'a': 1, 'b': 2}</a:t>
            </a:r>
            <a:endParaRPr lang="en-US" altLang="zh-C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713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23209</TotalTime>
  <Words>1333</Words>
  <Application>Microsoft Office PowerPoint</Application>
  <PresentationFormat>全屏显示(16:10)</PresentationFormat>
  <Paragraphs>251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Arial Unicode MS</vt:lpstr>
      <vt:lpstr>微软雅黑</vt:lpstr>
      <vt:lpstr>Arial</vt:lpstr>
      <vt:lpstr>Calibri</vt:lpstr>
      <vt:lpstr>Consolas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单像素成像技术与 单像素免成像技术</dc:title>
  <dc:creator>pc</dc:creator>
  <cp:lastModifiedBy>Charlie Vincent</cp:lastModifiedBy>
  <cp:revision>2020</cp:revision>
  <dcterms:created xsi:type="dcterms:W3CDTF">2020-06-09T03:02:09Z</dcterms:created>
  <dcterms:modified xsi:type="dcterms:W3CDTF">2026-09-29T12:59:51Z</dcterms:modified>
</cp:coreProperties>
</file>