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handoutMasterIdLst>
    <p:handoutMasterId r:id="rId38"/>
  </p:handoutMasterIdLst>
  <p:sldIdLst>
    <p:sldId id="287" r:id="rId2"/>
    <p:sldId id="2007579622" r:id="rId3"/>
    <p:sldId id="2007579623" r:id="rId4"/>
    <p:sldId id="2007579624" r:id="rId5"/>
    <p:sldId id="2007579625" r:id="rId6"/>
    <p:sldId id="2007579626" r:id="rId7"/>
    <p:sldId id="2007579627" r:id="rId8"/>
    <p:sldId id="2007579628" r:id="rId9"/>
    <p:sldId id="2007579617" r:id="rId10"/>
    <p:sldId id="2007579618" r:id="rId11"/>
    <p:sldId id="2007579631" r:id="rId12"/>
    <p:sldId id="2007579630" r:id="rId13"/>
    <p:sldId id="2007579632" r:id="rId14"/>
    <p:sldId id="2007579633" r:id="rId15"/>
    <p:sldId id="2007579635" r:id="rId16"/>
    <p:sldId id="2007579634" r:id="rId17"/>
    <p:sldId id="2007579629" r:id="rId18"/>
    <p:sldId id="2007579637" r:id="rId19"/>
    <p:sldId id="2007579643" r:id="rId20"/>
    <p:sldId id="2007579641" r:id="rId21"/>
    <p:sldId id="2007579647" r:id="rId22"/>
    <p:sldId id="2007579640" r:id="rId23"/>
    <p:sldId id="2007579638" r:id="rId24"/>
    <p:sldId id="2007579639" r:id="rId25"/>
    <p:sldId id="2007579642" r:id="rId26"/>
    <p:sldId id="2007579644" r:id="rId27"/>
    <p:sldId id="2007579645" r:id="rId28"/>
    <p:sldId id="2007579646" r:id="rId29"/>
    <p:sldId id="2007579648" r:id="rId30"/>
    <p:sldId id="2007579653" r:id="rId31"/>
    <p:sldId id="2007579651" r:id="rId32"/>
    <p:sldId id="2007579652" r:id="rId33"/>
    <p:sldId id="2007579650" r:id="rId34"/>
    <p:sldId id="2007579654" r:id="rId35"/>
    <p:sldId id="2007579655" r:id="rId36"/>
  </p:sldIdLst>
  <p:sldSz cx="9144000" cy="5715000" type="screen16x1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81">
          <p15:clr>
            <a:srgbClr val="A4A3A4"/>
          </p15:clr>
        </p15:guide>
        <p15:guide id="2" pos="2699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hang Zibang" initials="ZZ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D1F1"/>
    <a:srgbClr val="4EC9B0"/>
    <a:srgbClr val="8C1515"/>
    <a:srgbClr val="E0E0E0"/>
    <a:srgbClr val="00008F"/>
    <a:srgbClr val="3C679C"/>
    <a:srgbClr val="C9742F"/>
    <a:srgbClr val="CF7225"/>
    <a:srgbClr val="8B0B0B"/>
    <a:srgbClr val="FDCA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584" autoAdjust="0"/>
    <p:restoredTop sz="78480" autoAdjust="0"/>
  </p:normalViewPr>
  <p:slideViewPr>
    <p:cSldViewPr>
      <p:cViewPr>
        <p:scale>
          <a:sx n="54" d="100"/>
          <a:sy n="54" d="100"/>
        </p:scale>
        <p:origin x="1505" y="305"/>
      </p:cViewPr>
      <p:guideLst>
        <p:guide orient="horz" pos="1181"/>
        <p:guide pos="2699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319C75-063A-4430-A319-3780764FEA8E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42EEAF-8DE4-409C-A614-809959D8A8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22079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17647B-E055-44F4-BDAD-511D5418643E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76792D-4616-4DF5-9FAF-847C90E5EB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1685126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089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90919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90919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90919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90919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90919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90919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90919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90919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4CCCB-0441-A18C-2218-BA27B95C9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8D39C55-69FB-4D95-7B34-28CBD592EF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DAE96A8-A7DD-12F9-E2E7-2CE5630CFB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EE019FB-2CCC-5596-779C-49FDE67AEB1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2BD67E7-9D1A-99D3-A9A9-0698EC2168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69097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4CCCB-0441-A18C-2218-BA27B95C9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8D39C55-69FB-4D95-7B34-28CBD592EF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DAE96A8-A7DD-12F9-E2E7-2CE5630CFB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EE019FB-2CCC-5596-779C-49FDE67AEB1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2BD67E7-9D1A-99D3-A9A9-0698EC2168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69097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4CCCB-0441-A18C-2218-BA27B95C9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8D39C55-69FB-4D95-7B34-28CBD592EF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DAE96A8-A7DD-12F9-E2E7-2CE5630CFB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EE019FB-2CCC-5596-779C-49FDE67AEB1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2BD67E7-9D1A-99D3-A9A9-0698EC2168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69097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4CCCB-0441-A18C-2218-BA27B95C9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8D39C55-69FB-4D95-7B34-28CBD592EF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DAE96A8-A7DD-12F9-E2E7-2CE5630CFB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EE019FB-2CCC-5596-779C-49FDE67AEB1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2BD67E7-9D1A-99D3-A9A9-0698EC2168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69097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4CCCB-0441-A18C-2218-BA27B95C9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8D39C55-69FB-4D95-7B34-28CBD592EF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DAE96A8-A7DD-12F9-E2E7-2CE5630CFB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EE019FB-2CCC-5596-779C-49FDE67AEB1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2BD67E7-9D1A-99D3-A9A9-0698EC2168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69097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4CCCB-0441-A18C-2218-BA27B95C9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8D39C55-69FB-4D95-7B34-28CBD592EF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DAE96A8-A7DD-12F9-E2E7-2CE5630CFB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EE019FB-2CCC-5596-779C-49FDE67AEB1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2BD67E7-9D1A-99D3-A9A9-0698EC2168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690979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4CCCB-0441-A18C-2218-BA27B95C9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8D39C55-69FB-4D95-7B34-28CBD592EF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DAE96A8-A7DD-12F9-E2E7-2CE5630CFB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EE019FB-2CCC-5596-779C-49FDE67AEB1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2BD67E7-9D1A-99D3-A9A9-0698EC2168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690979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4CCCB-0441-A18C-2218-BA27B95C9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8D39C55-69FB-4D95-7B34-28CBD592EF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DAE96A8-A7DD-12F9-E2E7-2CE5630CFB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EE019FB-2CCC-5596-779C-49FDE67AEB1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2BD67E7-9D1A-99D3-A9A9-0698EC2168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690979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4CCCB-0441-A18C-2218-BA27B95C9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8D39C55-69FB-4D95-7B34-28CBD592EF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DAE96A8-A7DD-12F9-E2E7-2CE5630CFB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EE019FB-2CCC-5596-779C-49FDE67AEB1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2BD67E7-9D1A-99D3-A9A9-0698EC2168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69097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4CCCB-0441-A18C-2218-BA27B95C9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8D39C55-69FB-4D95-7B34-28CBD592EF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DAE96A8-A7DD-12F9-E2E7-2CE5630CFB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EE019FB-2CCC-5596-779C-49FDE67AEB1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2BD67E7-9D1A-99D3-A9A9-0698EC2168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285018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4CCCB-0441-A18C-2218-BA27B95C9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8D39C55-69FB-4D95-7B34-28CBD592EF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DAE96A8-A7DD-12F9-E2E7-2CE5630CFB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EE019FB-2CCC-5596-779C-49FDE67AEB1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2BD67E7-9D1A-99D3-A9A9-0698EC2168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410372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4CCCB-0441-A18C-2218-BA27B95C9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8D39C55-69FB-4D95-7B34-28CBD592EF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DAE96A8-A7DD-12F9-E2E7-2CE5630CFB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EE019FB-2CCC-5596-779C-49FDE67AEB1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2BD67E7-9D1A-99D3-A9A9-0698EC2168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981112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4CCCB-0441-A18C-2218-BA27B95C9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8D39C55-69FB-4D95-7B34-28CBD592EF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DAE96A8-A7DD-12F9-E2E7-2CE5630CFB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EE019FB-2CCC-5596-779C-49FDE67AEB1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2BD67E7-9D1A-99D3-A9A9-0698EC2168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690979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4CCCB-0441-A18C-2218-BA27B95C9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8D39C55-69FB-4D95-7B34-28CBD592EF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DAE96A8-A7DD-12F9-E2E7-2CE5630CFB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EE019FB-2CCC-5596-779C-49FDE67AEB1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2BD67E7-9D1A-99D3-A9A9-0698EC2168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690979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4CCCB-0441-A18C-2218-BA27B95C9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8D39C55-69FB-4D95-7B34-28CBD592EF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DAE96A8-A7DD-12F9-E2E7-2CE5630CFB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EE019FB-2CCC-5596-779C-49FDE67AEB1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2BD67E7-9D1A-99D3-A9A9-0698EC2168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690979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4CCCB-0441-A18C-2218-BA27B95C9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8D39C55-69FB-4D95-7B34-28CBD592EF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DAE96A8-A7DD-12F9-E2E7-2CE5630CFB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EE019FB-2CCC-5596-779C-49FDE67AEB1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2BD67E7-9D1A-99D3-A9A9-0698EC2168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310803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4CCCB-0441-A18C-2218-BA27B95C9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8D39C55-69FB-4D95-7B34-28CBD592EF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DAE96A8-A7DD-12F9-E2E7-2CE5630CFB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EE019FB-2CCC-5596-779C-49FDE67AEB1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2BD67E7-9D1A-99D3-A9A9-0698EC2168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331181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4CCCB-0441-A18C-2218-BA27B95C9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8D39C55-69FB-4D95-7B34-28CBD592EF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DAE96A8-A7DD-12F9-E2E7-2CE5630CFB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EE019FB-2CCC-5596-779C-49FDE67AEB1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2BD67E7-9D1A-99D3-A9A9-0698EC2168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946532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4CCCB-0441-A18C-2218-BA27B95C9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8D39C55-69FB-4D95-7B34-28CBD592EF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DAE96A8-A7DD-12F9-E2E7-2CE5630CFB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EE019FB-2CCC-5596-779C-49FDE67AEB1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2BD67E7-9D1A-99D3-A9A9-0698EC2168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982965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4CCCB-0441-A18C-2218-BA27B95C9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8D39C55-69FB-4D95-7B34-28CBD592EF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DAE96A8-A7DD-12F9-E2E7-2CE5630CFB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EE019FB-2CCC-5596-779C-49FDE67AEB1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2BD67E7-9D1A-99D3-A9A9-0698EC2168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968711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4CCCB-0441-A18C-2218-BA27B95C9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8D39C55-69FB-4D95-7B34-28CBD592EF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DAE96A8-A7DD-12F9-E2E7-2CE5630CFB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EE019FB-2CCC-5596-779C-49FDE67AEB1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2BD67E7-9D1A-99D3-A9A9-0698EC2168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8710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4CCCB-0441-A18C-2218-BA27B95C9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8D39C55-69FB-4D95-7B34-28CBD592EF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DAE96A8-A7DD-12F9-E2E7-2CE5630CFB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EE019FB-2CCC-5596-779C-49FDE67AEB1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2BD67E7-9D1A-99D3-A9A9-0698EC2168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021437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4CCCB-0441-A18C-2218-BA27B95C9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8D39C55-69FB-4D95-7B34-28CBD592EF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DAE96A8-A7DD-12F9-E2E7-2CE5630CFB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EE019FB-2CCC-5596-779C-49FDE67AEB1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2BD67E7-9D1A-99D3-A9A9-0698EC2168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986678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4CCCB-0441-A18C-2218-BA27B95C9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8D39C55-69FB-4D95-7B34-28CBD592EF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DAE96A8-A7DD-12F9-E2E7-2CE5630CFB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EE019FB-2CCC-5596-779C-49FDE67AEB1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2BD67E7-9D1A-99D3-A9A9-0698EC2168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856069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4CCCB-0441-A18C-2218-BA27B95C9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8D39C55-69FB-4D95-7B34-28CBD592EF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DAE96A8-A7DD-12F9-E2E7-2CE5630CFB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EE019FB-2CCC-5596-779C-49FDE67AEB1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2BD67E7-9D1A-99D3-A9A9-0698EC2168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225048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4CCCB-0441-A18C-2218-BA27B95C9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8D39C55-69FB-4D95-7B34-28CBD592EF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DAE96A8-A7DD-12F9-E2E7-2CE5630CFB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EE019FB-2CCC-5596-779C-49FDE67AEB1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2BD67E7-9D1A-99D3-A9A9-0698EC2168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50221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A66F26E-16D4-4285-86B5-5A02881A048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5257800"/>
            <a:ext cx="9155113" cy="457200"/>
          </a:xfrm>
          <a:prstGeom prst="rect">
            <a:avLst/>
          </a:prstGeom>
          <a:solidFill>
            <a:srgbClr val="8C1515"/>
          </a:solidFill>
          <a:ln w="9525">
            <a:solidFill>
              <a:srgbClr val="8C1515"/>
            </a:solidFill>
            <a:miter lim="800000"/>
            <a:headEnd/>
            <a:tailEnd/>
          </a:ln>
          <a:effectLst>
            <a:outerShdw blurRad="38100" dist="25401" dir="2700000" algn="br" rotWithShape="0">
              <a:srgbClr val="808080">
                <a:alpha val="59999"/>
              </a:srgbClr>
            </a:outerShdw>
          </a:effec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endParaRPr lang="en-US" altLang="en-US" sz="1800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979712" y="1460356"/>
            <a:ext cx="2954337" cy="1234440"/>
          </a:xfrm>
          <a:prstGeom prst="rect">
            <a:avLst/>
          </a:prstGeom>
        </p:spPr>
        <p:txBody>
          <a:bodyPr/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单击此处编辑母版标题样式</a:t>
            </a: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9712" y="2837669"/>
            <a:ext cx="2954337" cy="1243967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200" cap="all" spc="300">
                <a:solidFill>
                  <a:srgbClr val="A4001D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all" spc="300" normalizeH="0" baseline="0" noProof="0">
                <a:ln>
                  <a:noFill/>
                </a:ln>
                <a:solidFill>
                  <a:srgbClr val="A4001D"/>
                </a:solidFill>
                <a:effectLst/>
                <a:uLnTx/>
                <a:uFillTx/>
              </a:rPr>
              <a:t>单击此处编辑母版文本样式</a:t>
            </a:r>
          </a:p>
        </p:txBody>
      </p:sp>
      <p:sp>
        <p:nvSpPr>
          <p:cNvPr id="10" name="Picture Placeholder 16"/>
          <p:cNvSpPr>
            <a:spLocks noGrp="1"/>
          </p:cNvSpPr>
          <p:nvPr>
            <p:ph type="pic" sz="quarter" idx="13"/>
          </p:nvPr>
        </p:nvSpPr>
        <p:spPr>
          <a:xfrm>
            <a:off x="5041994" y="1455485"/>
            <a:ext cx="1951038" cy="2601384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  <a:ln w="44450" cap="flat" cmpd="sng" algn="ctr">
            <a:solidFill>
              <a:srgbClr val="FFFFFF"/>
            </a:solidFill>
            <a:prstDash val="solid"/>
          </a:ln>
          <a:effectLst>
            <a:outerShdw blurRad="50800" dist="25400" dir="2700000" algn="tl" rotWithShape="0">
              <a:prstClr val="black">
                <a:alpha val="36000"/>
              </a:prstClr>
            </a:outerShdw>
          </a:effectLst>
        </p:spPr>
        <p:txBody>
          <a:bodyPr/>
          <a:lstStyle>
            <a:lvl1pPr>
              <a:buNone/>
              <a:defRPr sz="1200"/>
            </a:lvl1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单击图标添加图片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pic>
        <p:nvPicPr>
          <p:cNvPr id="11" name="Picture 2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37080" y="5358976"/>
            <a:ext cx="807077" cy="256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251520" y="5305772"/>
            <a:ext cx="8568952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CA70F5C-EE30-4F39-9914-96B3414A3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02896" y="5359820"/>
            <a:ext cx="2133600" cy="304271"/>
          </a:xfrm>
          <a:prstGeom prst="rect">
            <a:avLst/>
          </a:prstGeom>
        </p:spPr>
        <p:txBody>
          <a:bodyPr/>
          <a:lstStyle>
            <a:lvl1pPr algn="r">
              <a:defRPr sz="105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8D1A3300-9584-4427-9F43-A1245D5B510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274253" y="49188"/>
            <a:ext cx="807077" cy="256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251520" y="5305772"/>
            <a:ext cx="8568952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CA70F5C-EE30-4F39-9914-96B3414A3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02896" y="5359820"/>
            <a:ext cx="2133600" cy="304271"/>
          </a:xfrm>
          <a:prstGeom prst="rect">
            <a:avLst/>
          </a:prstGeom>
        </p:spPr>
        <p:txBody>
          <a:bodyPr/>
          <a:lstStyle>
            <a:lvl1pPr algn="r">
              <a:defRPr sz="105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8D1A3300-9584-4427-9F43-A1245D5B510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274253" y="49188"/>
            <a:ext cx="807077" cy="256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79A8DF32-1A1B-3C3E-D235-D057C4233D1B}"/>
              </a:ext>
            </a:extLst>
          </p:cNvPr>
          <p:cNvSpPr/>
          <p:nvPr userDrawn="1"/>
        </p:nvSpPr>
        <p:spPr>
          <a:xfrm>
            <a:off x="0" y="118046"/>
            <a:ext cx="228600" cy="507206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7A24903-F4DA-DDF5-351D-FF499065F442}"/>
              </a:ext>
            </a:extLst>
          </p:cNvPr>
          <p:cNvSpPr/>
          <p:nvPr userDrawn="1"/>
        </p:nvSpPr>
        <p:spPr>
          <a:xfrm>
            <a:off x="300221" y="118046"/>
            <a:ext cx="83756" cy="507206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8E52F7B5-FAEE-B7D9-CDE1-95CD25BAC7F3}"/>
              </a:ext>
            </a:extLst>
          </p:cNvPr>
          <p:cNvCxnSpPr>
            <a:cxnSpLocks/>
          </p:cNvCxnSpPr>
          <p:nvPr userDrawn="1"/>
        </p:nvCxnSpPr>
        <p:spPr>
          <a:xfrm>
            <a:off x="506887" y="625252"/>
            <a:ext cx="8637113" cy="0"/>
          </a:xfrm>
          <a:prstGeom prst="line">
            <a:avLst/>
          </a:prstGeom>
          <a:ln w="19050">
            <a:solidFill>
              <a:srgbClr val="8C151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89894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9328163-63B1-448A-8C5E-85E95C5B897F}"/>
              </a:ext>
            </a:extLst>
          </p:cNvPr>
          <p:cNvSpPr/>
          <p:nvPr userDrawn="1"/>
        </p:nvSpPr>
        <p:spPr>
          <a:xfrm>
            <a:off x="0" y="0"/>
            <a:ext cx="457200" cy="5714999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244408" y="5377780"/>
            <a:ext cx="807077" cy="256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333500"/>
            <a:ext cx="4038600" cy="377163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33500"/>
            <a:ext cx="4038600" cy="377163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5296960"/>
            <a:ext cx="28956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79261"/>
            <a:ext cx="4040188" cy="53313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812396"/>
            <a:ext cx="4040188" cy="32927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8" y="1279261"/>
            <a:ext cx="4041775" cy="53313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8" y="1812396"/>
            <a:ext cx="4041775" cy="32927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457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124200" y="5296960"/>
            <a:ext cx="28956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6553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5296960"/>
            <a:ext cx="28956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5296960"/>
            <a:ext cx="28956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27542"/>
            <a:ext cx="3008313" cy="96837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27543"/>
            <a:ext cx="5111750" cy="487759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195918"/>
            <a:ext cx="3008313" cy="39092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5296960"/>
            <a:ext cx="28956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000500"/>
            <a:ext cx="5486400" cy="47228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510646"/>
            <a:ext cx="5486400" cy="3429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472782"/>
            <a:ext cx="5486400" cy="6707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5296960"/>
            <a:ext cx="28956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5296960"/>
            <a:ext cx="28956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28866"/>
            <a:ext cx="2057400" cy="487627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28866"/>
            <a:ext cx="6019800" cy="487627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5296960"/>
            <a:ext cx="28956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28864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33500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矩形 6"/>
          <p:cNvSpPr/>
          <p:nvPr userDrawn="1"/>
        </p:nvSpPr>
        <p:spPr>
          <a:xfrm>
            <a:off x="-9757592" y="-5351412"/>
            <a:ext cx="360040" cy="1440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19117616" y="-5639444"/>
            <a:ext cx="360040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-10477672" y="11066412"/>
            <a:ext cx="432048" cy="2160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18253520" y="11138496"/>
            <a:ext cx="432048" cy="2160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2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>
            <a:extLst>
              <a:ext uri="{FF2B5EF4-FFF2-40B4-BE49-F238E27FC236}">
                <a16:creationId xmlns:a16="http://schemas.microsoft.com/office/drawing/2014/main" id="{EA7BECC0-C999-4547-8007-C75FBF2B9BD5}"/>
              </a:ext>
            </a:extLst>
          </p:cNvPr>
          <p:cNvSpPr/>
          <p:nvPr/>
        </p:nvSpPr>
        <p:spPr>
          <a:xfrm>
            <a:off x="0" y="928833"/>
            <a:ext cx="9144000" cy="391586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Clr>
                <a:prstClr val="black"/>
              </a:buClr>
            </a:pPr>
            <a:endParaRPr lang="zh-CN" altLang="en-US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0" name="Picture 2" descr="See the source image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6388" y="3571779"/>
            <a:ext cx="1659527" cy="1244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2" descr="D:\Work\Openhouse\logo2.png">
            <a:extLst>
              <a:ext uri="{FF2B5EF4-FFF2-40B4-BE49-F238E27FC236}">
                <a16:creationId xmlns:a16="http://schemas.microsoft.com/office/drawing/2014/main" id="{9B2CA439-5E9F-4CE2-A272-854DAA849A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628" y="221948"/>
            <a:ext cx="1799792" cy="573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2" name="组合 31">
            <a:extLst>
              <a:ext uri="{FF2B5EF4-FFF2-40B4-BE49-F238E27FC236}">
                <a16:creationId xmlns:a16="http://schemas.microsoft.com/office/drawing/2014/main" id="{70F6FD2C-7DD5-4800-84E5-469FFEDEA8E5}"/>
              </a:ext>
            </a:extLst>
          </p:cNvPr>
          <p:cNvGrpSpPr/>
          <p:nvPr/>
        </p:nvGrpSpPr>
        <p:grpSpPr>
          <a:xfrm>
            <a:off x="192320" y="1197264"/>
            <a:ext cx="8775511" cy="1945366"/>
            <a:chOff x="1802914" y="1417340"/>
            <a:chExt cx="11700681" cy="1945366"/>
          </a:xfrm>
        </p:grpSpPr>
        <p:sp>
          <p:nvSpPr>
            <p:cNvPr id="33" name="TextBox 3">
              <a:extLst>
                <a:ext uri="{FF2B5EF4-FFF2-40B4-BE49-F238E27FC236}">
                  <a16:creationId xmlns:a16="http://schemas.microsoft.com/office/drawing/2014/main" id="{E7CA9D9A-A2C1-440F-8642-C3AB1FFE720D}"/>
                </a:ext>
              </a:extLst>
            </p:cNvPr>
            <p:cNvSpPr txBox="1"/>
            <p:nvPr/>
          </p:nvSpPr>
          <p:spPr>
            <a:xfrm>
              <a:off x="1802914" y="1568947"/>
              <a:ext cx="564754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Clr>
                  <a:prstClr val="black"/>
                </a:buClr>
              </a:pPr>
              <a:r>
                <a:rPr lang="en-US" altLang="zh-CN" sz="2400" b="1" dirty="0">
                  <a:solidFill>
                    <a:prstClr val="white">
                      <a:lumMod val="85000"/>
                    </a:prstClr>
                  </a:solidFill>
                  <a:latin typeface="微软雅黑" pitchFamily="34" charset="-122"/>
                  <a:cs typeface="Arial" panose="020B0604020202020204" pitchFamily="34" charset="0"/>
                </a:rPr>
                <a:t>Advanced Programming</a:t>
              </a:r>
              <a:endParaRPr lang="zh-CN" altLang="en-US" sz="2400" dirty="0">
                <a:solidFill>
                  <a:prstClr val="white">
                    <a:lumMod val="85000"/>
                  </a:prstClr>
                </a:solidFill>
                <a:latin typeface="微软雅黑" pitchFamily="34" charset="-122"/>
                <a:cs typeface="Arial" panose="020B0604020202020204" pitchFamily="34" charset="0"/>
              </a:endParaRPr>
            </a:p>
          </p:txBody>
        </p: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531593D7-94FD-48F3-8E01-E12F509FC844}"/>
                </a:ext>
              </a:extLst>
            </p:cNvPr>
            <p:cNvCxnSpPr/>
            <p:nvPr/>
          </p:nvCxnSpPr>
          <p:spPr>
            <a:xfrm>
              <a:off x="1802915" y="1417340"/>
              <a:ext cx="11700680" cy="0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4E660E5E-8A20-446F-BDA6-56D9A3964607}"/>
                </a:ext>
              </a:extLst>
            </p:cNvPr>
            <p:cNvCxnSpPr/>
            <p:nvPr/>
          </p:nvCxnSpPr>
          <p:spPr>
            <a:xfrm>
              <a:off x="1802915" y="2174498"/>
              <a:ext cx="11700680" cy="0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">
              <a:extLst>
                <a:ext uri="{FF2B5EF4-FFF2-40B4-BE49-F238E27FC236}">
                  <a16:creationId xmlns:a16="http://schemas.microsoft.com/office/drawing/2014/main" id="{E7CA9D9A-A2C1-440F-8642-C3AB1FFE720D}"/>
                </a:ext>
              </a:extLst>
            </p:cNvPr>
            <p:cNvSpPr txBox="1"/>
            <p:nvPr/>
          </p:nvSpPr>
          <p:spPr>
            <a:xfrm>
              <a:off x="2960925" y="2285488"/>
              <a:ext cx="9386085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buClr>
                  <a:prstClr val="black"/>
                </a:buClr>
              </a:pPr>
              <a:r>
                <a:rPr lang="en-US" altLang="zh-CN" sz="3200" b="1" dirty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Lecture 06</a:t>
              </a:r>
              <a:br>
                <a:rPr lang="en-US" altLang="zh-CN" sz="3200" b="1" dirty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altLang="zh-CN" sz="3200" b="1" dirty="0" smtClean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Object-Oriented </a:t>
              </a:r>
              <a:r>
                <a:rPr lang="en-US" altLang="zh-CN" sz="3200" b="1" dirty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Programming</a:t>
              </a:r>
              <a:endParaRPr lang="zh-CN" altLang="en-US" sz="3200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7" name="矩形 36">
            <a:extLst>
              <a:ext uri="{FF2B5EF4-FFF2-40B4-BE49-F238E27FC236}">
                <a16:creationId xmlns:a16="http://schemas.microsoft.com/office/drawing/2014/main" id="{EA7BECC0-C999-4547-8007-C75FBF2B9BD5}"/>
              </a:ext>
            </a:extLst>
          </p:cNvPr>
          <p:cNvSpPr/>
          <p:nvPr/>
        </p:nvSpPr>
        <p:spPr>
          <a:xfrm>
            <a:off x="0" y="0"/>
            <a:ext cx="9144000" cy="10632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Clr>
                <a:prstClr val="black"/>
              </a:buClr>
            </a:pPr>
            <a:endParaRPr lang="zh-CN" altLang="en-US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EA7BECC0-C999-4547-8007-C75FBF2B9BD5}"/>
              </a:ext>
            </a:extLst>
          </p:cNvPr>
          <p:cNvSpPr/>
          <p:nvPr/>
        </p:nvSpPr>
        <p:spPr>
          <a:xfrm>
            <a:off x="8624931" y="4444663"/>
            <a:ext cx="950053" cy="40003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Clr>
                <a:prstClr val="black"/>
              </a:buClr>
            </a:pPr>
            <a:endParaRPr lang="zh-CN" altLang="en-US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Box 1">
            <a:extLst>
              <a:ext uri="{FF2B5EF4-FFF2-40B4-BE49-F238E27FC236}">
                <a16:creationId xmlns:a16="http://schemas.microsoft.com/office/drawing/2014/main" id="{B326EBC7-93F8-41CA-9C03-87466766C001}"/>
              </a:ext>
            </a:extLst>
          </p:cNvPr>
          <p:cNvSpPr txBox="1"/>
          <p:nvPr/>
        </p:nvSpPr>
        <p:spPr>
          <a:xfrm>
            <a:off x="1942068" y="3172319"/>
            <a:ext cx="5366236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buClr>
                <a:prstClr val="black"/>
              </a:buClr>
            </a:pPr>
            <a:r>
              <a:rPr lang="en-US" altLang="zh-CN" sz="20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Zibang Zhang</a:t>
            </a:r>
            <a:endParaRPr lang="en-US" altLang="zh-CN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  <a:buClr>
                <a:prstClr val="black"/>
              </a:buClr>
            </a:pPr>
            <a:r>
              <a:rPr lang="en-US" altLang="zh-CN" sz="14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Optoelectronic Engineering, Jinan University</a:t>
            </a:r>
            <a:endParaRPr lang="zh-CN" altLang="en-US" sz="1400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44945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62F224-DFCA-3697-3C7E-992668257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B75520-AB1A-E4AD-3AB2-5E7516816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4C58FD3F-F573-6062-164F-A9645FE96092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What is </a:t>
            </a:r>
            <a:r>
              <a: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Object-Oriented </a:t>
            </a: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Programming (OOP)?</a:t>
            </a:r>
          </a:p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0" y="2137420"/>
            <a:ext cx="9144000" cy="13681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zh-CN" sz="2800" b="1" dirty="0" smtClean="0">
                <a:solidFill>
                  <a:srgbClr val="C00000"/>
                </a:solidFill>
                <a:latin typeface="Arial Black" panose="020B0A040201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Object</a:t>
            </a:r>
            <a:r>
              <a:rPr lang="en-US" altLang="zh-CN" sz="2800" b="1" dirty="0" smtClean="0">
                <a:solidFill>
                  <a:schemeClr val="tx1"/>
                </a:solidFill>
                <a:latin typeface="Arial Black" panose="020B0A040201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-</a:t>
            </a:r>
            <a:r>
              <a:rPr lang="en-US" altLang="zh-CN" sz="2800" b="1" dirty="0" smtClean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Oriented</a:t>
            </a:r>
            <a:r>
              <a:rPr lang="en-US" altLang="zh-CN" sz="2800" b="1" dirty="0" smtClean="0">
                <a:solidFill>
                  <a:schemeClr val="tx1"/>
                </a:solidFill>
                <a:latin typeface="Arial Black" panose="020B0A040201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2800" b="1" dirty="0" smtClean="0">
                <a:solidFill>
                  <a:schemeClr val="accent3">
                    <a:lumMod val="75000"/>
                  </a:schemeClr>
                </a:solidFill>
                <a:latin typeface="Arial Black" panose="020B0A040201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Programming</a:t>
            </a:r>
          </a:p>
          <a:p>
            <a:pPr algn="ctr"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面</a:t>
            </a:r>
            <a:r>
              <a:rPr lang="zh-CN" altLang="en-US" sz="2800" b="1" dirty="0" smtClean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向</a:t>
            </a:r>
            <a:r>
              <a:rPr lang="zh-CN" altLang="en-US" sz="2800" b="1" dirty="0" smtClean="0">
                <a:solidFill>
                  <a:srgbClr val="C00000"/>
                </a:solidFill>
                <a:latin typeface="Arial Black" panose="020B0A040201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对象</a:t>
            </a:r>
            <a:r>
              <a:rPr lang="zh-CN" altLang="en-US" sz="2800" b="1" dirty="0" smtClean="0">
                <a:solidFill>
                  <a:schemeClr val="accent3">
                    <a:lumMod val="75000"/>
                  </a:schemeClr>
                </a:solidFill>
                <a:latin typeface="Arial Black" panose="020B0A040201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程序设计</a:t>
            </a:r>
            <a:endParaRPr lang="en-US" altLang="zh-CN" sz="2800" b="1" dirty="0">
              <a:solidFill>
                <a:schemeClr val="accent3">
                  <a:lumMod val="75000"/>
                </a:schemeClr>
              </a:solidFill>
              <a:latin typeface="Arial Black" panose="020B0A040201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AutoShape 2" descr="https://i.pinimg.com/736x/f7/be/bc/f7bebcafbacf057106eee3622de70a28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5399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62F224-DFCA-3697-3C7E-992668257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B75520-AB1A-E4AD-3AB2-5E7516816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4C58FD3F-F573-6062-164F-A9645FE96092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What is </a:t>
            </a:r>
            <a:r>
              <a: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Object-Oriented </a:t>
            </a: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Programming (OOP)?</a:t>
            </a:r>
          </a:p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0" y="2137420"/>
            <a:ext cx="9144000" cy="13681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zh-CN" sz="2800" b="1" dirty="0" smtClean="0">
                <a:solidFill>
                  <a:srgbClr val="C00000"/>
                </a:solidFill>
                <a:latin typeface="Arial Black" panose="020B0A040201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Object</a:t>
            </a:r>
            <a:r>
              <a:rPr lang="en-US" altLang="zh-CN" sz="2800" b="1" dirty="0" smtClean="0">
                <a:solidFill>
                  <a:schemeClr val="tx1"/>
                </a:solidFill>
                <a:latin typeface="Arial Black" panose="020B0A040201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-</a:t>
            </a:r>
            <a:r>
              <a:rPr lang="en-US" altLang="zh-CN" sz="2800" b="1" dirty="0" smtClean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Oriented</a:t>
            </a:r>
            <a:r>
              <a:rPr lang="en-US" altLang="zh-CN" sz="2800" b="1" dirty="0" smtClean="0">
                <a:solidFill>
                  <a:schemeClr val="tx1"/>
                </a:solidFill>
                <a:latin typeface="Arial Black" panose="020B0A040201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2800" b="1" dirty="0" smtClean="0">
                <a:solidFill>
                  <a:schemeClr val="accent3">
                    <a:lumMod val="75000"/>
                  </a:schemeClr>
                </a:solidFill>
                <a:latin typeface="Arial Black" panose="020B0A040201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Programming</a:t>
            </a:r>
          </a:p>
          <a:p>
            <a:pPr algn="ctr"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  <a:latin typeface="Arial Black" panose="020B0A040201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面</a:t>
            </a:r>
            <a:r>
              <a:rPr lang="zh-CN" altLang="en-US" sz="2800" b="1" dirty="0" smtClean="0">
                <a:solidFill>
                  <a:schemeClr val="accent5">
                    <a:lumMod val="75000"/>
                  </a:schemeClr>
                </a:solidFill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  <a:latin typeface="Arial Black" panose="020B0A040201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向</a:t>
            </a:r>
            <a:r>
              <a:rPr lang="zh-CN" altLang="en-US" sz="2800" b="1" dirty="0" smtClean="0">
                <a:solidFill>
                  <a:srgbClr val="C00000"/>
                </a:solidFill>
                <a:latin typeface="Arial Black" panose="020B0A040201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对象</a:t>
            </a:r>
            <a:r>
              <a:rPr lang="zh-CN" altLang="en-US" sz="2800" b="1" dirty="0" smtClean="0">
                <a:solidFill>
                  <a:schemeClr val="accent3">
                    <a:lumMod val="75000"/>
                  </a:schemeClr>
                </a:solidFill>
                <a:latin typeface="Arial Black" panose="020B0A040201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程序设计</a:t>
            </a:r>
            <a:endParaRPr lang="en-US" altLang="zh-CN" sz="2800" b="1" dirty="0">
              <a:solidFill>
                <a:schemeClr val="accent3">
                  <a:lumMod val="75000"/>
                </a:schemeClr>
              </a:solidFill>
              <a:latin typeface="Arial Black" panose="020B0A040201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AutoShape 2" descr="https://i.pinimg.com/736x/f7/be/bc/f7bebcafbacf057106eee3622de70a28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1007604" y="3729216"/>
            <a:ext cx="712879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“面向”这个词，英文是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oriented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（朝向、以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为方向）。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面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向过程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：以“步骤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过程”为中心来组织程序。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面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向对象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：以“对象”为中心来组织程序。</a:t>
            </a:r>
          </a:p>
          <a:p>
            <a:pPr>
              <a:lnSpc>
                <a:spcPct val="150000"/>
              </a:lnSpc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所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以“面向对象”的字面意思就是：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</a:t>
            </a: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为基本单位来思考和构建系统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5" name="矩形 4"/>
          <p:cNvSpPr/>
          <p:nvPr/>
        </p:nvSpPr>
        <p:spPr>
          <a:xfrm>
            <a:off x="961885" y="3851745"/>
            <a:ext cx="45719" cy="115212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3651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62F224-DFCA-3697-3C7E-992668257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B75520-AB1A-E4AD-3AB2-5E7516816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4C58FD3F-F573-6062-164F-A9645FE96092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What is </a:t>
            </a:r>
            <a:r>
              <a: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Object-Oriented </a:t>
            </a: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Programming (OOP)?</a:t>
            </a:r>
          </a:p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0" y="2137420"/>
            <a:ext cx="9144000" cy="13681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zh-CN" sz="2800" b="1" dirty="0" smtClean="0">
                <a:solidFill>
                  <a:srgbClr val="C00000"/>
                </a:solidFill>
                <a:latin typeface="Arial Black" panose="020B0A040201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Object</a:t>
            </a:r>
            <a:r>
              <a:rPr lang="en-US" altLang="zh-CN" sz="2800" b="1" dirty="0" smtClean="0">
                <a:solidFill>
                  <a:schemeClr val="tx1"/>
                </a:solidFill>
                <a:latin typeface="Arial Black" panose="020B0A040201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-</a:t>
            </a:r>
            <a:r>
              <a:rPr lang="en-US" altLang="zh-CN" sz="2800" b="1" dirty="0" smtClean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Oriented</a:t>
            </a:r>
            <a:r>
              <a:rPr lang="en-US" altLang="zh-CN" sz="2800" b="1" dirty="0" smtClean="0">
                <a:solidFill>
                  <a:schemeClr val="tx1"/>
                </a:solidFill>
                <a:latin typeface="Arial Black" panose="020B0A040201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2800" b="1" dirty="0" smtClean="0">
                <a:solidFill>
                  <a:schemeClr val="accent3">
                    <a:lumMod val="75000"/>
                  </a:schemeClr>
                </a:solidFill>
                <a:latin typeface="Arial Black" panose="020B0A040201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Programming</a:t>
            </a:r>
          </a:p>
          <a:p>
            <a:pPr algn="ctr"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effectLst/>
                <a:latin typeface="Arial Black" panose="020B0A040201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面</a:t>
            </a:r>
            <a:r>
              <a:rPr lang="zh-CN" altLang="en-US" sz="2800" b="1" dirty="0" smtClean="0">
                <a:solidFill>
                  <a:schemeClr val="accent5">
                    <a:lumMod val="75000"/>
                  </a:schemeClr>
                </a:solidFill>
                <a:effectLst/>
                <a:latin typeface="Arial Black" panose="020B0A040201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向</a:t>
            </a:r>
            <a:r>
              <a:rPr lang="zh-CN" altLang="en-US" sz="2800" b="1" dirty="0" smtClean="0">
                <a:solidFill>
                  <a:srgbClr val="C00000"/>
                </a:solidFill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  <a:latin typeface="Arial Black" panose="020B0A040201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对象</a:t>
            </a:r>
            <a:r>
              <a:rPr lang="zh-CN" altLang="en-US" sz="2800" b="1" dirty="0" smtClean="0">
                <a:solidFill>
                  <a:schemeClr val="accent3">
                    <a:lumMod val="75000"/>
                  </a:schemeClr>
                </a:solidFill>
                <a:latin typeface="Arial Black" panose="020B0A040201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程序设计</a:t>
            </a:r>
            <a:endParaRPr lang="en-US" altLang="zh-CN" sz="2800" b="1" dirty="0">
              <a:solidFill>
                <a:schemeClr val="accent3">
                  <a:lumMod val="75000"/>
                </a:schemeClr>
              </a:solidFill>
              <a:latin typeface="Arial Black" panose="020B0A040201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AutoShape 2" descr="https://i.pinimg.com/736x/f7/be/bc/f7bebcafbacf057106eee3622de70a28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585270" y="3573729"/>
            <a:ext cx="8235201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“对象”？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它是“数据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+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行为”的共同</a:t>
            </a:r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体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。在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现实世界中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，身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边到处都是对象：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手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机是一个对象：它有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状态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（电量、型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号、使用时长）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，也有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行为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（打电话、发消息、拍照）。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银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行账户是一个对象：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状态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是余额，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行为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是存款、取款、查余额。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猫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是一个对象：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状态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是名字、年龄、饥饿程度，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行为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是叫、吃、睡。</a:t>
            </a:r>
          </a:p>
          <a:p>
            <a:pPr>
              <a:lnSpc>
                <a:spcPct val="150000"/>
              </a:lnSpc>
            </a:pPr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对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象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状态（数</a:t>
            </a:r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据、变量）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+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行为（方</a:t>
            </a:r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法、函数）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两者不可分割地绑定在一起。</a:t>
            </a:r>
          </a:p>
        </p:txBody>
      </p:sp>
      <p:sp>
        <p:nvSpPr>
          <p:cNvPr id="5" name="矩形 4"/>
          <p:cNvSpPr/>
          <p:nvPr/>
        </p:nvSpPr>
        <p:spPr>
          <a:xfrm>
            <a:off x="539552" y="3649588"/>
            <a:ext cx="45719" cy="1600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0167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62F224-DFCA-3697-3C7E-992668257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B75520-AB1A-E4AD-3AB2-5E7516816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4C58FD3F-F573-6062-164F-A9645FE96092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What is </a:t>
            </a:r>
            <a:r>
              <a: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Object-Oriented </a:t>
            </a: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Programming (OOP)?</a:t>
            </a:r>
          </a:p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AutoShape 2" descr="https://i.pinimg.com/736x/f7/be/bc/f7bebcafbacf057106eee3622de70a28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5341217"/>
              </p:ext>
            </p:extLst>
          </p:nvPr>
        </p:nvGraphicFramePr>
        <p:xfrm>
          <a:off x="307975" y="1489348"/>
          <a:ext cx="8568951" cy="2636520"/>
        </p:xfrm>
        <a:graphic>
          <a:graphicData uri="http://schemas.openxmlformats.org/drawingml/2006/table">
            <a:tbl>
              <a:tblPr/>
              <a:tblGrid>
                <a:gridCol w="18877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405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405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zh-CN" altLang="en-US" sz="16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1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面向过程</a:t>
                      </a:r>
                      <a:endParaRPr lang="zh-CN" altLang="en-US" sz="16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1" dirty="0" smtClean="0">
                          <a:solidFill>
                            <a:srgbClr val="8C1515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面向对象</a:t>
                      </a:r>
                      <a:endParaRPr lang="zh-CN" altLang="en-US" sz="1600" b="1" dirty="0">
                        <a:solidFill>
                          <a:srgbClr val="8C15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>
                      <a:noFill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6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基本单位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函数</a:t>
                      </a:r>
                      <a:r>
                        <a:rPr lang="en-US" altLang="zh-CN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步骤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600" dirty="0">
                          <a:solidFill>
                            <a:srgbClr val="8C1515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对象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6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数据与行为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分离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600" dirty="0">
                          <a:solidFill>
                            <a:srgbClr val="8C1515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绑定在一起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6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思考方式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先做什么，再做什么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600" dirty="0">
                          <a:solidFill>
                            <a:srgbClr val="8C1515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有哪些事物，它们如何协作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6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例子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j-lt"/>
                          <a:ea typeface="微软雅黑" panose="020B0503020204020204" pitchFamily="34" charset="-122"/>
                        </a:rPr>
                        <a:t>deposit(account, 100)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>
                          <a:solidFill>
                            <a:srgbClr val="8C1515"/>
                          </a:solidFill>
                          <a:effectLst/>
                          <a:latin typeface="+mj-lt"/>
                          <a:ea typeface="微软雅黑" panose="020B0503020204020204" pitchFamily="34" charset="-122"/>
                        </a:rPr>
                        <a:t>account.deposit(100)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矩形 6"/>
          <p:cNvSpPr/>
          <p:nvPr/>
        </p:nvSpPr>
        <p:spPr>
          <a:xfrm>
            <a:off x="326530" y="4225652"/>
            <a:ext cx="8584505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3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zh-CN" altLang="en-US" sz="13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</a:t>
            </a:r>
            <a:r>
              <a:rPr lang="zh-CN" altLang="en-US" sz="13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意最后一行：面向过程是“</a:t>
            </a:r>
            <a:r>
              <a:rPr lang="zh-CN" altLang="en-US" sz="13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动作作用于数据</a:t>
            </a:r>
            <a:r>
              <a:rPr lang="zh-CN" altLang="en-US" sz="13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”，面向对象是“</a:t>
            </a:r>
            <a:r>
              <a:rPr lang="zh-CN" altLang="en-US" sz="13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对象自己完成动作</a:t>
            </a:r>
            <a:r>
              <a:rPr lang="zh-CN" altLang="en-US" sz="13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”。这是思维上的根本转变</a:t>
            </a:r>
            <a:r>
              <a:rPr lang="zh-CN" altLang="en-US" sz="13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3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22100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62F224-DFCA-3697-3C7E-992668257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B75520-AB1A-E4AD-3AB2-5E7516816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4C58FD3F-F573-6062-164F-A9645FE96092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What is </a:t>
            </a:r>
            <a:r>
              <a: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Object-Oriented </a:t>
            </a: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Programming (OOP)?</a:t>
            </a:r>
          </a:p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AutoShape 2" descr="https://i.pinimg.com/736x/f7/be/bc/f7bebcafbacf057106eee3622de70a28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272672" y="841276"/>
            <a:ext cx="8784976" cy="34563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“面向对象”作为一种</a:t>
            </a:r>
            <a:r>
              <a:rPr lang="zh-CN" altLang="en-US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世界</a:t>
            </a:r>
            <a:r>
              <a:rPr lang="zh-CN" altLang="en-US" b="1" dirty="0" smtClean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观</a:t>
            </a:r>
            <a:r>
              <a:rPr lang="en-US" altLang="zh-CN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——</a:t>
            </a:r>
            <a:r>
              <a:rPr lang="zh-CN" altLang="en-US" sz="16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这</a:t>
            </a:r>
            <a:r>
              <a:rPr lang="zh-CN" altLang="en-US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才是理解“面向对象”最深刻的地</a:t>
            </a:r>
            <a:r>
              <a:rPr lang="zh-CN" altLang="en-US" sz="16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方</a:t>
            </a:r>
            <a:endParaRPr lang="en-US" altLang="zh-CN" sz="1600" dirty="0" smtClean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14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面</a:t>
            </a:r>
            <a:r>
              <a:rPr lang="zh-CN" altLang="en-US" sz="14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向对象的核心信念是：</a:t>
            </a:r>
            <a:r>
              <a:rPr lang="zh-CN" altLang="en-US" sz="14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世界由一个个具有自主行为的事物组成，复杂系统通过事物之间的协作来运转</a:t>
            </a:r>
            <a:r>
              <a:rPr lang="zh-CN" altLang="en-US" sz="1400" b="1" dirty="0" smtClean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。</a:t>
            </a:r>
            <a:endParaRPr lang="en-US" altLang="zh-CN" sz="1400" b="1" dirty="0" smtClean="0">
              <a:solidFill>
                <a:srgbClr val="C0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面向过程的思路：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先写一个下单函数，里面依次调用</a:t>
            </a: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br>
              <a:rPr lang="en-US" altLang="zh-CN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检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查库存 → 扣减库存 → 生成订单 → 扣款 → 发通知</a:t>
            </a: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 所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有逻辑写在一个大流程里。</a:t>
            </a:r>
          </a:p>
          <a:p>
            <a:pPr>
              <a:lnSpc>
                <a:spcPct val="150000"/>
              </a:lnSpc>
            </a:pPr>
            <a:r>
              <a:rPr lang="zh-CN" altLang="en-US" sz="1400" b="1" dirty="0">
                <a:solidFill>
                  <a:srgbClr val="8C1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面向对象的思路：</a:t>
            </a:r>
            <a:endParaRPr lang="zh-CN" altLang="en-US" sz="1400" dirty="0">
              <a:solidFill>
                <a:srgbClr val="8C151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1400" dirty="0">
                <a:solidFill>
                  <a:srgbClr val="8C1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这个世界里有：用户、购物车、商品、库存、订单、支付服务、通知服务。每个对象管好自己的事：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400" dirty="0">
                <a:solidFill>
                  <a:srgbClr val="8C1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购物车负责“结算”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400" dirty="0">
                <a:solidFill>
                  <a:srgbClr val="8C1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库存负责“扣减”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400" dirty="0">
                <a:solidFill>
                  <a:srgbClr val="8C1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订单负责“生成”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400" dirty="0">
                <a:solidFill>
                  <a:srgbClr val="8C1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支付服务负责“扣款”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400" dirty="0">
                <a:solidFill>
                  <a:srgbClr val="8C1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通知服务负责“发消息”</a:t>
            </a:r>
          </a:p>
          <a:p>
            <a:pPr lvl="1">
              <a:lnSpc>
                <a:spcPct val="150000"/>
              </a:lnSpc>
            </a:pPr>
            <a:r>
              <a:rPr lang="zh-CN" altLang="en-US" sz="1400" dirty="0">
                <a:solidFill>
                  <a:srgbClr val="8C1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下单，就是这些对象</a:t>
            </a:r>
            <a:r>
              <a:rPr lang="zh-CN" altLang="en-US" sz="1400" b="1" dirty="0">
                <a:solidFill>
                  <a:srgbClr val="8C1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互相发消息、协作</a:t>
            </a:r>
            <a:r>
              <a:rPr lang="zh-CN" altLang="en-US" sz="1400" dirty="0">
                <a:solidFill>
                  <a:srgbClr val="8C1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的结果</a:t>
            </a:r>
            <a:r>
              <a:rPr lang="zh-CN" altLang="en-US" sz="1400" dirty="0" smtClean="0">
                <a:solidFill>
                  <a:srgbClr val="8C1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400" dirty="0">
              <a:solidFill>
                <a:srgbClr val="8C15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683568" y="2929508"/>
            <a:ext cx="0" cy="216024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683568" y="1993404"/>
            <a:ext cx="0" cy="504056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5833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62F224-DFCA-3697-3C7E-992668257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B75520-AB1A-E4AD-3AB2-5E7516816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4C58FD3F-F573-6062-164F-A9645FE96092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What is </a:t>
            </a:r>
            <a:r>
              <a: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Object-Oriented </a:t>
            </a: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Programming (OOP)?</a:t>
            </a:r>
          </a:p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AutoShape 2" descr="https://i.pinimg.com/736x/f7/be/bc/f7bebcafbacf057106eee3622de70a28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272672" y="2065412"/>
            <a:ext cx="8784976" cy="15121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algn="ctr">
              <a:lnSpc>
                <a:spcPct val="150000"/>
              </a:lnSpc>
            </a:pP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面向对象不是在“写流程”，而是在</a:t>
            </a:r>
            <a:r>
              <a:rPr lang="zh-CN" altLang="en-US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“</a:t>
            </a:r>
            <a:r>
              <a:rPr lang="zh-CN" altLang="en-US" sz="2000" b="1" dirty="0">
                <a:solidFill>
                  <a:srgbClr val="8C1515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搭建一个由对象组成的小社会</a:t>
            </a:r>
            <a:r>
              <a:rPr lang="zh-CN" altLang="en-US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”</a:t>
            </a:r>
            <a:r>
              <a:rPr lang="zh-CN" altLang="en-US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。</a:t>
            </a:r>
            <a:r>
              <a:rPr lang="en-US" altLang="zh-CN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br>
              <a:rPr lang="en-US" altLang="zh-CN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br>
            <a:r>
              <a:rPr lang="zh-CN" altLang="en-US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每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个对象有自己的职责，彼此通过</a:t>
            </a:r>
            <a:r>
              <a:rPr lang="zh-CN" altLang="en-US" dirty="0">
                <a:solidFill>
                  <a:srgbClr val="8C1515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接</a:t>
            </a:r>
            <a:r>
              <a:rPr lang="zh-CN" altLang="en-US" dirty="0" smtClean="0">
                <a:solidFill>
                  <a:srgbClr val="8C1515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口（公有的函数）</a:t>
            </a:r>
            <a:r>
              <a:rPr lang="zh-CN" altLang="en-US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沟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通</a:t>
            </a:r>
            <a:r>
              <a:rPr lang="zh-CN" altLang="en-US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。</a:t>
            </a:r>
            <a:r>
              <a:rPr lang="en-US" altLang="zh-CN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br>
              <a:rPr lang="en-US" altLang="zh-CN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br>
            <a:r>
              <a:rPr lang="zh-CN" altLang="en-US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这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更接近现实世界的运作方式，也因此更容易应对复杂度和变化。</a:t>
            </a:r>
            <a:endParaRPr lang="en-US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8706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62F224-DFCA-3697-3C7E-992668257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B75520-AB1A-E4AD-3AB2-5E7516816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4C58FD3F-F573-6062-164F-A9645FE96092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What is </a:t>
            </a:r>
            <a:r>
              <a: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Object-Oriented </a:t>
            </a: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Programming (OOP)?</a:t>
            </a:r>
          </a:p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AutoShape 2" descr="https://i.pinimg.com/736x/f7/be/bc/f7bebcafbacf057106eee3622de70a28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272672" y="1849388"/>
            <a:ext cx="8784976" cy="15121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面向对象，就是用“</a:t>
            </a:r>
            <a:r>
              <a:rPr lang="zh-CN" altLang="en-US" sz="2000" b="1" dirty="0">
                <a:solidFill>
                  <a:srgbClr val="8C1515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对象</a:t>
            </a:r>
            <a:r>
              <a:rPr lang="zh-CN" altLang="en-US" sz="20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”来模拟现实世界</a:t>
            </a:r>
            <a:r>
              <a:rPr lang="zh-CN" altLang="en-US" sz="20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，</a:t>
            </a:r>
            <a:r>
              <a:rPr lang="en-US" altLang="zh-CN" sz="20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br>
              <a:rPr lang="en-US" altLang="zh-CN" sz="20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br>
            <a:r>
              <a:rPr lang="zh-CN" altLang="en-US" sz="20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让</a:t>
            </a:r>
            <a:r>
              <a:rPr lang="zh-CN" altLang="en-US" sz="20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程序成为一群各司其职、互相协作的对象所组成的</a:t>
            </a:r>
            <a:r>
              <a:rPr lang="zh-CN" altLang="en-US" sz="20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社会</a:t>
            </a:r>
            <a:endParaRPr lang="zh-CN" altLang="en-US" sz="2000" b="1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对象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= 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数据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+ 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行为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面</a:t>
            </a:r>
            <a:r>
              <a:rPr lang="zh-CN" altLang="en-US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向对象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= 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以对象为基本单位来分析和设计系统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它</a:t>
            </a:r>
            <a:r>
              <a:rPr lang="zh-CN" altLang="en-US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的价值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= 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让复杂系统更接近人类理解世界的方式，从而更易设计、维护和扩展</a:t>
            </a:r>
          </a:p>
        </p:txBody>
      </p:sp>
    </p:spTree>
    <p:extLst>
      <p:ext uri="{BB962C8B-B14F-4D97-AF65-F5344CB8AC3E}">
        <p14:creationId xmlns:p14="http://schemas.microsoft.com/office/powerpoint/2010/main" val="4218166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62F224-DFCA-3697-3C7E-992668257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B75520-AB1A-E4AD-3AB2-5E7516816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4C58FD3F-F573-6062-164F-A9645FE96092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What is </a:t>
            </a:r>
            <a:r>
              <a: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Object-Oriented </a:t>
            </a: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Programming (OOP)?</a:t>
            </a:r>
          </a:p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272672" y="841276"/>
            <a:ext cx="8784976" cy="34563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 way of writing programs by organizing code around objects — self-contained bundles of </a:t>
            </a: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data (attributes)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and </a:t>
            </a: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behavior (methods) 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— instead of around standalone functions and global data.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The core idea: </a:t>
            </a: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model your program after the real-world things it deals with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" name="AutoShape 2" descr="https://i.pinimg.com/736x/f7/be/bc/f7bebcafbacf057106eee3622de70a28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5675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4478AF-F905-9626-0922-FF970EDEA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C02FF94-264F-FFCE-0337-DDCEF4419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27D80656-D49C-A9FE-78AF-5DC3B7269A40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Why OOP?</a:t>
            </a:r>
          </a:p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222C224-669F-3C94-3DEE-2505DC81A7AA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30C5F6B-A382-EAF7-7308-A90F05CD4B38}"/>
              </a:ext>
            </a:extLst>
          </p:cNvPr>
          <p:cNvSpPr/>
          <p:nvPr/>
        </p:nvSpPr>
        <p:spPr>
          <a:xfrm>
            <a:off x="272672" y="841276"/>
            <a:ext cx="8784976" cy="23042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The </a:t>
            </a: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Historical "Why": What Problem Did OOP Solve?</a:t>
            </a: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b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b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 the 1960s–70s, software was growing fast, and </a:t>
            </a: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procedural programming started breaking down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at scale.</a:t>
            </a:r>
            <a:b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b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b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b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Problem A: Data and behavior were </a:t>
            </a:r>
            <a:r>
              <a:rPr lang="en-US" altLang="zh-CN" sz="16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scattered</a:t>
            </a:r>
            <a:r>
              <a:rPr lang="en-US" altLang="zh-CN" sz="16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br>
              <a:rPr lang="en-US" altLang="zh-CN" sz="16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br>
            <a:r>
              <a:rPr lang="en-US" altLang="zh-CN" sz="16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 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procedural code, data is global and functions operate on it from anywhere</a:t>
            </a:r>
            <a:r>
              <a:rPr lang="en-US" altLang="zh-CN" sz="16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:</a:t>
            </a:r>
            <a:endParaRPr lang="en-US" altLang="zh-CN" sz="1600" b="1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AutoShape 2" descr="https://i.pinimg.com/736x/f7/be/bc/f7bebcafbacf057106eee3622de70a28.jpg">
            <a:extLst>
              <a:ext uri="{FF2B5EF4-FFF2-40B4-BE49-F238E27FC236}">
                <a16:creationId xmlns:a16="http://schemas.microsoft.com/office/drawing/2014/main" id="{8F287790-D2BB-B4FB-D8C2-95AA5ED70FA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289423" y="3058284"/>
            <a:ext cx="4032448" cy="219290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050" dirty="0">
                <a:solidFill>
                  <a:srgbClr val="9CDCFE"/>
                </a:solidFill>
                <a:latin typeface="Consolas"/>
              </a:rPr>
              <a:t>balance</a:t>
            </a:r>
            <a:r>
              <a:rPr lang="en-US" altLang="zh-CN" sz="1050" dirty="0">
                <a:solidFill>
                  <a:srgbClr val="CCCCCC"/>
                </a:solidFill>
                <a:latin typeface="Consolas"/>
              </a:rPr>
              <a:t> </a:t>
            </a:r>
            <a:r>
              <a:rPr lang="en-US" altLang="zh-CN" sz="1050" dirty="0">
                <a:solidFill>
                  <a:srgbClr val="D4D4D4"/>
                </a:solidFill>
                <a:latin typeface="Consolas"/>
              </a:rPr>
              <a:t>=</a:t>
            </a:r>
            <a:r>
              <a:rPr lang="en-US" altLang="zh-CN" sz="1050" dirty="0">
                <a:solidFill>
                  <a:srgbClr val="CCCCCC"/>
                </a:solidFill>
                <a:latin typeface="Consolas"/>
              </a:rPr>
              <a:t> </a:t>
            </a:r>
            <a:r>
              <a:rPr lang="en-US" altLang="zh-CN" sz="1050" dirty="0">
                <a:solidFill>
                  <a:srgbClr val="B5CEA8"/>
                </a:solidFill>
                <a:latin typeface="Consolas"/>
              </a:rPr>
              <a:t>1000.0</a:t>
            </a:r>
            <a:endParaRPr lang="en-US" altLang="zh-CN" sz="1050" dirty="0">
              <a:solidFill>
                <a:srgbClr val="CCCCCC"/>
              </a:solidFill>
              <a:latin typeface="Consolas"/>
            </a:endParaRPr>
          </a:p>
          <a:p>
            <a:r>
              <a:rPr lang="en-US" altLang="zh-CN" sz="1050" dirty="0">
                <a:solidFill>
                  <a:srgbClr val="CCCCCC"/>
                </a:solidFill>
                <a:latin typeface="Consolas"/>
              </a:rPr>
              <a:t/>
            </a:r>
            <a:br>
              <a:rPr lang="en-US" altLang="zh-CN" sz="1050" dirty="0">
                <a:solidFill>
                  <a:srgbClr val="CCCCCC"/>
                </a:solidFill>
                <a:latin typeface="Consolas"/>
              </a:rPr>
            </a:br>
            <a:r>
              <a:rPr lang="en-US" altLang="zh-CN" sz="1050" dirty="0">
                <a:solidFill>
                  <a:srgbClr val="569CD6"/>
                </a:solidFill>
                <a:latin typeface="Consolas"/>
              </a:rPr>
              <a:t>def</a:t>
            </a:r>
            <a:r>
              <a:rPr lang="en-US" altLang="zh-CN" sz="1050" dirty="0">
                <a:solidFill>
                  <a:srgbClr val="CCCCCC"/>
                </a:solidFill>
                <a:latin typeface="Consolas"/>
              </a:rPr>
              <a:t> </a:t>
            </a:r>
            <a:r>
              <a:rPr lang="en-US" altLang="zh-CN" sz="1050" dirty="0">
                <a:solidFill>
                  <a:srgbClr val="DCDCAA"/>
                </a:solidFill>
                <a:latin typeface="Consolas"/>
              </a:rPr>
              <a:t>deposit</a:t>
            </a:r>
            <a:r>
              <a:rPr lang="en-US" altLang="zh-CN" sz="1050" dirty="0">
                <a:solidFill>
                  <a:srgbClr val="CCCCCC"/>
                </a:solidFill>
                <a:latin typeface="Consolas"/>
              </a:rPr>
              <a:t>(</a:t>
            </a:r>
            <a:r>
              <a:rPr lang="en-US" altLang="zh-CN" sz="1050" dirty="0">
                <a:solidFill>
                  <a:srgbClr val="9CDCFE"/>
                </a:solidFill>
                <a:latin typeface="Consolas"/>
              </a:rPr>
              <a:t>amt</a:t>
            </a:r>
            <a:r>
              <a:rPr lang="en-US" altLang="zh-CN" sz="1050" dirty="0">
                <a:solidFill>
                  <a:srgbClr val="CCCCCC"/>
                </a:solidFill>
                <a:latin typeface="Consolas"/>
              </a:rPr>
              <a:t>: </a:t>
            </a:r>
            <a:r>
              <a:rPr lang="en-US" altLang="zh-CN" sz="1050" dirty="0">
                <a:solidFill>
                  <a:srgbClr val="4EC9B0"/>
                </a:solidFill>
                <a:latin typeface="Consolas"/>
              </a:rPr>
              <a:t>float</a:t>
            </a:r>
            <a:r>
              <a:rPr lang="en-US" altLang="zh-CN" sz="1050" dirty="0">
                <a:solidFill>
                  <a:srgbClr val="CCCCCC"/>
                </a:solidFill>
                <a:latin typeface="Consolas"/>
              </a:rPr>
              <a:t>) -&gt; </a:t>
            </a:r>
            <a:r>
              <a:rPr lang="en-US" altLang="zh-CN" sz="1050" dirty="0">
                <a:solidFill>
                  <a:srgbClr val="569CD6"/>
                </a:solidFill>
                <a:latin typeface="Consolas"/>
              </a:rPr>
              <a:t>None</a:t>
            </a:r>
            <a:r>
              <a:rPr lang="en-US" altLang="zh-CN" sz="1050" dirty="0">
                <a:solidFill>
                  <a:srgbClr val="CCCCCC"/>
                </a:solidFill>
                <a:latin typeface="Consolas"/>
              </a:rPr>
              <a:t>:</a:t>
            </a:r>
          </a:p>
          <a:p>
            <a:r>
              <a:rPr lang="en-US" altLang="zh-CN" sz="1050" dirty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altLang="zh-CN" sz="1050" dirty="0">
                <a:solidFill>
                  <a:srgbClr val="569CD6"/>
                </a:solidFill>
                <a:latin typeface="Consolas"/>
              </a:rPr>
              <a:t>global</a:t>
            </a:r>
            <a:r>
              <a:rPr lang="en-US" altLang="zh-CN" sz="1050" dirty="0">
                <a:solidFill>
                  <a:srgbClr val="CCCCCC"/>
                </a:solidFill>
                <a:latin typeface="Consolas"/>
              </a:rPr>
              <a:t> </a:t>
            </a:r>
            <a:r>
              <a:rPr lang="en-US" altLang="zh-CN" sz="1050" dirty="0">
                <a:solidFill>
                  <a:srgbClr val="9CDCFE"/>
                </a:solidFill>
                <a:latin typeface="Consolas"/>
              </a:rPr>
              <a:t>balance</a:t>
            </a:r>
            <a:endParaRPr lang="en-US" altLang="zh-CN" sz="1050" dirty="0">
              <a:solidFill>
                <a:srgbClr val="CCCCCC"/>
              </a:solidFill>
              <a:latin typeface="Consolas"/>
            </a:endParaRPr>
          </a:p>
          <a:p>
            <a:r>
              <a:rPr lang="en-US" altLang="zh-CN" sz="1050" dirty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altLang="zh-CN" sz="1050" dirty="0">
                <a:solidFill>
                  <a:srgbClr val="9CDCFE"/>
                </a:solidFill>
                <a:latin typeface="Consolas"/>
              </a:rPr>
              <a:t>balance</a:t>
            </a:r>
            <a:r>
              <a:rPr lang="en-US" altLang="zh-CN" sz="1050" dirty="0">
                <a:solidFill>
                  <a:srgbClr val="CCCCCC"/>
                </a:solidFill>
                <a:latin typeface="Consolas"/>
              </a:rPr>
              <a:t> </a:t>
            </a:r>
            <a:r>
              <a:rPr lang="en-US" altLang="zh-CN" sz="1050" dirty="0">
                <a:solidFill>
                  <a:srgbClr val="D4D4D4"/>
                </a:solidFill>
                <a:latin typeface="Consolas"/>
              </a:rPr>
              <a:t>+=</a:t>
            </a:r>
            <a:r>
              <a:rPr lang="en-US" altLang="zh-CN" sz="1050" dirty="0">
                <a:solidFill>
                  <a:srgbClr val="CCCCCC"/>
                </a:solidFill>
                <a:latin typeface="Consolas"/>
              </a:rPr>
              <a:t> </a:t>
            </a:r>
            <a:r>
              <a:rPr lang="en-US" altLang="zh-CN" sz="1050" dirty="0">
                <a:solidFill>
                  <a:srgbClr val="9CDCFE"/>
                </a:solidFill>
                <a:latin typeface="Consolas"/>
              </a:rPr>
              <a:t>amt</a:t>
            </a:r>
            <a:endParaRPr lang="en-US" altLang="zh-CN" sz="1050" dirty="0">
              <a:solidFill>
                <a:srgbClr val="CCCCCC"/>
              </a:solidFill>
              <a:latin typeface="Consolas"/>
            </a:endParaRPr>
          </a:p>
          <a:p>
            <a:r>
              <a:rPr lang="en-US" altLang="zh-CN" sz="1050" dirty="0">
                <a:solidFill>
                  <a:srgbClr val="CCCCCC"/>
                </a:solidFill>
                <a:latin typeface="Consolas"/>
              </a:rPr>
              <a:t/>
            </a:r>
            <a:br>
              <a:rPr lang="en-US" altLang="zh-CN" sz="1050" dirty="0">
                <a:solidFill>
                  <a:srgbClr val="CCCCCC"/>
                </a:solidFill>
                <a:latin typeface="Consolas"/>
              </a:rPr>
            </a:br>
            <a:r>
              <a:rPr lang="en-US" altLang="zh-CN" sz="1050" dirty="0">
                <a:solidFill>
                  <a:srgbClr val="569CD6"/>
                </a:solidFill>
                <a:latin typeface="Consolas"/>
              </a:rPr>
              <a:t>def</a:t>
            </a:r>
            <a:r>
              <a:rPr lang="en-US" altLang="zh-CN" sz="1050" dirty="0">
                <a:solidFill>
                  <a:srgbClr val="CCCCCC"/>
                </a:solidFill>
                <a:latin typeface="Consolas"/>
              </a:rPr>
              <a:t> </a:t>
            </a:r>
            <a:r>
              <a:rPr lang="en-US" altLang="zh-CN" sz="1050" dirty="0">
                <a:solidFill>
                  <a:srgbClr val="DCDCAA"/>
                </a:solidFill>
                <a:latin typeface="Consolas"/>
              </a:rPr>
              <a:t>withdraw</a:t>
            </a:r>
            <a:r>
              <a:rPr lang="en-US" altLang="zh-CN" sz="1050" dirty="0">
                <a:solidFill>
                  <a:srgbClr val="CCCCCC"/>
                </a:solidFill>
                <a:latin typeface="Consolas"/>
              </a:rPr>
              <a:t>(</a:t>
            </a:r>
            <a:r>
              <a:rPr lang="en-US" altLang="zh-CN" sz="1050" dirty="0">
                <a:solidFill>
                  <a:srgbClr val="9CDCFE"/>
                </a:solidFill>
                <a:latin typeface="Consolas"/>
              </a:rPr>
              <a:t>amt</a:t>
            </a:r>
            <a:r>
              <a:rPr lang="en-US" altLang="zh-CN" sz="1050" dirty="0">
                <a:solidFill>
                  <a:srgbClr val="CCCCCC"/>
                </a:solidFill>
                <a:latin typeface="Consolas"/>
              </a:rPr>
              <a:t>: </a:t>
            </a:r>
            <a:r>
              <a:rPr lang="en-US" altLang="zh-CN" sz="1050" dirty="0">
                <a:solidFill>
                  <a:srgbClr val="4EC9B0"/>
                </a:solidFill>
                <a:latin typeface="Consolas"/>
              </a:rPr>
              <a:t>float</a:t>
            </a:r>
            <a:r>
              <a:rPr lang="en-US" altLang="zh-CN" sz="1050" dirty="0">
                <a:solidFill>
                  <a:srgbClr val="CCCCCC"/>
                </a:solidFill>
                <a:latin typeface="Consolas"/>
              </a:rPr>
              <a:t>) -&gt; </a:t>
            </a:r>
            <a:r>
              <a:rPr lang="en-US" altLang="zh-CN" sz="1050" dirty="0">
                <a:solidFill>
                  <a:srgbClr val="569CD6"/>
                </a:solidFill>
                <a:latin typeface="Consolas"/>
              </a:rPr>
              <a:t>None</a:t>
            </a:r>
            <a:r>
              <a:rPr lang="en-US" altLang="zh-CN" sz="1050" dirty="0">
                <a:solidFill>
                  <a:srgbClr val="CCCCCC"/>
                </a:solidFill>
                <a:latin typeface="Consolas"/>
              </a:rPr>
              <a:t>:</a:t>
            </a:r>
          </a:p>
          <a:p>
            <a:r>
              <a:rPr lang="en-US" altLang="zh-CN" sz="1050" dirty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altLang="zh-CN" sz="1050" dirty="0">
                <a:solidFill>
                  <a:srgbClr val="569CD6"/>
                </a:solidFill>
                <a:latin typeface="Consolas"/>
              </a:rPr>
              <a:t>global</a:t>
            </a:r>
            <a:r>
              <a:rPr lang="en-US" altLang="zh-CN" sz="1050" dirty="0">
                <a:solidFill>
                  <a:srgbClr val="CCCCCC"/>
                </a:solidFill>
                <a:latin typeface="Consolas"/>
              </a:rPr>
              <a:t> </a:t>
            </a:r>
            <a:r>
              <a:rPr lang="en-US" altLang="zh-CN" sz="1050" dirty="0">
                <a:solidFill>
                  <a:srgbClr val="9CDCFE"/>
                </a:solidFill>
                <a:latin typeface="Consolas"/>
              </a:rPr>
              <a:t>balance</a:t>
            </a:r>
            <a:endParaRPr lang="en-US" altLang="zh-CN" sz="1050" dirty="0">
              <a:solidFill>
                <a:srgbClr val="CCCCCC"/>
              </a:solidFill>
              <a:latin typeface="Consolas"/>
            </a:endParaRPr>
          </a:p>
          <a:p>
            <a:r>
              <a:rPr lang="en-US" altLang="zh-CN" sz="1050" dirty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altLang="zh-CN" sz="1050" dirty="0">
                <a:solidFill>
                  <a:srgbClr val="9CDCFE"/>
                </a:solidFill>
                <a:latin typeface="Consolas"/>
              </a:rPr>
              <a:t>balance</a:t>
            </a:r>
            <a:r>
              <a:rPr lang="en-US" altLang="zh-CN" sz="1050" dirty="0">
                <a:solidFill>
                  <a:srgbClr val="CCCCCC"/>
                </a:solidFill>
                <a:latin typeface="Consolas"/>
              </a:rPr>
              <a:t> </a:t>
            </a:r>
            <a:r>
              <a:rPr lang="en-US" altLang="zh-CN" sz="1050" dirty="0">
                <a:solidFill>
                  <a:srgbClr val="D4D4D4"/>
                </a:solidFill>
                <a:latin typeface="Consolas"/>
              </a:rPr>
              <a:t>-=</a:t>
            </a:r>
            <a:r>
              <a:rPr lang="en-US" altLang="zh-CN" sz="1050" dirty="0">
                <a:solidFill>
                  <a:srgbClr val="CCCCCC"/>
                </a:solidFill>
                <a:latin typeface="Consolas"/>
              </a:rPr>
              <a:t> </a:t>
            </a:r>
            <a:r>
              <a:rPr lang="en-US" altLang="zh-CN" sz="1050" dirty="0">
                <a:solidFill>
                  <a:srgbClr val="9CDCFE"/>
                </a:solidFill>
                <a:latin typeface="Consolas"/>
              </a:rPr>
              <a:t>amt</a:t>
            </a:r>
            <a:endParaRPr lang="en-US" altLang="zh-CN" sz="1050" dirty="0">
              <a:solidFill>
                <a:srgbClr val="CCCCCC"/>
              </a:solidFill>
              <a:latin typeface="Consolas"/>
            </a:endParaRPr>
          </a:p>
          <a:p>
            <a:r>
              <a:rPr lang="en-US" altLang="zh-CN" sz="1050" dirty="0">
                <a:solidFill>
                  <a:srgbClr val="CCCCCC"/>
                </a:solidFill>
                <a:latin typeface="Consolas"/>
              </a:rPr>
              <a:t/>
            </a:r>
            <a:br>
              <a:rPr lang="en-US" altLang="zh-CN" sz="1050" dirty="0">
                <a:solidFill>
                  <a:srgbClr val="CCCCCC"/>
                </a:solidFill>
                <a:latin typeface="Consolas"/>
              </a:rPr>
            </a:br>
            <a:r>
              <a:rPr lang="en-US" altLang="zh-CN" sz="1050" dirty="0">
                <a:solidFill>
                  <a:srgbClr val="569CD6"/>
                </a:solidFill>
                <a:latin typeface="Consolas"/>
              </a:rPr>
              <a:t>def</a:t>
            </a:r>
            <a:r>
              <a:rPr lang="en-US" altLang="zh-CN" sz="1050" dirty="0">
                <a:solidFill>
                  <a:srgbClr val="CCCCCC"/>
                </a:solidFill>
                <a:latin typeface="Consolas"/>
              </a:rPr>
              <a:t> </a:t>
            </a:r>
            <a:r>
              <a:rPr lang="en-US" altLang="zh-CN" sz="1050" dirty="0">
                <a:solidFill>
                  <a:srgbClr val="DCDCAA"/>
                </a:solidFill>
                <a:latin typeface="Consolas"/>
              </a:rPr>
              <a:t>transfer</a:t>
            </a:r>
            <a:r>
              <a:rPr lang="en-US" altLang="zh-CN" sz="1050" dirty="0">
                <a:solidFill>
                  <a:srgbClr val="CCCCCC"/>
                </a:solidFill>
                <a:latin typeface="Consolas"/>
              </a:rPr>
              <a:t>(</a:t>
            </a:r>
            <a:r>
              <a:rPr lang="en-US" altLang="zh-CN" sz="1050" dirty="0">
                <a:solidFill>
                  <a:srgbClr val="9CDCFE"/>
                </a:solidFill>
                <a:latin typeface="Consolas"/>
              </a:rPr>
              <a:t>amt</a:t>
            </a:r>
            <a:r>
              <a:rPr lang="en-US" altLang="zh-CN" sz="1050" dirty="0">
                <a:solidFill>
                  <a:srgbClr val="CCCCCC"/>
                </a:solidFill>
                <a:latin typeface="Consolas"/>
              </a:rPr>
              <a:t>: </a:t>
            </a:r>
            <a:r>
              <a:rPr lang="en-US" altLang="zh-CN" sz="1050" dirty="0">
                <a:solidFill>
                  <a:srgbClr val="4EC9B0"/>
                </a:solidFill>
                <a:latin typeface="Consolas"/>
              </a:rPr>
              <a:t>float</a:t>
            </a:r>
            <a:r>
              <a:rPr lang="en-US" altLang="zh-CN" sz="1050" dirty="0">
                <a:solidFill>
                  <a:srgbClr val="CCCCCC"/>
                </a:solidFill>
                <a:latin typeface="Consolas"/>
              </a:rPr>
              <a:t>, </a:t>
            </a:r>
            <a:r>
              <a:rPr lang="en-US" altLang="zh-CN" sz="1050" dirty="0">
                <a:solidFill>
                  <a:srgbClr val="9CDCFE"/>
                </a:solidFill>
                <a:latin typeface="Consolas"/>
              </a:rPr>
              <a:t>target_account</a:t>
            </a:r>
            <a:r>
              <a:rPr lang="en-US" altLang="zh-CN" sz="1050" dirty="0">
                <a:solidFill>
                  <a:srgbClr val="CCCCCC"/>
                </a:solidFill>
                <a:latin typeface="Consolas"/>
              </a:rPr>
              <a:t>) -&gt; </a:t>
            </a:r>
            <a:r>
              <a:rPr lang="en-US" altLang="zh-CN" sz="1050" dirty="0">
                <a:solidFill>
                  <a:srgbClr val="569CD6"/>
                </a:solidFill>
                <a:latin typeface="Consolas"/>
              </a:rPr>
              <a:t>None</a:t>
            </a:r>
            <a:r>
              <a:rPr lang="en-US" altLang="zh-CN" sz="1050" dirty="0">
                <a:solidFill>
                  <a:srgbClr val="CCCCCC"/>
                </a:solidFill>
                <a:latin typeface="Consolas"/>
              </a:rPr>
              <a:t>:</a:t>
            </a:r>
          </a:p>
          <a:p>
            <a:r>
              <a:rPr lang="en-US" altLang="zh-CN" sz="1050" dirty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altLang="zh-CN" sz="1050" dirty="0">
                <a:solidFill>
                  <a:srgbClr val="569CD6"/>
                </a:solidFill>
                <a:latin typeface="Consolas"/>
              </a:rPr>
              <a:t>global</a:t>
            </a:r>
            <a:r>
              <a:rPr lang="en-US" altLang="zh-CN" sz="1050" dirty="0">
                <a:solidFill>
                  <a:srgbClr val="CCCCCC"/>
                </a:solidFill>
                <a:latin typeface="Consolas"/>
              </a:rPr>
              <a:t> </a:t>
            </a:r>
            <a:r>
              <a:rPr lang="en-US" altLang="zh-CN" sz="1050" dirty="0">
                <a:solidFill>
                  <a:srgbClr val="9CDCFE"/>
                </a:solidFill>
                <a:latin typeface="Consolas"/>
              </a:rPr>
              <a:t>balance</a:t>
            </a:r>
            <a:endParaRPr lang="en-US" altLang="zh-CN" sz="1050" dirty="0">
              <a:solidFill>
                <a:srgbClr val="CCCCCC"/>
              </a:solidFill>
              <a:latin typeface="Consolas"/>
            </a:endParaRPr>
          </a:p>
          <a:p>
            <a:r>
              <a:rPr lang="en-US" altLang="zh-CN" sz="1050" dirty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altLang="zh-CN" sz="1050" dirty="0">
                <a:solidFill>
                  <a:srgbClr val="9CDCFE"/>
                </a:solidFill>
                <a:latin typeface="Consolas"/>
              </a:rPr>
              <a:t>balance</a:t>
            </a:r>
            <a:r>
              <a:rPr lang="en-US" altLang="zh-CN" sz="1050" dirty="0">
                <a:solidFill>
                  <a:srgbClr val="CCCCCC"/>
                </a:solidFill>
                <a:latin typeface="Consolas"/>
              </a:rPr>
              <a:t> </a:t>
            </a:r>
            <a:r>
              <a:rPr lang="en-US" altLang="zh-CN" sz="1050" dirty="0">
                <a:solidFill>
                  <a:srgbClr val="D4D4D4"/>
                </a:solidFill>
                <a:latin typeface="Consolas"/>
              </a:rPr>
              <a:t>-=</a:t>
            </a:r>
            <a:r>
              <a:rPr lang="en-US" altLang="zh-CN" sz="1050" dirty="0">
                <a:solidFill>
                  <a:srgbClr val="CCCCCC"/>
                </a:solidFill>
                <a:latin typeface="Consolas"/>
              </a:rPr>
              <a:t> </a:t>
            </a:r>
            <a:r>
              <a:rPr lang="en-US" altLang="zh-CN" sz="1050" dirty="0" smtClean="0">
                <a:solidFill>
                  <a:srgbClr val="9CDCFE"/>
                </a:solidFill>
                <a:latin typeface="Consolas"/>
              </a:rPr>
              <a:t>amt</a:t>
            </a:r>
            <a:r>
              <a:rPr lang="en-US" altLang="zh-CN" sz="105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altLang="zh-CN" sz="1050" dirty="0">
                <a:solidFill>
                  <a:srgbClr val="CCCCCC"/>
                </a:solidFill>
                <a:latin typeface="Consolas"/>
              </a:rPr>
              <a:t>  </a:t>
            </a:r>
            <a:endParaRPr lang="en-US" altLang="zh-CN" sz="1050" b="0" dirty="0">
              <a:solidFill>
                <a:srgbClr val="CCCCCC"/>
              </a:solidFill>
              <a:effectLst/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800146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4478AF-F905-9626-0922-FF970EDEA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C02FF94-264F-FFCE-0337-DDCEF4419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27D80656-D49C-A9FE-78AF-5DC3B7269A40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Why OOP?</a:t>
            </a:r>
          </a:p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222C224-669F-3C94-3DEE-2505DC81A7AA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30C5F6B-A382-EAF7-7308-A90F05CD4B38}"/>
              </a:ext>
            </a:extLst>
          </p:cNvPr>
          <p:cNvSpPr/>
          <p:nvPr/>
        </p:nvSpPr>
        <p:spPr>
          <a:xfrm>
            <a:off x="272672" y="841276"/>
            <a:ext cx="8784976" cy="23042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The </a:t>
            </a: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Historical "Why": What Problem Did OOP Solve?</a:t>
            </a: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b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b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 the 1960s–70s, software was growing fast, and </a:t>
            </a: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procedural programming started breaking down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at scale.</a:t>
            </a:r>
            <a:b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b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b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b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Problem A: Data and behavior were </a:t>
            </a:r>
            <a:r>
              <a:rPr lang="en-US" altLang="zh-CN" sz="16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scattered</a:t>
            </a:r>
            <a:r>
              <a:rPr lang="en-US" altLang="zh-CN" sz="16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br>
              <a:rPr lang="en-US" altLang="zh-CN" sz="16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br>
            <a:r>
              <a:rPr lang="en-US" altLang="zh-CN" sz="16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 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procedural code, data is global and functions operate on it from anywhere</a:t>
            </a:r>
            <a:r>
              <a:rPr lang="en-US" altLang="zh-CN" sz="16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:</a:t>
            </a:r>
            <a:endParaRPr lang="en-US" altLang="zh-CN" sz="1600" b="1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AutoShape 2" descr="https://i.pinimg.com/736x/f7/be/bc/f7bebcafbacf057106eee3622de70a28.jpg">
            <a:extLst>
              <a:ext uri="{FF2B5EF4-FFF2-40B4-BE49-F238E27FC236}">
                <a16:creationId xmlns:a16="http://schemas.microsoft.com/office/drawing/2014/main" id="{8F287790-D2BB-B4FB-D8C2-95AA5ED70FA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289423" y="3058284"/>
            <a:ext cx="4032448" cy="219290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050" dirty="0">
                <a:solidFill>
                  <a:srgbClr val="9CDCFE"/>
                </a:solidFill>
                <a:latin typeface="Consolas"/>
              </a:rPr>
              <a:t>balance</a:t>
            </a:r>
            <a:r>
              <a:rPr lang="en-US" altLang="zh-CN" sz="1050" dirty="0">
                <a:solidFill>
                  <a:srgbClr val="CCCCCC"/>
                </a:solidFill>
                <a:latin typeface="Consolas"/>
              </a:rPr>
              <a:t> </a:t>
            </a:r>
            <a:r>
              <a:rPr lang="en-US" altLang="zh-CN" sz="1050" dirty="0">
                <a:solidFill>
                  <a:srgbClr val="D4D4D4"/>
                </a:solidFill>
                <a:latin typeface="Consolas"/>
              </a:rPr>
              <a:t>=</a:t>
            </a:r>
            <a:r>
              <a:rPr lang="en-US" altLang="zh-CN" sz="1050" dirty="0">
                <a:solidFill>
                  <a:srgbClr val="CCCCCC"/>
                </a:solidFill>
                <a:latin typeface="Consolas"/>
              </a:rPr>
              <a:t> </a:t>
            </a:r>
            <a:r>
              <a:rPr lang="en-US" altLang="zh-CN" sz="1050" dirty="0">
                <a:solidFill>
                  <a:srgbClr val="B5CEA8"/>
                </a:solidFill>
                <a:latin typeface="Consolas"/>
              </a:rPr>
              <a:t>1000.0</a:t>
            </a:r>
            <a:endParaRPr lang="en-US" altLang="zh-CN" sz="1050" dirty="0">
              <a:solidFill>
                <a:srgbClr val="CCCCCC"/>
              </a:solidFill>
              <a:latin typeface="Consolas"/>
            </a:endParaRPr>
          </a:p>
          <a:p>
            <a:r>
              <a:rPr lang="en-US" altLang="zh-CN" sz="1050" dirty="0">
                <a:solidFill>
                  <a:srgbClr val="CCCCCC"/>
                </a:solidFill>
                <a:latin typeface="Consolas"/>
              </a:rPr>
              <a:t/>
            </a:r>
            <a:br>
              <a:rPr lang="en-US" altLang="zh-CN" sz="1050" dirty="0">
                <a:solidFill>
                  <a:srgbClr val="CCCCCC"/>
                </a:solidFill>
                <a:latin typeface="Consolas"/>
              </a:rPr>
            </a:br>
            <a:r>
              <a:rPr lang="en-US" altLang="zh-CN" sz="1050" dirty="0">
                <a:solidFill>
                  <a:srgbClr val="569CD6"/>
                </a:solidFill>
                <a:latin typeface="Consolas"/>
              </a:rPr>
              <a:t>def</a:t>
            </a:r>
            <a:r>
              <a:rPr lang="en-US" altLang="zh-CN" sz="1050" dirty="0">
                <a:solidFill>
                  <a:srgbClr val="CCCCCC"/>
                </a:solidFill>
                <a:latin typeface="Consolas"/>
              </a:rPr>
              <a:t> </a:t>
            </a:r>
            <a:r>
              <a:rPr lang="en-US" altLang="zh-CN" sz="1050" dirty="0">
                <a:solidFill>
                  <a:srgbClr val="DCDCAA"/>
                </a:solidFill>
                <a:latin typeface="Consolas"/>
              </a:rPr>
              <a:t>deposit</a:t>
            </a:r>
            <a:r>
              <a:rPr lang="en-US" altLang="zh-CN" sz="1050" dirty="0">
                <a:solidFill>
                  <a:srgbClr val="CCCCCC"/>
                </a:solidFill>
                <a:latin typeface="Consolas"/>
              </a:rPr>
              <a:t>(</a:t>
            </a:r>
            <a:r>
              <a:rPr lang="en-US" altLang="zh-CN" sz="1050" dirty="0">
                <a:solidFill>
                  <a:srgbClr val="9CDCFE"/>
                </a:solidFill>
                <a:latin typeface="Consolas"/>
              </a:rPr>
              <a:t>amt</a:t>
            </a:r>
            <a:r>
              <a:rPr lang="en-US" altLang="zh-CN" sz="1050" dirty="0">
                <a:solidFill>
                  <a:srgbClr val="CCCCCC"/>
                </a:solidFill>
                <a:latin typeface="Consolas"/>
              </a:rPr>
              <a:t>: </a:t>
            </a:r>
            <a:r>
              <a:rPr lang="en-US" altLang="zh-CN" sz="1050" dirty="0">
                <a:solidFill>
                  <a:srgbClr val="4EC9B0"/>
                </a:solidFill>
                <a:latin typeface="Consolas"/>
              </a:rPr>
              <a:t>float</a:t>
            </a:r>
            <a:r>
              <a:rPr lang="en-US" altLang="zh-CN" sz="1050" dirty="0">
                <a:solidFill>
                  <a:srgbClr val="CCCCCC"/>
                </a:solidFill>
                <a:latin typeface="Consolas"/>
              </a:rPr>
              <a:t>) -&gt; </a:t>
            </a:r>
            <a:r>
              <a:rPr lang="en-US" altLang="zh-CN" sz="1050" dirty="0">
                <a:solidFill>
                  <a:srgbClr val="569CD6"/>
                </a:solidFill>
                <a:latin typeface="Consolas"/>
              </a:rPr>
              <a:t>None</a:t>
            </a:r>
            <a:r>
              <a:rPr lang="en-US" altLang="zh-CN" sz="1050" dirty="0">
                <a:solidFill>
                  <a:srgbClr val="CCCCCC"/>
                </a:solidFill>
                <a:latin typeface="Consolas"/>
              </a:rPr>
              <a:t>:</a:t>
            </a:r>
          </a:p>
          <a:p>
            <a:r>
              <a:rPr lang="en-US" altLang="zh-CN" sz="1050" dirty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altLang="zh-CN" sz="1050" dirty="0">
                <a:solidFill>
                  <a:srgbClr val="569CD6"/>
                </a:solidFill>
                <a:latin typeface="Consolas"/>
              </a:rPr>
              <a:t>global</a:t>
            </a:r>
            <a:r>
              <a:rPr lang="en-US" altLang="zh-CN" sz="1050" dirty="0">
                <a:solidFill>
                  <a:srgbClr val="CCCCCC"/>
                </a:solidFill>
                <a:latin typeface="Consolas"/>
              </a:rPr>
              <a:t> </a:t>
            </a:r>
            <a:r>
              <a:rPr lang="en-US" altLang="zh-CN" sz="1050" dirty="0">
                <a:solidFill>
                  <a:srgbClr val="9CDCFE"/>
                </a:solidFill>
                <a:latin typeface="Consolas"/>
              </a:rPr>
              <a:t>balance</a:t>
            </a:r>
            <a:endParaRPr lang="en-US" altLang="zh-CN" sz="1050" dirty="0">
              <a:solidFill>
                <a:srgbClr val="CCCCCC"/>
              </a:solidFill>
              <a:latin typeface="Consolas"/>
            </a:endParaRPr>
          </a:p>
          <a:p>
            <a:r>
              <a:rPr lang="en-US" altLang="zh-CN" sz="1050" dirty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altLang="zh-CN" sz="1050" dirty="0">
                <a:solidFill>
                  <a:srgbClr val="9CDCFE"/>
                </a:solidFill>
                <a:latin typeface="Consolas"/>
              </a:rPr>
              <a:t>balance</a:t>
            </a:r>
            <a:r>
              <a:rPr lang="en-US" altLang="zh-CN" sz="1050" dirty="0">
                <a:solidFill>
                  <a:srgbClr val="CCCCCC"/>
                </a:solidFill>
                <a:latin typeface="Consolas"/>
              </a:rPr>
              <a:t> </a:t>
            </a:r>
            <a:r>
              <a:rPr lang="en-US" altLang="zh-CN" sz="1050" dirty="0">
                <a:solidFill>
                  <a:srgbClr val="D4D4D4"/>
                </a:solidFill>
                <a:latin typeface="Consolas"/>
              </a:rPr>
              <a:t>+=</a:t>
            </a:r>
            <a:r>
              <a:rPr lang="en-US" altLang="zh-CN" sz="1050" dirty="0">
                <a:solidFill>
                  <a:srgbClr val="CCCCCC"/>
                </a:solidFill>
                <a:latin typeface="Consolas"/>
              </a:rPr>
              <a:t> </a:t>
            </a:r>
            <a:r>
              <a:rPr lang="en-US" altLang="zh-CN" sz="1050" dirty="0">
                <a:solidFill>
                  <a:srgbClr val="9CDCFE"/>
                </a:solidFill>
                <a:latin typeface="Consolas"/>
              </a:rPr>
              <a:t>amt</a:t>
            </a:r>
            <a:endParaRPr lang="en-US" altLang="zh-CN" sz="1050" dirty="0">
              <a:solidFill>
                <a:srgbClr val="CCCCCC"/>
              </a:solidFill>
              <a:latin typeface="Consolas"/>
            </a:endParaRPr>
          </a:p>
          <a:p>
            <a:r>
              <a:rPr lang="en-US" altLang="zh-CN" sz="1050" dirty="0">
                <a:solidFill>
                  <a:srgbClr val="CCCCCC"/>
                </a:solidFill>
                <a:latin typeface="Consolas"/>
              </a:rPr>
              <a:t/>
            </a:r>
            <a:br>
              <a:rPr lang="en-US" altLang="zh-CN" sz="1050" dirty="0">
                <a:solidFill>
                  <a:srgbClr val="CCCCCC"/>
                </a:solidFill>
                <a:latin typeface="Consolas"/>
              </a:rPr>
            </a:br>
            <a:r>
              <a:rPr lang="en-US" altLang="zh-CN" sz="1050" dirty="0">
                <a:solidFill>
                  <a:srgbClr val="569CD6"/>
                </a:solidFill>
                <a:latin typeface="Consolas"/>
              </a:rPr>
              <a:t>def</a:t>
            </a:r>
            <a:r>
              <a:rPr lang="en-US" altLang="zh-CN" sz="1050" dirty="0">
                <a:solidFill>
                  <a:srgbClr val="CCCCCC"/>
                </a:solidFill>
                <a:latin typeface="Consolas"/>
              </a:rPr>
              <a:t> </a:t>
            </a:r>
            <a:r>
              <a:rPr lang="en-US" altLang="zh-CN" sz="1050" dirty="0">
                <a:solidFill>
                  <a:srgbClr val="DCDCAA"/>
                </a:solidFill>
                <a:latin typeface="Consolas"/>
              </a:rPr>
              <a:t>withdraw</a:t>
            </a:r>
            <a:r>
              <a:rPr lang="en-US" altLang="zh-CN" sz="1050" dirty="0">
                <a:solidFill>
                  <a:srgbClr val="CCCCCC"/>
                </a:solidFill>
                <a:latin typeface="Consolas"/>
              </a:rPr>
              <a:t>(</a:t>
            </a:r>
            <a:r>
              <a:rPr lang="en-US" altLang="zh-CN" sz="1050" dirty="0">
                <a:solidFill>
                  <a:srgbClr val="9CDCFE"/>
                </a:solidFill>
                <a:latin typeface="Consolas"/>
              </a:rPr>
              <a:t>amt</a:t>
            </a:r>
            <a:r>
              <a:rPr lang="en-US" altLang="zh-CN" sz="1050" dirty="0">
                <a:solidFill>
                  <a:srgbClr val="CCCCCC"/>
                </a:solidFill>
                <a:latin typeface="Consolas"/>
              </a:rPr>
              <a:t>: </a:t>
            </a:r>
            <a:r>
              <a:rPr lang="en-US" altLang="zh-CN" sz="1050" dirty="0">
                <a:solidFill>
                  <a:srgbClr val="4EC9B0"/>
                </a:solidFill>
                <a:latin typeface="Consolas"/>
              </a:rPr>
              <a:t>float</a:t>
            </a:r>
            <a:r>
              <a:rPr lang="en-US" altLang="zh-CN" sz="1050" dirty="0">
                <a:solidFill>
                  <a:srgbClr val="CCCCCC"/>
                </a:solidFill>
                <a:latin typeface="Consolas"/>
              </a:rPr>
              <a:t>) -&gt; </a:t>
            </a:r>
            <a:r>
              <a:rPr lang="en-US" altLang="zh-CN" sz="1050" dirty="0">
                <a:solidFill>
                  <a:srgbClr val="569CD6"/>
                </a:solidFill>
                <a:latin typeface="Consolas"/>
              </a:rPr>
              <a:t>None</a:t>
            </a:r>
            <a:r>
              <a:rPr lang="en-US" altLang="zh-CN" sz="1050" dirty="0">
                <a:solidFill>
                  <a:srgbClr val="CCCCCC"/>
                </a:solidFill>
                <a:latin typeface="Consolas"/>
              </a:rPr>
              <a:t>:</a:t>
            </a:r>
          </a:p>
          <a:p>
            <a:r>
              <a:rPr lang="en-US" altLang="zh-CN" sz="1050" dirty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altLang="zh-CN" sz="1050" dirty="0">
                <a:solidFill>
                  <a:srgbClr val="569CD6"/>
                </a:solidFill>
                <a:latin typeface="Consolas"/>
              </a:rPr>
              <a:t>global</a:t>
            </a:r>
            <a:r>
              <a:rPr lang="en-US" altLang="zh-CN" sz="1050" dirty="0">
                <a:solidFill>
                  <a:srgbClr val="CCCCCC"/>
                </a:solidFill>
                <a:latin typeface="Consolas"/>
              </a:rPr>
              <a:t> </a:t>
            </a:r>
            <a:r>
              <a:rPr lang="en-US" altLang="zh-CN" sz="1050" dirty="0">
                <a:solidFill>
                  <a:srgbClr val="9CDCFE"/>
                </a:solidFill>
                <a:latin typeface="Consolas"/>
              </a:rPr>
              <a:t>balance</a:t>
            </a:r>
            <a:endParaRPr lang="en-US" altLang="zh-CN" sz="1050" dirty="0">
              <a:solidFill>
                <a:srgbClr val="CCCCCC"/>
              </a:solidFill>
              <a:latin typeface="Consolas"/>
            </a:endParaRPr>
          </a:p>
          <a:p>
            <a:r>
              <a:rPr lang="en-US" altLang="zh-CN" sz="1050" dirty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altLang="zh-CN" sz="1050" dirty="0">
                <a:solidFill>
                  <a:srgbClr val="9CDCFE"/>
                </a:solidFill>
                <a:latin typeface="Consolas"/>
              </a:rPr>
              <a:t>balance</a:t>
            </a:r>
            <a:r>
              <a:rPr lang="en-US" altLang="zh-CN" sz="1050" dirty="0">
                <a:solidFill>
                  <a:srgbClr val="CCCCCC"/>
                </a:solidFill>
                <a:latin typeface="Consolas"/>
              </a:rPr>
              <a:t> </a:t>
            </a:r>
            <a:r>
              <a:rPr lang="en-US" altLang="zh-CN" sz="1050" dirty="0">
                <a:solidFill>
                  <a:srgbClr val="D4D4D4"/>
                </a:solidFill>
                <a:latin typeface="Consolas"/>
              </a:rPr>
              <a:t>-=</a:t>
            </a:r>
            <a:r>
              <a:rPr lang="en-US" altLang="zh-CN" sz="1050" dirty="0">
                <a:solidFill>
                  <a:srgbClr val="CCCCCC"/>
                </a:solidFill>
                <a:latin typeface="Consolas"/>
              </a:rPr>
              <a:t> </a:t>
            </a:r>
            <a:r>
              <a:rPr lang="en-US" altLang="zh-CN" sz="1050" dirty="0">
                <a:solidFill>
                  <a:srgbClr val="9CDCFE"/>
                </a:solidFill>
                <a:latin typeface="Consolas"/>
              </a:rPr>
              <a:t>amt</a:t>
            </a:r>
            <a:endParaRPr lang="en-US" altLang="zh-CN" sz="1050" dirty="0">
              <a:solidFill>
                <a:srgbClr val="CCCCCC"/>
              </a:solidFill>
              <a:latin typeface="Consolas"/>
            </a:endParaRPr>
          </a:p>
          <a:p>
            <a:r>
              <a:rPr lang="en-US" altLang="zh-CN" sz="1050" dirty="0">
                <a:solidFill>
                  <a:srgbClr val="CCCCCC"/>
                </a:solidFill>
                <a:latin typeface="Consolas"/>
              </a:rPr>
              <a:t/>
            </a:r>
            <a:br>
              <a:rPr lang="en-US" altLang="zh-CN" sz="1050" dirty="0">
                <a:solidFill>
                  <a:srgbClr val="CCCCCC"/>
                </a:solidFill>
                <a:latin typeface="Consolas"/>
              </a:rPr>
            </a:br>
            <a:r>
              <a:rPr lang="en-US" altLang="zh-CN" sz="1050" dirty="0">
                <a:solidFill>
                  <a:srgbClr val="569CD6"/>
                </a:solidFill>
                <a:latin typeface="Consolas"/>
              </a:rPr>
              <a:t>def</a:t>
            </a:r>
            <a:r>
              <a:rPr lang="en-US" altLang="zh-CN" sz="1050" dirty="0">
                <a:solidFill>
                  <a:srgbClr val="CCCCCC"/>
                </a:solidFill>
                <a:latin typeface="Consolas"/>
              </a:rPr>
              <a:t> </a:t>
            </a:r>
            <a:r>
              <a:rPr lang="en-US" altLang="zh-CN" sz="1050" dirty="0">
                <a:solidFill>
                  <a:srgbClr val="DCDCAA"/>
                </a:solidFill>
                <a:latin typeface="Consolas"/>
              </a:rPr>
              <a:t>transfer</a:t>
            </a:r>
            <a:r>
              <a:rPr lang="en-US" altLang="zh-CN" sz="1050" dirty="0">
                <a:solidFill>
                  <a:srgbClr val="CCCCCC"/>
                </a:solidFill>
                <a:latin typeface="Consolas"/>
              </a:rPr>
              <a:t>(</a:t>
            </a:r>
            <a:r>
              <a:rPr lang="en-US" altLang="zh-CN" sz="1050" dirty="0">
                <a:solidFill>
                  <a:srgbClr val="9CDCFE"/>
                </a:solidFill>
                <a:latin typeface="Consolas"/>
              </a:rPr>
              <a:t>amt</a:t>
            </a:r>
            <a:r>
              <a:rPr lang="en-US" altLang="zh-CN" sz="1050" dirty="0">
                <a:solidFill>
                  <a:srgbClr val="CCCCCC"/>
                </a:solidFill>
                <a:latin typeface="Consolas"/>
              </a:rPr>
              <a:t>: </a:t>
            </a:r>
            <a:r>
              <a:rPr lang="en-US" altLang="zh-CN" sz="1050" dirty="0">
                <a:solidFill>
                  <a:srgbClr val="4EC9B0"/>
                </a:solidFill>
                <a:latin typeface="Consolas"/>
              </a:rPr>
              <a:t>float</a:t>
            </a:r>
            <a:r>
              <a:rPr lang="en-US" altLang="zh-CN" sz="1050" dirty="0">
                <a:solidFill>
                  <a:srgbClr val="CCCCCC"/>
                </a:solidFill>
                <a:latin typeface="Consolas"/>
              </a:rPr>
              <a:t>, </a:t>
            </a:r>
            <a:r>
              <a:rPr lang="en-US" altLang="zh-CN" sz="1050" dirty="0">
                <a:solidFill>
                  <a:srgbClr val="9CDCFE"/>
                </a:solidFill>
                <a:latin typeface="Consolas"/>
              </a:rPr>
              <a:t>target_account</a:t>
            </a:r>
            <a:r>
              <a:rPr lang="en-US" altLang="zh-CN" sz="1050" dirty="0">
                <a:solidFill>
                  <a:srgbClr val="CCCCCC"/>
                </a:solidFill>
                <a:latin typeface="Consolas"/>
              </a:rPr>
              <a:t>) -&gt; </a:t>
            </a:r>
            <a:r>
              <a:rPr lang="en-US" altLang="zh-CN" sz="1050" dirty="0">
                <a:solidFill>
                  <a:srgbClr val="569CD6"/>
                </a:solidFill>
                <a:latin typeface="Consolas"/>
              </a:rPr>
              <a:t>None</a:t>
            </a:r>
            <a:r>
              <a:rPr lang="en-US" altLang="zh-CN" sz="1050" dirty="0">
                <a:solidFill>
                  <a:srgbClr val="CCCCCC"/>
                </a:solidFill>
                <a:latin typeface="Consolas"/>
              </a:rPr>
              <a:t>:</a:t>
            </a:r>
          </a:p>
          <a:p>
            <a:r>
              <a:rPr lang="en-US" altLang="zh-CN" sz="1050" dirty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altLang="zh-CN" sz="1050" dirty="0">
                <a:solidFill>
                  <a:srgbClr val="569CD6"/>
                </a:solidFill>
                <a:latin typeface="Consolas"/>
              </a:rPr>
              <a:t>global</a:t>
            </a:r>
            <a:r>
              <a:rPr lang="en-US" altLang="zh-CN" sz="1050" dirty="0">
                <a:solidFill>
                  <a:srgbClr val="CCCCCC"/>
                </a:solidFill>
                <a:latin typeface="Consolas"/>
              </a:rPr>
              <a:t> </a:t>
            </a:r>
            <a:r>
              <a:rPr lang="en-US" altLang="zh-CN" sz="1050" dirty="0">
                <a:solidFill>
                  <a:srgbClr val="9CDCFE"/>
                </a:solidFill>
                <a:latin typeface="Consolas"/>
              </a:rPr>
              <a:t>balance</a:t>
            </a:r>
            <a:endParaRPr lang="en-US" altLang="zh-CN" sz="1050" dirty="0">
              <a:solidFill>
                <a:srgbClr val="CCCCCC"/>
              </a:solidFill>
              <a:latin typeface="Consolas"/>
            </a:endParaRPr>
          </a:p>
          <a:p>
            <a:r>
              <a:rPr lang="en-US" altLang="zh-CN" sz="1050" dirty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altLang="zh-CN" sz="1050" dirty="0">
                <a:solidFill>
                  <a:srgbClr val="9CDCFE"/>
                </a:solidFill>
                <a:latin typeface="Consolas"/>
              </a:rPr>
              <a:t>balance</a:t>
            </a:r>
            <a:r>
              <a:rPr lang="en-US" altLang="zh-CN" sz="1050" dirty="0">
                <a:solidFill>
                  <a:srgbClr val="CCCCCC"/>
                </a:solidFill>
                <a:latin typeface="Consolas"/>
              </a:rPr>
              <a:t> </a:t>
            </a:r>
            <a:r>
              <a:rPr lang="en-US" altLang="zh-CN" sz="1050" dirty="0">
                <a:solidFill>
                  <a:srgbClr val="D4D4D4"/>
                </a:solidFill>
                <a:latin typeface="Consolas"/>
              </a:rPr>
              <a:t>-=</a:t>
            </a:r>
            <a:r>
              <a:rPr lang="en-US" altLang="zh-CN" sz="1050" dirty="0">
                <a:solidFill>
                  <a:srgbClr val="CCCCCC"/>
                </a:solidFill>
                <a:latin typeface="Consolas"/>
              </a:rPr>
              <a:t> </a:t>
            </a:r>
            <a:r>
              <a:rPr lang="en-US" altLang="zh-CN" sz="1050" dirty="0" smtClean="0">
                <a:solidFill>
                  <a:srgbClr val="9CDCFE"/>
                </a:solidFill>
                <a:latin typeface="Consolas"/>
              </a:rPr>
              <a:t>amt</a:t>
            </a:r>
            <a:r>
              <a:rPr lang="en-US" altLang="zh-CN" sz="105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altLang="zh-CN" sz="1050" dirty="0">
                <a:solidFill>
                  <a:srgbClr val="CCCCCC"/>
                </a:solidFill>
                <a:latin typeface="Consolas"/>
              </a:rPr>
              <a:t>  </a:t>
            </a:r>
            <a:endParaRPr lang="en-US" altLang="zh-CN" sz="1050" b="0" dirty="0">
              <a:solidFill>
                <a:srgbClr val="CCCCCC"/>
              </a:solidFill>
              <a:effectLst/>
              <a:latin typeface="Consola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71600" y="3721596"/>
            <a:ext cx="7056784" cy="72008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As the program grows, </a:t>
            </a:r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any function can modify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400" b="1" dirty="0">
                <a:solidFill>
                  <a:schemeClr val="bg1">
                    <a:lumMod val="95000"/>
                  </a:schemeClr>
                </a:solidFill>
                <a:latin typeface="+mj-lt"/>
                <a:cs typeface="Arial" panose="020B0604020202020204" pitchFamily="34" charset="0"/>
              </a:rPr>
              <a:t>balance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altLang="zh-CN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altLang="zh-CN" sz="14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Nobody 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knows who changed what, when, or why. Bugs become impossible to trace.</a:t>
            </a:r>
            <a:endParaRPr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9476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4478AF-F905-9626-0922-FF970EDEA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C02FF94-264F-FFCE-0337-DDCEF4419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27D80656-D49C-A9FE-78AF-5DC3B7269A40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Why OOP?</a:t>
            </a:r>
          </a:p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222C224-669F-3C94-3DEE-2505DC81A7AA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30C5F6B-A382-EAF7-7308-A90F05CD4B38}"/>
              </a:ext>
            </a:extLst>
          </p:cNvPr>
          <p:cNvSpPr/>
          <p:nvPr/>
        </p:nvSpPr>
        <p:spPr>
          <a:xfrm>
            <a:off x="272672" y="841276"/>
            <a:ext cx="8784976" cy="23042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The </a:t>
            </a: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Historical "Why": What Problem Did OOP Solve?</a:t>
            </a: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b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b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 the 1960s–70s, software was growing fast, and </a:t>
            </a: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procedural programming started breaking down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at scale.</a:t>
            </a:r>
            <a:b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b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b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b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Problem B: Code </a:t>
            </a:r>
            <a:r>
              <a:rPr lang="en-US" altLang="zh-CN" sz="16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duplication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b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b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If you have 50 different "account-like" things, you copy-paste the same logic 50 times. Change one rule → you must find and fix all 50 places.</a:t>
            </a:r>
            <a:endParaRPr lang="en-US" altLang="zh-CN" sz="1600" b="1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AutoShape 2" descr="https://i.pinimg.com/736x/f7/be/bc/f7bebcafbacf057106eee3622de70a28.jpg">
            <a:extLst>
              <a:ext uri="{FF2B5EF4-FFF2-40B4-BE49-F238E27FC236}">
                <a16:creationId xmlns:a16="http://schemas.microsoft.com/office/drawing/2014/main" id="{8F287790-D2BB-B4FB-D8C2-95AA5ED70FA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382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4478AF-F905-9626-0922-FF970EDEA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C02FF94-264F-FFCE-0337-DDCEF4419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27D80656-D49C-A9FE-78AF-5DC3B7269A40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Why OOP?</a:t>
            </a:r>
          </a:p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222C224-669F-3C94-3DEE-2505DC81A7AA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30C5F6B-A382-EAF7-7308-A90F05CD4B38}"/>
              </a:ext>
            </a:extLst>
          </p:cNvPr>
          <p:cNvSpPr/>
          <p:nvPr/>
        </p:nvSpPr>
        <p:spPr>
          <a:xfrm>
            <a:off x="272672" y="841276"/>
            <a:ext cx="8784976" cy="23042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The </a:t>
            </a: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Historical "Why": What Problem Did OOP Solve?</a:t>
            </a: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b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b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 the 1960s–70s, software was growing fast, and </a:t>
            </a: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procedural programming started breaking down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at scale.</a:t>
            </a:r>
            <a:b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b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b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b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Problem C: Hard to model </a:t>
            </a:r>
            <a:r>
              <a:rPr lang="en-US" altLang="zh-CN" sz="16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complexity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b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b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Real systems (banking, simulation, GUI) </a:t>
            </a: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contain things that have state and behavior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: accounts, customers, buttons, windows. Procedural code forces you to split each "thing" into separate variables and functions, losing the natural structure.</a:t>
            </a:r>
            <a:endParaRPr lang="en-US" altLang="zh-CN" sz="1600" b="1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AutoShape 2" descr="https://i.pinimg.com/736x/f7/be/bc/f7bebcafbacf057106eee3622de70a28.jpg">
            <a:extLst>
              <a:ext uri="{FF2B5EF4-FFF2-40B4-BE49-F238E27FC236}">
                <a16:creationId xmlns:a16="http://schemas.microsoft.com/office/drawing/2014/main" id="{8F287790-D2BB-B4FB-D8C2-95AA5ED70FA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3410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4478AF-F905-9626-0922-FF970EDEA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C02FF94-264F-FFCE-0337-DDCEF4419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27D80656-D49C-A9FE-78AF-5DC3B7269A40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Why OOP?</a:t>
            </a:r>
          </a:p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222C224-669F-3C94-3DEE-2505DC81A7AA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30C5F6B-A382-EAF7-7308-A90F05CD4B38}"/>
              </a:ext>
            </a:extLst>
          </p:cNvPr>
          <p:cNvSpPr/>
          <p:nvPr/>
        </p:nvSpPr>
        <p:spPr>
          <a:xfrm>
            <a:off x="272672" y="841276"/>
            <a:ext cx="8475792" cy="23042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The Historical "Why": What Problem Did OOP Solve?</a:t>
            </a: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b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b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OOP's answer</a:t>
            </a:r>
          </a:p>
          <a:p>
            <a:pPr lvl="1">
              <a:lnSpc>
                <a:spcPct val="150000"/>
              </a:lnSpc>
            </a:pPr>
            <a:r>
              <a:rPr lang="en-US" altLang="zh-CN" sz="16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Bundle </a:t>
            </a: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state and behavior into objects, hide internals, and let objects collaborate through interfaces. 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This directly addresses all three problems:</a:t>
            </a:r>
            <a:endParaRPr lang="en-US" altLang="zh-CN" dirty="0" smtClean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AutoShape 2" descr="https://i.pinimg.com/736x/f7/be/bc/f7bebcafbacf057106eee3622de70a28.jpg">
            <a:extLst>
              <a:ext uri="{FF2B5EF4-FFF2-40B4-BE49-F238E27FC236}">
                <a16:creationId xmlns:a16="http://schemas.microsoft.com/office/drawing/2014/main" id="{8F287790-D2BB-B4FB-D8C2-95AA5ED70FA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9317918"/>
              </p:ext>
            </p:extLst>
          </p:nvPr>
        </p:nvGraphicFramePr>
        <p:xfrm>
          <a:off x="827584" y="2713484"/>
          <a:ext cx="7632848" cy="1889760"/>
        </p:xfrm>
        <a:graphic>
          <a:graphicData uri="http://schemas.openxmlformats.org/drawingml/2006/table">
            <a:tbl>
              <a:tblPr/>
              <a:tblGrid>
                <a:gridCol w="288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25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1744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Problem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OOP Solution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Scattered data/behavior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Encapsulation — data lives </a:t>
                      </a:r>
                      <a:r>
                        <a:rPr lang="en-US" sz="1400" i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inside</a:t>
                      </a:r>
                      <a:r>
                        <a:rPr lang="en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the object</a:t>
                      </a:r>
                    </a:p>
                  </a:txBody>
                  <a:tcPr marL="121920" marT="76200" marB="762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Code duplication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Inheritance &amp; composition — reuse existing code</a:t>
                      </a:r>
                    </a:p>
                  </a:txBody>
                  <a:tcPr marL="121920" marT="76200" marB="762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Poor modeling of complexity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Objects mirror real-world entities</a:t>
                      </a:r>
                    </a:p>
                  </a:txBody>
                  <a:tcPr marL="121920" marT="76200" marB="762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6704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4478AF-F905-9626-0922-FF970EDEA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C02FF94-264F-FFCE-0337-DDCEF4419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27D80656-D49C-A9FE-78AF-5DC3B7269A40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Why OOP?</a:t>
            </a:r>
          </a:p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222C224-669F-3C94-3DEE-2505DC81A7AA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30C5F6B-A382-EAF7-7308-A90F05CD4B38}"/>
              </a:ext>
            </a:extLst>
          </p:cNvPr>
          <p:cNvSpPr/>
          <p:nvPr/>
        </p:nvSpPr>
        <p:spPr>
          <a:xfrm>
            <a:off x="272672" y="841276"/>
            <a:ext cx="8475792" cy="23042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342900" indent="-342900">
              <a:lnSpc>
                <a:spcPct val="150000"/>
              </a:lnSpc>
              <a:buFont typeface="+mj-lt"/>
              <a:buAutoNum type="arabicPeriod" startAt="2"/>
            </a:pPr>
            <a:r>
              <a:rPr lang="en-US" altLang="zh-CN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The </a:t>
            </a: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Practical "Why": What Benefits Do You Get?</a:t>
            </a:r>
            <a:b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br>
            <a:r>
              <a:rPr lang="en-US" altLang="zh-CN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br>
              <a:rPr lang="en-US" altLang="zh-CN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br>
            <a:r>
              <a:rPr lang="en-US" altLang="zh-CN" sz="14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en-US" altLang="zh-CN" sz="14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1) </a:t>
            </a:r>
            <a:r>
              <a:rPr lang="en-US" altLang="zh-CN" sz="14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Maintainability</a:t>
            </a:r>
            <a:br>
              <a:rPr lang="en-US" altLang="zh-CN" sz="14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br>
            <a:r>
              <a:rPr lang="en-US" altLang="zh-CN" sz="12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Changes </a:t>
            </a:r>
            <a:r>
              <a:rPr lang="en-US" altLang="zh-CN" sz="12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are localized. If the rules for </a:t>
            </a:r>
            <a:r>
              <a:rPr lang="en-US" altLang="zh-CN" sz="1200" dirty="0">
                <a:solidFill>
                  <a:schemeClr val="tx1"/>
                </a:solidFill>
                <a:latin typeface="+mj-lt"/>
                <a:ea typeface="微软雅黑" panose="020B0503020204020204" pitchFamily="34" charset="-122"/>
                <a:cs typeface="Arial" panose="020B0604020202020204" pitchFamily="34" charset="0"/>
              </a:rPr>
              <a:t>Account.withdraw()</a:t>
            </a:r>
            <a:r>
              <a:rPr lang="en-US" altLang="zh-CN" sz="12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change, you edit one place. The rest of the system doesn't care</a:t>
            </a:r>
            <a:r>
              <a:rPr lang="en-US" altLang="zh-CN" sz="12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.</a:t>
            </a:r>
            <a:br>
              <a:rPr lang="en-US" altLang="zh-CN" sz="12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br>
            <a:r>
              <a:rPr lang="en-US" altLang="zh-CN" sz="14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br>
              <a:rPr lang="en-US" altLang="zh-CN" sz="14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br>
            <a:r>
              <a:rPr lang="en-US" altLang="zh-CN" sz="14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en-US" altLang="zh-CN" sz="14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2) </a:t>
            </a:r>
            <a:r>
              <a:rPr lang="en-US" altLang="zh-CN" sz="14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Reusability</a:t>
            </a:r>
            <a:br>
              <a:rPr lang="en-US" altLang="zh-CN" sz="14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br>
            <a:r>
              <a:rPr lang="en-US" altLang="zh-CN" sz="12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 </a:t>
            </a:r>
            <a:r>
              <a:rPr lang="en-US" altLang="zh-CN" sz="12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well-designed class can be used in many contexts. Logger, Connection, Button — write once, use everywhere</a:t>
            </a:r>
            <a:r>
              <a:rPr lang="en-US" altLang="zh-CN" sz="12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.</a:t>
            </a:r>
            <a:r>
              <a:rPr lang="en-US" altLang="zh-CN" sz="14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br>
              <a:rPr lang="en-US" altLang="zh-CN" sz="14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br>
            <a:r>
              <a:rPr lang="en-US" altLang="zh-CN" sz="14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br>
              <a:rPr lang="en-US" altLang="zh-CN" sz="14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br>
            <a:r>
              <a:rPr lang="en-US" altLang="zh-CN" sz="14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en-US" altLang="zh-CN" sz="14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3) </a:t>
            </a:r>
            <a:r>
              <a:rPr lang="en-US" altLang="zh-CN" sz="14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Scalability</a:t>
            </a:r>
            <a:br>
              <a:rPr lang="en-US" altLang="zh-CN" sz="14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br>
            <a:r>
              <a:rPr lang="en-US" altLang="zh-CN" sz="12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Large </a:t>
            </a:r>
            <a:r>
              <a:rPr lang="en-US" altLang="zh-CN" sz="12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systems are built from many small, independent objects. Teams can work on different objects in parallel without stepping on each other</a:t>
            </a:r>
            <a:r>
              <a:rPr lang="en-US" altLang="zh-CN" sz="12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.</a:t>
            </a:r>
            <a:r>
              <a:rPr lang="en-US" altLang="zh-CN" sz="14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br>
              <a:rPr lang="en-US" altLang="zh-CN" sz="14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br>
            <a:endParaRPr lang="en-US" altLang="zh-CN" b="1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AutoShape 2" descr="https://i.pinimg.com/736x/f7/be/bc/f7bebcafbacf057106eee3622de70a28.jpg">
            <a:extLst>
              <a:ext uri="{FF2B5EF4-FFF2-40B4-BE49-F238E27FC236}">
                <a16:creationId xmlns:a16="http://schemas.microsoft.com/office/drawing/2014/main" id="{8F287790-D2BB-B4FB-D8C2-95AA5ED70FA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588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4478AF-F905-9626-0922-FF970EDEA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C02FF94-264F-FFCE-0337-DDCEF4419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27D80656-D49C-A9FE-78AF-5DC3B7269A40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Why OOP?</a:t>
            </a:r>
          </a:p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222C224-669F-3C94-3DEE-2505DC81A7AA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30C5F6B-A382-EAF7-7308-A90F05CD4B38}"/>
              </a:ext>
            </a:extLst>
          </p:cNvPr>
          <p:cNvSpPr/>
          <p:nvPr/>
        </p:nvSpPr>
        <p:spPr>
          <a:xfrm>
            <a:off x="272672" y="841276"/>
            <a:ext cx="8475792" cy="23042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342900" indent="-342900">
              <a:lnSpc>
                <a:spcPct val="150000"/>
              </a:lnSpc>
              <a:buFont typeface="+mj-lt"/>
              <a:buAutoNum type="arabicPeriod" startAt="2"/>
            </a:pPr>
            <a:r>
              <a:rPr lang="en-US" altLang="zh-CN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The </a:t>
            </a: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Practical "Why": What Benefits Do You Get?</a:t>
            </a:r>
            <a:b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br>
            <a:r>
              <a:rPr lang="en-US" altLang="zh-CN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br>
              <a:rPr lang="en-US" altLang="zh-CN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br>
            <a:r>
              <a:rPr lang="en-US" altLang="zh-CN" sz="14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en-US" altLang="zh-CN" sz="14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4) </a:t>
            </a:r>
            <a:r>
              <a:rPr lang="en-US" altLang="zh-CN" sz="14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Extensibility</a:t>
            </a:r>
            <a:br>
              <a:rPr lang="en-US" altLang="zh-CN" sz="14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br>
            <a:r>
              <a:rPr lang="en-US" altLang="zh-CN" sz="12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Polymorphism </a:t>
            </a:r>
            <a:r>
              <a:rPr lang="en-US" altLang="zh-CN" sz="12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lets you add new behavior without modifying existing code. Add a SavingsAccount without touching the Account class or its callers</a:t>
            </a:r>
            <a:r>
              <a:rPr lang="en-US" altLang="zh-CN" sz="12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.</a:t>
            </a:r>
            <a:r>
              <a:rPr lang="en-US" altLang="zh-CN" sz="14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br>
              <a:rPr lang="en-US" altLang="zh-CN" sz="14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br>
            <a:r>
              <a:rPr lang="en-US" altLang="zh-CN" sz="14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br>
              <a:rPr lang="en-US" altLang="zh-CN" sz="14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br>
            <a:r>
              <a:rPr lang="en-US" altLang="zh-CN" sz="14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en-US" altLang="zh-CN" sz="14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5) Security / </a:t>
            </a:r>
            <a:r>
              <a:rPr lang="en-US" altLang="zh-CN" sz="14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Safety</a:t>
            </a:r>
            <a:br>
              <a:rPr lang="en-US" altLang="zh-CN" sz="14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br>
            <a:r>
              <a:rPr lang="en-US" altLang="zh-CN" sz="12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Encapsulation </a:t>
            </a:r>
            <a:r>
              <a:rPr lang="en-US" altLang="zh-CN" sz="12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prevents outside code from putting an object into an invalid state. You can't set </a:t>
            </a:r>
            <a:r>
              <a:rPr lang="en-US" altLang="zh-CN" sz="12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balance </a:t>
            </a:r>
            <a:r>
              <a:rPr lang="en-US" altLang="zh-CN" sz="12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= -999 directly if the setter forbids it</a:t>
            </a:r>
            <a:r>
              <a:rPr lang="en-US" altLang="zh-CN" sz="12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.</a:t>
            </a:r>
            <a:r>
              <a:rPr lang="en-US" altLang="zh-CN" sz="14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br>
              <a:rPr lang="en-US" altLang="zh-CN" sz="14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br>
            <a:r>
              <a:rPr lang="en-US" altLang="zh-CN" sz="14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br>
              <a:rPr lang="en-US" altLang="zh-CN" sz="14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br>
            <a:r>
              <a:rPr lang="en-US" altLang="zh-CN" sz="14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en-US" altLang="zh-CN" sz="14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6) Modeling </a:t>
            </a:r>
            <a:r>
              <a:rPr lang="en-US" altLang="zh-CN" sz="14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power</a:t>
            </a:r>
            <a:br>
              <a:rPr lang="en-US" altLang="zh-CN" sz="14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br>
            <a:r>
              <a:rPr lang="en-US" altLang="zh-CN" sz="12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OOP </a:t>
            </a:r>
            <a:r>
              <a:rPr lang="en-US" altLang="zh-CN" sz="12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lets you think and code in terms of the domain — accounts, orders, users — rather than low-level variables and functions. The code reads like the problem.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 startAt="2"/>
            </a:pPr>
            <a:endParaRPr lang="en-US" altLang="zh-CN" b="1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 startAt="2"/>
            </a:pPr>
            <a:endParaRPr lang="en-US" altLang="zh-CN" b="1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AutoShape 2" descr="https://i.pinimg.com/736x/f7/be/bc/f7bebcafbacf057106eee3622de70a28.jpg">
            <a:extLst>
              <a:ext uri="{FF2B5EF4-FFF2-40B4-BE49-F238E27FC236}">
                <a16:creationId xmlns:a16="http://schemas.microsoft.com/office/drawing/2014/main" id="{8F287790-D2BB-B4FB-D8C2-95AA5ED70FA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8561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4478AF-F905-9626-0922-FF970EDEA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C02FF94-264F-FFCE-0337-DDCEF4419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27D80656-D49C-A9FE-78AF-5DC3B7269A40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Primary tool for doing OOP</a:t>
            </a:r>
            <a:endParaRPr lang="en-US" altLang="zh-CN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222C224-669F-3C94-3DEE-2505DC81A7AA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AutoShape 2" descr="https://i.pinimg.com/736x/f7/be/bc/f7bebcafbacf057106eee3622de70a28.jpg">
            <a:extLst>
              <a:ext uri="{FF2B5EF4-FFF2-40B4-BE49-F238E27FC236}">
                <a16:creationId xmlns:a16="http://schemas.microsoft.com/office/drawing/2014/main" id="{8F287790-D2BB-B4FB-D8C2-95AA5ED70FA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30C5F6B-A382-EAF7-7308-A90F05CD4B38}"/>
              </a:ext>
            </a:extLst>
          </p:cNvPr>
          <p:cNvSpPr/>
          <p:nvPr/>
        </p:nvSpPr>
        <p:spPr>
          <a:xfrm>
            <a:off x="307975" y="1993404"/>
            <a:ext cx="8475792" cy="5040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algn="ctr"/>
            <a:r>
              <a:rPr lang="en-US" altLang="zh-CN" sz="5400" b="1" dirty="0" smtClean="0">
                <a:solidFill>
                  <a:schemeClr val="tx1"/>
                </a:solidFill>
                <a:latin typeface="Arial Black" panose="020B0A040201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class</a:t>
            </a:r>
          </a:p>
          <a:p>
            <a:pPr algn="ctr"/>
            <a:r>
              <a:rPr lang="zh-CN" altLang="en-US" sz="4000" b="1" dirty="0">
                <a:solidFill>
                  <a:schemeClr val="tx1"/>
                </a:solidFill>
                <a:latin typeface="Arial Black" panose="020B0A040201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类</a:t>
            </a:r>
            <a:endParaRPr lang="en-US" altLang="zh-CN" sz="4000" b="1" dirty="0">
              <a:solidFill>
                <a:schemeClr val="tx1"/>
              </a:solidFill>
              <a:latin typeface="Arial Black" panose="020B0A040201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3304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4478AF-F905-9626-0922-FF970EDEA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C02FF94-264F-FFCE-0337-DDCEF4419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27D80656-D49C-A9FE-78AF-5DC3B7269A40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What Is a Class?</a:t>
            </a:r>
            <a:endParaRPr lang="en-US" altLang="zh-CN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222C224-669F-3C94-3DEE-2505DC81A7AA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AutoShape 2" descr="https://i.pinimg.com/736x/f7/be/bc/f7bebcafbacf057106eee3622de70a28.jpg">
            <a:extLst>
              <a:ext uri="{FF2B5EF4-FFF2-40B4-BE49-F238E27FC236}">
                <a16:creationId xmlns:a16="http://schemas.microsoft.com/office/drawing/2014/main" id="{8F287790-D2BB-B4FB-D8C2-95AA5ED70FA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30C5F6B-A382-EAF7-7308-A90F05CD4B38}"/>
              </a:ext>
            </a:extLst>
          </p:cNvPr>
          <p:cNvSpPr/>
          <p:nvPr/>
        </p:nvSpPr>
        <p:spPr>
          <a:xfrm>
            <a:off x="272672" y="841276"/>
            <a:ext cx="8475792" cy="23042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 </a:t>
            </a: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class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is a blueprint for creating objects. It defines: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Attributes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— the data an object holds (state)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Methods</a:t>
            </a:r>
            <a:r>
              <a:rPr lang="en-US" altLang="zh-CN" sz="16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— the functions an object can perform (behavior)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 startAt="2"/>
            </a:pPr>
            <a:endParaRPr lang="en-US" altLang="zh-CN" b="1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 startAt="2"/>
            </a:pPr>
            <a:endParaRPr lang="en-US" altLang="zh-CN" b="1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156176" y="2135093"/>
            <a:ext cx="2845545" cy="249299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569CD6"/>
                </a:solidFill>
                <a:latin typeface="Consolas"/>
              </a:rPr>
              <a:t>class</a:t>
            </a:r>
            <a:r>
              <a:rPr lang="en-US" altLang="zh-CN" sz="1200" dirty="0">
                <a:solidFill>
                  <a:srgbClr val="CCCCCC"/>
                </a:solidFill>
                <a:latin typeface="Consolas"/>
              </a:rPr>
              <a:t> </a:t>
            </a:r>
            <a:r>
              <a:rPr lang="en-US" altLang="zh-CN" sz="1200" dirty="0">
                <a:solidFill>
                  <a:srgbClr val="4EC9B0"/>
                </a:solidFill>
                <a:latin typeface="Consolas"/>
              </a:rPr>
              <a:t>BankAccount</a:t>
            </a:r>
            <a:r>
              <a:rPr lang="en-US" altLang="zh-CN" sz="1200" dirty="0">
                <a:solidFill>
                  <a:srgbClr val="CCCCCC"/>
                </a:solidFill>
                <a:latin typeface="Consolas"/>
              </a:rPr>
              <a:t>:</a:t>
            </a:r>
          </a:p>
          <a:p>
            <a:r>
              <a:rPr lang="en-US" altLang="zh-CN" sz="1200" dirty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altLang="zh-CN" sz="1200" dirty="0">
                <a:solidFill>
                  <a:srgbClr val="569CD6"/>
                </a:solidFill>
                <a:latin typeface="Consolas"/>
              </a:rPr>
              <a:t>def</a:t>
            </a:r>
            <a:r>
              <a:rPr lang="en-US" altLang="zh-CN" sz="1200" dirty="0">
                <a:solidFill>
                  <a:srgbClr val="CCCCCC"/>
                </a:solidFill>
                <a:latin typeface="Consolas"/>
              </a:rPr>
              <a:t> </a:t>
            </a:r>
            <a:r>
              <a:rPr lang="en-US" altLang="zh-CN" sz="1200" dirty="0">
                <a:solidFill>
                  <a:srgbClr val="DCDCAA"/>
                </a:solidFill>
                <a:latin typeface="Consolas"/>
              </a:rPr>
              <a:t>__init__</a:t>
            </a:r>
            <a:r>
              <a:rPr lang="en-US" altLang="zh-CN" sz="1200" dirty="0">
                <a:solidFill>
                  <a:srgbClr val="CCCCCC"/>
                </a:solidFill>
                <a:latin typeface="Consolas"/>
              </a:rPr>
              <a:t>(</a:t>
            </a:r>
            <a:r>
              <a:rPr lang="en-US" altLang="zh-CN" sz="1200" dirty="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altLang="zh-CN" sz="1200" dirty="0">
                <a:solidFill>
                  <a:srgbClr val="CCCCCC"/>
                </a:solidFill>
                <a:latin typeface="Consolas"/>
              </a:rPr>
              <a:t>):</a:t>
            </a:r>
          </a:p>
          <a:p>
            <a:r>
              <a:rPr lang="en-US" altLang="zh-CN" sz="1200" dirty="0">
                <a:solidFill>
                  <a:srgbClr val="CCCCCC"/>
                </a:solidFill>
                <a:latin typeface="Consolas"/>
              </a:rPr>
              <a:t>        </a:t>
            </a:r>
            <a:r>
              <a:rPr lang="en-US" altLang="zh-CN" sz="1200" dirty="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altLang="zh-CN" sz="1200" dirty="0">
                <a:solidFill>
                  <a:srgbClr val="CCCCCC"/>
                </a:solidFill>
                <a:latin typeface="Consolas"/>
              </a:rPr>
              <a:t>.</a:t>
            </a:r>
            <a:r>
              <a:rPr lang="en-US" altLang="zh-CN" sz="1200" dirty="0">
                <a:solidFill>
                  <a:srgbClr val="9CDCFE"/>
                </a:solidFill>
                <a:latin typeface="Consolas"/>
              </a:rPr>
              <a:t>id</a:t>
            </a:r>
            <a:r>
              <a:rPr lang="en-US" altLang="zh-CN" sz="1200" dirty="0">
                <a:solidFill>
                  <a:srgbClr val="CCCCCC"/>
                </a:solidFill>
                <a:latin typeface="Consolas"/>
              </a:rPr>
              <a:t> </a:t>
            </a:r>
            <a:r>
              <a:rPr lang="en-US" altLang="zh-CN" sz="1200" dirty="0">
                <a:solidFill>
                  <a:srgbClr val="D4D4D4"/>
                </a:solidFill>
                <a:latin typeface="Consolas"/>
              </a:rPr>
              <a:t>=</a:t>
            </a:r>
            <a:r>
              <a:rPr lang="en-US" altLang="zh-CN" sz="1200" dirty="0">
                <a:solidFill>
                  <a:srgbClr val="CCCCCC"/>
                </a:solidFill>
                <a:latin typeface="Consolas"/>
              </a:rPr>
              <a:t> </a:t>
            </a:r>
            <a:r>
              <a:rPr lang="en-US" altLang="zh-CN" sz="1200" dirty="0">
                <a:solidFill>
                  <a:srgbClr val="569CD6"/>
                </a:solidFill>
                <a:latin typeface="Consolas"/>
              </a:rPr>
              <a:t>None</a:t>
            </a:r>
            <a:endParaRPr lang="en-US" altLang="zh-CN" sz="1200" dirty="0">
              <a:solidFill>
                <a:srgbClr val="CCCCCC"/>
              </a:solidFill>
              <a:latin typeface="Consolas"/>
            </a:endParaRPr>
          </a:p>
          <a:p>
            <a:r>
              <a:rPr lang="en-US" altLang="zh-CN" sz="1200" dirty="0">
                <a:solidFill>
                  <a:srgbClr val="CCCCCC"/>
                </a:solidFill>
                <a:latin typeface="Consolas"/>
              </a:rPr>
              <a:t>        </a:t>
            </a:r>
            <a:r>
              <a:rPr lang="en-US" altLang="zh-CN" sz="1200" dirty="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altLang="zh-CN" sz="1200" dirty="0">
                <a:solidFill>
                  <a:srgbClr val="CCCCCC"/>
                </a:solidFill>
                <a:latin typeface="Consolas"/>
              </a:rPr>
              <a:t>.</a:t>
            </a:r>
            <a:r>
              <a:rPr lang="en-US" altLang="zh-CN" sz="1200" dirty="0">
                <a:solidFill>
                  <a:srgbClr val="9CDCFE"/>
                </a:solidFill>
                <a:latin typeface="Consolas"/>
              </a:rPr>
              <a:t>_balance</a:t>
            </a:r>
            <a:r>
              <a:rPr lang="en-US" altLang="zh-CN" sz="1200" dirty="0">
                <a:solidFill>
                  <a:srgbClr val="CCCCCC"/>
                </a:solidFill>
                <a:latin typeface="Consolas"/>
              </a:rPr>
              <a:t> </a:t>
            </a:r>
            <a:r>
              <a:rPr lang="en-US" altLang="zh-CN" sz="1200" dirty="0">
                <a:solidFill>
                  <a:srgbClr val="D4D4D4"/>
                </a:solidFill>
                <a:latin typeface="Consolas"/>
              </a:rPr>
              <a:t>=</a:t>
            </a:r>
            <a:r>
              <a:rPr lang="en-US" altLang="zh-CN" sz="1200" dirty="0">
                <a:solidFill>
                  <a:srgbClr val="CCCCCC"/>
                </a:solidFill>
                <a:latin typeface="Consolas"/>
              </a:rPr>
              <a:t> </a:t>
            </a:r>
            <a:r>
              <a:rPr lang="en-US" altLang="zh-CN" sz="1200" dirty="0">
                <a:solidFill>
                  <a:srgbClr val="569CD6"/>
                </a:solidFill>
                <a:latin typeface="Consolas"/>
              </a:rPr>
              <a:t>None</a:t>
            </a:r>
            <a:endParaRPr lang="en-US" altLang="zh-CN" sz="1200" dirty="0">
              <a:solidFill>
                <a:srgbClr val="CCCCCC"/>
              </a:solidFill>
              <a:latin typeface="Consolas"/>
            </a:endParaRPr>
          </a:p>
          <a:p>
            <a:r>
              <a:rPr lang="en-US" altLang="zh-CN" sz="1200" dirty="0" smtClean="0">
                <a:solidFill>
                  <a:srgbClr val="CCCCCC"/>
                </a:solidFill>
                <a:latin typeface="Consolas"/>
              </a:rPr>
              <a:t/>
            </a:r>
            <a:br>
              <a:rPr lang="en-US" altLang="zh-CN" sz="1200" dirty="0" smtClean="0">
                <a:solidFill>
                  <a:srgbClr val="CCCCCC"/>
                </a:solidFill>
                <a:latin typeface="Consolas"/>
              </a:rPr>
            </a:br>
            <a:r>
              <a:rPr lang="en-US" altLang="zh-CN" sz="1200" dirty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altLang="zh-CN" sz="1200" dirty="0">
                <a:solidFill>
                  <a:srgbClr val="569CD6"/>
                </a:solidFill>
                <a:latin typeface="Consolas"/>
              </a:rPr>
              <a:t>def</a:t>
            </a:r>
            <a:r>
              <a:rPr lang="en-US" altLang="zh-CN" sz="1200" dirty="0">
                <a:solidFill>
                  <a:srgbClr val="CCCCCC"/>
                </a:solidFill>
                <a:latin typeface="Consolas"/>
              </a:rPr>
              <a:t> </a:t>
            </a:r>
            <a:r>
              <a:rPr lang="en-US" altLang="zh-CN" sz="1200" dirty="0">
                <a:solidFill>
                  <a:srgbClr val="DCDCAA"/>
                </a:solidFill>
                <a:latin typeface="Consolas"/>
              </a:rPr>
              <a:t>deposit</a:t>
            </a:r>
            <a:r>
              <a:rPr lang="en-US" altLang="zh-CN" sz="1200" dirty="0">
                <a:solidFill>
                  <a:srgbClr val="CCCCCC"/>
                </a:solidFill>
                <a:latin typeface="Consolas"/>
              </a:rPr>
              <a:t>(</a:t>
            </a:r>
            <a:r>
              <a:rPr lang="en-US" altLang="zh-CN" sz="1200" dirty="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altLang="zh-CN" sz="1200" dirty="0">
                <a:solidFill>
                  <a:srgbClr val="CCCCCC"/>
                </a:solidFill>
                <a:latin typeface="Consolas"/>
              </a:rPr>
              <a:t>, </a:t>
            </a:r>
            <a:r>
              <a:rPr lang="en-US" altLang="zh-CN" sz="1200" dirty="0">
                <a:solidFill>
                  <a:srgbClr val="9CDCFE"/>
                </a:solidFill>
                <a:latin typeface="Consolas"/>
              </a:rPr>
              <a:t>amount</a:t>
            </a:r>
            <a:r>
              <a:rPr lang="en-US" altLang="zh-CN" sz="1200" dirty="0">
                <a:solidFill>
                  <a:srgbClr val="CCCCCC"/>
                </a:solidFill>
                <a:latin typeface="Consolas"/>
              </a:rPr>
              <a:t>):</a:t>
            </a:r>
          </a:p>
          <a:p>
            <a:r>
              <a:rPr lang="en-US" altLang="zh-CN" sz="1200" dirty="0">
                <a:solidFill>
                  <a:srgbClr val="CCCCCC"/>
                </a:solidFill>
                <a:latin typeface="Consolas"/>
              </a:rPr>
              <a:t>        </a:t>
            </a:r>
            <a:r>
              <a:rPr lang="en-US" altLang="zh-CN" sz="1200" dirty="0">
                <a:solidFill>
                  <a:srgbClr val="C586C0"/>
                </a:solidFill>
                <a:latin typeface="Consolas"/>
              </a:rPr>
              <a:t>pass</a:t>
            </a:r>
            <a:endParaRPr lang="en-US" altLang="zh-CN" sz="1200" dirty="0">
              <a:solidFill>
                <a:srgbClr val="CCCCCC"/>
              </a:solidFill>
              <a:latin typeface="Consolas"/>
            </a:endParaRPr>
          </a:p>
          <a:p>
            <a:r>
              <a:rPr lang="en-US" altLang="zh-CN" sz="1200" dirty="0">
                <a:solidFill>
                  <a:srgbClr val="CCCCCC"/>
                </a:solidFill>
                <a:latin typeface="Consolas"/>
              </a:rPr>
              <a:t/>
            </a:r>
            <a:br>
              <a:rPr lang="en-US" altLang="zh-CN" sz="1200" dirty="0">
                <a:solidFill>
                  <a:srgbClr val="CCCCCC"/>
                </a:solidFill>
                <a:latin typeface="Consolas"/>
              </a:rPr>
            </a:br>
            <a:r>
              <a:rPr lang="en-US" altLang="zh-CN" sz="1200" dirty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altLang="zh-CN" sz="1200" dirty="0">
                <a:solidFill>
                  <a:srgbClr val="569CD6"/>
                </a:solidFill>
                <a:latin typeface="Consolas"/>
              </a:rPr>
              <a:t>def</a:t>
            </a:r>
            <a:r>
              <a:rPr lang="en-US" altLang="zh-CN" sz="1200" dirty="0">
                <a:solidFill>
                  <a:srgbClr val="CCCCCC"/>
                </a:solidFill>
                <a:latin typeface="Consolas"/>
              </a:rPr>
              <a:t> </a:t>
            </a:r>
            <a:r>
              <a:rPr lang="en-US" altLang="zh-CN" sz="1200" dirty="0">
                <a:solidFill>
                  <a:srgbClr val="DCDCAA"/>
                </a:solidFill>
                <a:latin typeface="Consolas"/>
              </a:rPr>
              <a:t>withdraw</a:t>
            </a:r>
            <a:r>
              <a:rPr lang="en-US" altLang="zh-CN" sz="1200" dirty="0">
                <a:solidFill>
                  <a:srgbClr val="CCCCCC"/>
                </a:solidFill>
                <a:latin typeface="Consolas"/>
              </a:rPr>
              <a:t>(</a:t>
            </a:r>
            <a:r>
              <a:rPr lang="en-US" altLang="zh-CN" sz="1200" dirty="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altLang="zh-CN" sz="1200" dirty="0">
                <a:solidFill>
                  <a:srgbClr val="CCCCCC"/>
                </a:solidFill>
                <a:latin typeface="Consolas"/>
              </a:rPr>
              <a:t>, </a:t>
            </a:r>
            <a:r>
              <a:rPr lang="en-US" altLang="zh-CN" sz="1200" dirty="0">
                <a:solidFill>
                  <a:srgbClr val="9CDCFE"/>
                </a:solidFill>
                <a:latin typeface="Consolas"/>
              </a:rPr>
              <a:t>amount</a:t>
            </a:r>
            <a:r>
              <a:rPr lang="en-US" altLang="zh-CN" sz="1200" dirty="0">
                <a:solidFill>
                  <a:srgbClr val="CCCCCC"/>
                </a:solidFill>
                <a:latin typeface="Consolas"/>
              </a:rPr>
              <a:t>):</a:t>
            </a:r>
          </a:p>
          <a:p>
            <a:r>
              <a:rPr lang="en-US" altLang="zh-CN" sz="1200" dirty="0">
                <a:solidFill>
                  <a:srgbClr val="CCCCCC"/>
                </a:solidFill>
                <a:latin typeface="Consolas"/>
              </a:rPr>
              <a:t>        </a:t>
            </a:r>
            <a:r>
              <a:rPr lang="en-US" altLang="zh-CN" sz="1200" dirty="0">
                <a:solidFill>
                  <a:srgbClr val="C586C0"/>
                </a:solidFill>
                <a:latin typeface="Consolas"/>
              </a:rPr>
              <a:t>pass</a:t>
            </a:r>
            <a:endParaRPr lang="en-US" altLang="zh-CN" sz="1200" dirty="0">
              <a:solidFill>
                <a:srgbClr val="CCCCCC"/>
              </a:solidFill>
              <a:latin typeface="Consolas"/>
            </a:endParaRPr>
          </a:p>
          <a:p>
            <a:r>
              <a:rPr lang="en-US" altLang="zh-CN" sz="1200" dirty="0">
                <a:solidFill>
                  <a:srgbClr val="CCCCCC"/>
                </a:solidFill>
                <a:latin typeface="Consolas"/>
              </a:rPr>
              <a:t/>
            </a:r>
            <a:br>
              <a:rPr lang="en-US" altLang="zh-CN" sz="1200" dirty="0">
                <a:solidFill>
                  <a:srgbClr val="CCCCCC"/>
                </a:solidFill>
                <a:latin typeface="Consolas"/>
              </a:rPr>
            </a:br>
            <a:r>
              <a:rPr lang="en-US" altLang="zh-CN" sz="1200" dirty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altLang="zh-CN" sz="1200" dirty="0">
                <a:solidFill>
                  <a:srgbClr val="569CD6"/>
                </a:solidFill>
                <a:latin typeface="Consolas"/>
              </a:rPr>
              <a:t>def</a:t>
            </a:r>
            <a:r>
              <a:rPr lang="en-US" altLang="zh-CN" sz="1200" dirty="0">
                <a:solidFill>
                  <a:srgbClr val="CCCCCC"/>
                </a:solidFill>
                <a:latin typeface="Consolas"/>
              </a:rPr>
              <a:t> </a:t>
            </a:r>
            <a:r>
              <a:rPr lang="en-US" altLang="zh-CN" sz="1200" dirty="0">
                <a:solidFill>
                  <a:srgbClr val="DCDCAA"/>
                </a:solidFill>
                <a:latin typeface="Consolas"/>
              </a:rPr>
              <a:t>getBalance</a:t>
            </a:r>
            <a:r>
              <a:rPr lang="en-US" altLang="zh-CN" sz="1200" dirty="0">
                <a:solidFill>
                  <a:srgbClr val="CCCCCC"/>
                </a:solidFill>
                <a:latin typeface="Consolas"/>
              </a:rPr>
              <a:t>(</a:t>
            </a:r>
            <a:r>
              <a:rPr lang="en-US" altLang="zh-CN" sz="1200" dirty="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altLang="zh-CN" sz="1200" dirty="0">
                <a:solidFill>
                  <a:srgbClr val="CCCCCC"/>
                </a:solidFill>
                <a:latin typeface="Consolas"/>
              </a:rPr>
              <a:t>):</a:t>
            </a:r>
          </a:p>
          <a:p>
            <a:r>
              <a:rPr lang="en-US" altLang="zh-CN" sz="1200" dirty="0">
                <a:solidFill>
                  <a:srgbClr val="CCCCCC"/>
                </a:solidFill>
                <a:latin typeface="Consolas"/>
              </a:rPr>
              <a:t>        </a:t>
            </a:r>
            <a:r>
              <a:rPr lang="en-US" altLang="zh-CN" sz="1200" dirty="0">
                <a:solidFill>
                  <a:srgbClr val="C586C0"/>
                </a:solidFill>
                <a:latin typeface="Consolas"/>
              </a:rPr>
              <a:t>pass</a:t>
            </a:r>
            <a:endParaRPr lang="en-US" altLang="zh-CN" sz="1200" b="0" dirty="0">
              <a:solidFill>
                <a:srgbClr val="CCCCCC"/>
              </a:solidFill>
              <a:effectLst/>
              <a:latin typeface="Consola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127392" y="2135093"/>
            <a:ext cx="2880320" cy="2677656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569CD6"/>
                </a:solidFill>
                <a:latin typeface="Consolas"/>
              </a:rPr>
              <a:t>class</a:t>
            </a:r>
            <a:r>
              <a:rPr lang="en-US" altLang="zh-CN" sz="1200" dirty="0">
                <a:solidFill>
                  <a:srgbClr val="CCCCCC"/>
                </a:solidFill>
                <a:latin typeface="Consolas"/>
              </a:rPr>
              <a:t> </a:t>
            </a:r>
            <a:r>
              <a:rPr lang="en-US" altLang="zh-CN" sz="1200" dirty="0">
                <a:solidFill>
                  <a:srgbClr val="4EC9B0"/>
                </a:solidFill>
                <a:latin typeface="Consolas"/>
              </a:rPr>
              <a:t>Circle</a:t>
            </a:r>
            <a:r>
              <a:rPr lang="en-US" altLang="zh-CN" sz="1200" dirty="0">
                <a:solidFill>
                  <a:srgbClr val="CCCCCC"/>
                </a:solidFill>
                <a:latin typeface="Consolas"/>
              </a:rPr>
              <a:t>():</a:t>
            </a:r>
          </a:p>
          <a:p>
            <a:r>
              <a:rPr lang="en-US" altLang="zh-CN" sz="1200" dirty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altLang="zh-CN" sz="1200" dirty="0">
                <a:solidFill>
                  <a:srgbClr val="569CD6"/>
                </a:solidFill>
                <a:latin typeface="Consolas"/>
              </a:rPr>
              <a:t>def</a:t>
            </a:r>
            <a:r>
              <a:rPr lang="en-US" altLang="zh-CN" sz="1200" dirty="0">
                <a:solidFill>
                  <a:srgbClr val="CCCCCC"/>
                </a:solidFill>
                <a:latin typeface="Consolas"/>
              </a:rPr>
              <a:t> </a:t>
            </a:r>
            <a:r>
              <a:rPr lang="en-US" altLang="zh-CN" sz="1200" dirty="0">
                <a:solidFill>
                  <a:srgbClr val="DCDCAA"/>
                </a:solidFill>
                <a:latin typeface="Consolas"/>
              </a:rPr>
              <a:t>__init__</a:t>
            </a:r>
            <a:r>
              <a:rPr lang="en-US" altLang="zh-CN" sz="1200" dirty="0">
                <a:solidFill>
                  <a:srgbClr val="CCCCCC"/>
                </a:solidFill>
                <a:latin typeface="Consolas"/>
              </a:rPr>
              <a:t>(</a:t>
            </a:r>
            <a:r>
              <a:rPr lang="en-US" altLang="zh-CN" sz="1200" dirty="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altLang="zh-CN" sz="1200" dirty="0">
                <a:solidFill>
                  <a:srgbClr val="CCCCCC"/>
                </a:solidFill>
                <a:latin typeface="Consolas"/>
              </a:rPr>
              <a:t>):</a:t>
            </a:r>
          </a:p>
          <a:p>
            <a:r>
              <a:rPr lang="en-US" altLang="zh-CN" sz="1200" dirty="0">
                <a:solidFill>
                  <a:srgbClr val="CCCCCC"/>
                </a:solidFill>
                <a:latin typeface="Consolas"/>
              </a:rPr>
              <a:t>        </a:t>
            </a:r>
            <a:r>
              <a:rPr lang="en-US" altLang="zh-CN" sz="1200" dirty="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altLang="zh-CN" sz="1200" dirty="0">
                <a:solidFill>
                  <a:srgbClr val="CCCCCC"/>
                </a:solidFill>
                <a:latin typeface="Consolas"/>
              </a:rPr>
              <a:t>.</a:t>
            </a:r>
            <a:r>
              <a:rPr lang="en-US" altLang="zh-CN" sz="1200" dirty="0">
                <a:solidFill>
                  <a:srgbClr val="9CDCFE"/>
                </a:solidFill>
                <a:latin typeface="Consolas"/>
              </a:rPr>
              <a:t>radius</a:t>
            </a:r>
            <a:r>
              <a:rPr lang="en-US" altLang="zh-CN" sz="1200" dirty="0">
                <a:solidFill>
                  <a:srgbClr val="CCCCCC"/>
                </a:solidFill>
                <a:latin typeface="Consolas"/>
              </a:rPr>
              <a:t> </a:t>
            </a:r>
            <a:r>
              <a:rPr lang="en-US" altLang="zh-CN" sz="1200" dirty="0">
                <a:solidFill>
                  <a:srgbClr val="D4D4D4"/>
                </a:solidFill>
                <a:latin typeface="Consolas"/>
              </a:rPr>
              <a:t>=</a:t>
            </a:r>
            <a:r>
              <a:rPr lang="en-US" altLang="zh-CN" sz="1200" dirty="0">
                <a:solidFill>
                  <a:srgbClr val="CCCCCC"/>
                </a:solidFill>
                <a:latin typeface="Consolas"/>
              </a:rPr>
              <a:t> </a:t>
            </a:r>
            <a:r>
              <a:rPr lang="en-US" altLang="zh-CN" sz="1200" dirty="0">
                <a:solidFill>
                  <a:srgbClr val="569CD6"/>
                </a:solidFill>
                <a:latin typeface="Consolas"/>
              </a:rPr>
              <a:t>None</a:t>
            </a:r>
            <a:endParaRPr lang="en-US" altLang="zh-CN" sz="1200" dirty="0">
              <a:solidFill>
                <a:srgbClr val="CCCCCC"/>
              </a:solidFill>
              <a:latin typeface="Consolas"/>
            </a:endParaRPr>
          </a:p>
          <a:p>
            <a:r>
              <a:rPr lang="en-US" altLang="zh-CN" sz="1200" dirty="0">
                <a:solidFill>
                  <a:srgbClr val="CCCCCC"/>
                </a:solidFill>
                <a:latin typeface="Consolas"/>
              </a:rPr>
              <a:t>        </a:t>
            </a:r>
            <a:r>
              <a:rPr lang="en-US" altLang="zh-CN" sz="1200" dirty="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altLang="zh-CN" sz="1200" dirty="0">
                <a:solidFill>
                  <a:srgbClr val="CCCCCC"/>
                </a:solidFill>
                <a:latin typeface="Consolas"/>
              </a:rPr>
              <a:t>.</a:t>
            </a:r>
            <a:r>
              <a:rPr lang="en-US" altLang="zh-CN" sz="1200" dirty="0">
                <a:solidFill>
                  <a:srgbClr val="9CDCFE"/>
                </a:solidFill>
                <a:latin typeface="Consolas"/>
              </a:rPr>
              <a:t>x</a:t>
            </a:r>
            <a:r>
              <a:rPr lang="en-US" altLang="zh-CN" sz="1200" dirty="0">
                <a:solidFill>
                  <a:srgbClr val="CCCCCC"/>
                </a:solidFill>
                <a:latin typeface="Consolas"/>
              </a:rPr>
              <a:t> </a:t>
            </a:r>
            <a:r>
              <a:rPr lang="en-US" altLang="zh-CN" sz="1200" dirty="0">
                <a:solidFill>
                  <a:srgbClr val="D4D4D4"/>
                </a:solidFill>
                <a:latin typeface="Consolas"/>
              </a:rPr>
              <a:t>=</a:t>
            </a:r>
            <a:r>
              <a:rPr lang="en-US" altLang="zh-CN" sz="1200" dirty="0">
                <a:solidFill>
                  <a:srgbClr val="CCCCCC"/>
                </a:solidFill>
                <a:latin typeface="Consolas"/>
              </a:rPr>
              <a:t> </a:t>
            </a:r>
            <a:r>
              <a:rPr lang="en-US" altLang="zh-CN" sz="1200" dirty="0">
                <a:solidFill>
                  <a:srgbClr val="569CD6"/>
                </a:solidFill>
                <a:latin typeface="Consolas"/>
              </a:rPr>
              <a:t>None</a:t>
            </a:r>
            <a:endParaRPr lang="en-US" altLang="zh-CN" sz="1200" dirty="0">
              <a:solidFill>
                <a:srgbClr val="CCCCCC"/>
              </a:solidFill>
              <a:latin typeface="Consolas"/>
            </a:endParaRPr>
          </a:p>
          <a:p>
            <a:r>
              <a:rPr lang="en-US" altLang="zh-CN" sz="1200" dirty="0">
                <a:solidFill>
                  <a:srgbClr val="CCCCCC"/>
                </a:solidFill>
                <a:latin typeface="Consolas"/>
              </a:rPr>
              <a:t>        </a:t>
            </a:r>
            <a:r>
              <a:rPr lang="en-US" altLang="zh-CN" sz="1200" dirty="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altLang="zh-CN" sz="1200" dirty="0">
                <a:solidFill>
                  <a:srgbClr val="CCCCCC"/>
                </a:solidFill>
                <a:latin typeface="Consolas"/>
              </a:rPr>
              <a:t>.</a:t>
            </a:r>
            <a:r>
              <a:rPr lang="en-US" altLang="zh-CN" sz="1200" dirty="0">
                <a:solidFill>
                  <a:srgbClr val="9CDCFE"/>
                </a:solidFill>
                <a:latin typeface="Consolas"/>
              </a:rPr>
              <a:t>y</a:t>
            </a:r>
            <a:r>
              <a:rPr lang="en-US" altLang="zh-CN" sz="1200" dirty="0">
                <a:solidFill>
                  <a:srgbClr val="CCCCCC"/>
                </a:solidFill>
                <a:latin typeface="Consolas"/>
              </a:rPr>
              <a:t> </a:t>
            </a:r>
            <a:r>
              <a:rPr lang="en-US" altLang="zh-CN" sz="1200" dirty="0">
                <a:solidFill>
                  <a:srgbClr val="D4D4D4"/>
                </a:solidFill>
                <a:latin typeface="Consolas"/>
              </a:rPr>
              <a:t>=</a:t>
            </a:r>
            <a:r>
              <a:rPr lang="en-US" altLang="zh-CN" sz="1200" dirty="0">
                <a:solidFill>
                  <a:srgbClr val="CCCCCC"/>
                </a:solidFill>
                <a:latin typeface="Consolas"/>
              </a:rPr>
              <a:t> </a:t>
            </a:r>
            <a:r>
              <a:rPr lang="en-US" altLang="zh-CN" sz="1200" dirty="0">
                <a:solidFill>
                  <a:srgbClr val="569CD6"/>
                </a:solidFill>
                <a:latin typeface="Consolas"/>
              </a:rPr>
              <a:t>None</a:t>
            </a:r>
            <a:endParaRPr lang="en-US" altLang="zh-CN" sz="1200" dirty="0">
              <a:solidFill>
                <a:srgbClr val="CCCCCC"/>
              </a:solidFill>
              <a:latin typeface="Consolas"/>
            </a:endParaRPr>
          </a:p>
          <a:p>
            <a:endParaRPr lang="en-US" altLang="zh-CN" sz="1200" dirty="0" smtClean="0">
              <a:solidFill>
                <a:srgbClr val="CCCCCC"/>
              </a:solidFill>
              <a:latin typeface="Consolas"/>
            </a:endParaRPr>
          </a:p>
          <a:p>
            <a:r>
              <a:rPr lang="en-US" altLang="zh-CN" sz="1200" dirty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altLang="zh-CN" sz="1200" dirty="0">
                <a:solidFill>
                  <a:srgbClr val="569CD6"/>
                </a:solidFill>
                <a:latin typeface="Consolas"/>
              </a:rPr>
              <a:t>def</a:t>
            </a:r>
            <a:r>
              <a:rPr lang="en-US" altLang="zh-CN" sz="1200" dirty="0">
                <a:solidFill>
                  <a:srgbClr val="CCCCCC"/>
                </a:solidFill>
                <a:latin typeface="Consolas"/>
              </a:rPr>
              <a:t> </a:t>
            </a:r>
            <a:r>
              <a:rPr lang="en-US" altLang="zh-CN" sz="1200" dirty="0">
                <a:solidFill>
                  <a:srgbClr val="DCDCAA"/>
                </a:solidFill>
                <a:latin typeface="Consolas"/>
              </a:rPr>
              <a:t>setRadius</a:t>
            </a:r>
            <a:r>
              <a:rPr lang="en-US" altLang="zh-CN" sz="1200" dirty="0">
                <a:solidFill>
                  <a:srgbClr val="CCCCCC"/>
                </a:solidFill>
                <a:latin typeface="Consolas"/>
              </a:rPr>
              <a:t>(</a:t>
            </a:r>
            <a:r>
              <a:rPr lang="en-US" altLang="zh-CN" sz="1200" dirty="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altLang="zh-CN" sz="1200" dirty="0">
                <a:solidFill>
                  <a:srgbClr val="CCCCCC"/>
                </a:solidFill>
                <a:latin typeface="Consolas"/>
              </a:rPr>
              <a:t>, </a:t>
            </a:r>
            <a:r>
              <a:rPr lang="en-US" altLang="zh-CN" sz="1200" dirty="0">
                <a:solidFill>
                  <a:srgbClr val="9CDCFE"/>
                </a:solidFill>
                <a:latin typeface="Consolas"/>
              </a:rPr>
              <a:t>radius</a:t>
            </a:r>
            <a:r>
              <a:rPr lang="en-US" altLang="zh-CN" sz="1200" dirty="0">
                <a:solidFill>
                  <a:srgbClr val="CCCCCC"/>
                </a:solidFill>
                <a:latin typeface="Consolas"/>
              </a:rPr>
              <a:t>):</a:t>
            </a:r>
          </a:p>
          <a:p>
            <a:r>
              <a:rPr lang="en-US" altLang="zh-CN" sz="1200" dirty="0">
                <a:solidFill>
                  <a:srgbClr val="CCCCCC"/>
                </a:solidFill>
                <a:latin typeface="Consolas"/>
              </a:rPr>
              <a:t>        </a:t>
            </a:r>
            <a:r>
              <a:rPr lang="en-US" altLang="zh-CN" sz="1200" dirty="0">
                <a:solidFill>
                  <a:srgbClr val="C586C0"/>
                </a:solidFill>
                <a:latin typeface="Consolas"/>
              </a:rPr>
              <a:t>pass</a:t>
            </a:r>
            <a:endParaRPr lang="en-US" altLang="zh-CN" sz="1200" dirty="0">
              <a:solidFill>
                <a:srgbClr val="CCCCCC"/>
              </a:solidFill>
              <a:latin typeface="Consolas"/>
            </a:endParaRPr>
          </a:p>
          <a:p>
            <a:endParaRPr lang="en-US" altLang="zh-CN" sz="1200" dirty="0" smtClean="0">
              <a:solidFill>
                <a:srgbClr val="CCCCCC"/>
              </a:solidFill>
              <a:latin typeface="Consolas"/>
            </a:endParaRPr>
          </a:p>
          <a:p>
            <a:r>
              <a:rPr lang="en-US" altLang="zh-CN" sz="1200" dirty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altLang="zh-CN" sz="1200" dirty="0">
                <a:solidFill>
                  <a:srgbClr val="569CD6"/>
                </a:solidFill>
                <a:latin typeface="Consolas"/>
              </a:rPr>
              <a:t>def</a:t>
            </a:r>
            <a:r>
              <a:rPr lang="en-US" altLang="zh-CN" sz="1200" dirty="0">
                <a:solidFill>
                  <a:srgbClr val="CCCCCC"/>
                </a:solidFill>
                <a:latin typeface="Consolas"/>
              </a:rPr>
              <a:t> </a:t>
            </a:r>
            <a:r>
              <a:rPr lang="en-US" altLang="zh-CN" sz="1200" dirty="0">
                <a:solidFill>
                  <a:srgbClr val="DCDCAA"/>
                </a:solidFill>
                <a:latin typeface="Consolas"/>
              </a:rPr>
              <a:t>getArea</a:t>
            </a:r>
            <a:r>
              <a:rPr lang="en-US" altLang="zh-CN" sz="1200" dirty="0">
                <a:solidFill>
                  <a:srgbClr val="CCCCCC"/>
                </a:solidFill>
                <a:latin typeface="Consolas"/>
              </a:rPr>
              <a:t>(</a:t>
            </a:r>
            <a:r>
              <a:rPr lang="en-US" altLang="zh-CN" sz="1200" dirty="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altLang="zh-CN" sz="1200" dirty="0">
                <a:solidFill>
                  <a:srgbClr val="CCCCCC"/>
                </a:solidFill>
                <a:latin typeface="Consolas"/>
              </a:rPr>
              <a:t>):</a:t>
            </a:r>
          </a:p>
          <a:p>
            <a:r>
              <a:rPr lang="en-US" altLang="zh-CN" sz="1200" dirty="0">
                <a:solidFill>
                  <a:srgbClr val="CCCCCC"/>
                </a:solidFill>
                <a:latin typeface="Consolas"/>
              </a:rPr>
              <a:t>        </a:t>
            </a:r>
            <a:r>
              <a:rPr lang="en-US" altLang="zh-CN" sz="1200" dirty="0">
                <a:solidFill>
                  <a:srgbClr val="C586C0"/>
                </a:solidFill>
                <a:latin typeface="Consolas"/>
              </a:rPr>
              <a:t>pass</a:t>
            </a:r>
            <a:endParaRPr lang="en-US" altLang="zh-CN" sz="1200" dirty="0">
              <a:solidFill>
                <a:srgbClr val="CCCCCC"/>
              </a:solidFill>
              <a:latin typeface="Consolas"/>
            </a:endParaRPr>
          </a:p>
          <a:p>
            <a:endParaRPr lang="en-US" altLang="zh-CN" sz="1200" dirty="0" smtClean="0">
              <a:solidFill>
                <a:srgbClr val="CCCCCC"/>
              </a:solidFill>
              <a:latin typeface="Consolas"/>
            </a:endParaRPr>
          </a:p>
          <a:p>
            <a:r>
              <a:rPr lang="en-US" altLang="zh-CN" sz="1200" dirty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altLang="zh-CN" sz="1200" dirty="0">
                <a:solidFill>
                  <a:srgbClr val="569CD6"/>
                </a:solidFill>
                <a:latin typeface="Consolas"/>
              </a:rPr>
              <a:t>def</a:t>
            </a:r>
            <a:r>
              <a:rPr lang="en-US" altLang="zh-CN" sz="1200" dirty="0">
                <a:solidFill>
                  <a:srgbClr val="CCCCCC"/>
                </a:solidFill>
                <a:latin typeface="Consolas"/>
              </a:rPr>
              <a:t> </a:t>
            </a:r>
            <a:r>
              <a:rPr lang="en-US" altLang="zh-CN" sz="1200" dirty="0">
                <a:solidFill>
                  <a:srgbClr val="DCDCAA"/>
                </a:solidFill>
                <a:latin typeface="Consolas"/>
              </a:rPr>
              <a:t>getPerimeter</a:t>
            </a:r>
            <a:r>
              <a:rPr lang="en-US" altLang="zh-CN" sz="1200" dirty="0">
                <a:solidFill>
                  <a:srgbClr val="CCCCCC"/>
                </a:solidFill>
                <a:latin typeface="Consolas"/>
              </a:rPr>
              <a:t>(</a:t>
            </a:r>
            <a:r>
              <a:rPr lang="en-US" altLang="zh-CN" sz="1200" dirty="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altLang="zh-CN" sz="1200" dirty="0">
                <a:solidFill>
                  <a:srgbClr val="CCCCCC"/>
                </a:solidFill>
                <a:latin typeface="Consolas"/>
              </a:rPr>
              <a:t>):</a:t>
            </a:r>
          </a:p>
          <a:p>
            <a:r>
              <a:rPr lang="en-US" altLang="zh-CN" sz="1200" dirty="0">
                <a:solidFill>
                  <a:srgbClr val="CCCCCC"/>
                </a:solidFill>
                <a:latin typeface="Consolas"/>
              </a:rPr>
              <a:t>        </a:t>
            </a:r>
            <a:r>
              <a:rPr lang="en-US" altLang="zh-CN" sz="1200" dirty="0">
                <a:solidFill>
                  <a:srgbClr val="C586C0"/>
                </a:solidFill>
                <a:latin typeface="Consolas"/>
              </a:rPr>
              <a:t>pass</a:t>
            </a:r>
            <a:endParaRPr lang="en-US" altLang="zh-CN" sz="1200" b="0" dirty="0">
              <a:solidFill>
                <a:srgbClr val="CCCCCC"/>
              </a:solidFill>
              <a:effectLst/>
              <a:latin typeface="Consolas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42624" y="2135093"/>
            <a:ext cx="2736304" cy="2954655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569CD6"/>
                </a:solidFill>
                <a:latin typeface="Consolas"/>
              </a:rPr>
              <a:t>class</a:t>
            </a:r>
            <a:r>
              <a:rPr lang="en-US" altLang="zh-CN" sz="1200" dirty="0">
                <a:solidFill>
                  <a:srgbClr val="CCCCCC"/>
                </a:solidFill>
                <a:latin typeface="Consolas"/>
              </a:rPr>
              <a:t> </a:t>
            </a:r>
            <a:r>
              <a:rPr lang="en-US" altLang="zh-CN" sz="1200" dirty="0">
                <a:solidFill>
                  <a:srgbClr val="4EC9B0"/>
                </a:solidFill>
                <a:latin typeface="Consolas"/>
              </a:rPr>
              <a:t>Temperature</a:t>
            </a:r>
            <a:r>
              <a:rPr lang="en-US" altLang="zh-CN" sz="1200" dirty="0">
                <a:solidFill>
                  <a:srgbClr val="CCCCCC"/>
                </a:solidFill>
                <a:latin typeface="Consolas"/>
              </a:rPr>
              <a:t>:</a:t>
            </a:r>
          </a:p>
          <a:p>
            <a:r>
              <a:rPr lang="en-US" altLang="zh-CN" sz="1200" dirty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altLang="zh-CN" sz="1200" dirty="0">
                <a:solidFill>
                  <a:srgbClr val="569CD6"/>
                </a:solidFill>
                <a:latin typeface="Consolas"/>
              </a:rPr>
              <a:t>def</a:t>
            </a:r>
            <a:r>
              <a:rPr lang="en-US" altLang="zh-CN" sz="1200" dirty="0">
                <a:solidFill>
                  <a:srgbClr val="CCCCCC"/>
                </a:solidFill>
                <a:latin typeface="Consolas"/>
              </a:rPr>
              <a:t> </a:t>
            </a:r>
            <a:r>
              <a:rPr lang="en-US" altLang="zh-CN" sz="1200" dirty="0">
                <a:solidFill>
                  <a:srgbClr val="DCDCAA"/>
                </a:solidFill>
                <a:latin typeface="Consolas"/>
              </a:rPr>
              <a:t>__init__</a:t>
            </a:r>
            <a:r>
              <a:rPr lang="en-US" altLang="zh-CN" sz="1200" dirty="0">
                <a:solidFill>
                  <a:srgbClr val="CCCCCC"/>
                </a:solidFill>
                <a:latin typeface="Consolas"/>
              </a:rPr>
              <a:t>(</a:t>
            </a:r>
            <a:r>
              <a:rPr lang="en-US" altLang="zh-CN" sz="1200" dirty="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altLang="zh-CN" sz="1200" dirty="0">
                <a:solidFill>
                  <a:srgbClr val="CCCCCC"/>
                </a:solidFill>
                <a:latin typeface="Consolas"/>
              </a:rPr>
              <a:t>):</a:t>
            </a:r>
          </a:p>
          <a:p>
            <a:r>
              <a:rPr lang="en-US" altLang="zh-CN" sz="1200" dirty="0">
                <a:solidFill>
                  <a:srgbClr val="CCCCCC"/>
                </a:solidFill>
                <a:latin typeface="Consolas"/>
              </a:rPr>
              <a:t>        </a:t>
            </a:r>
            <a:r>
              <a:rPr lang="en-US" altLang="zh-CN" sz="1200" dirty="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altLang="zh-CN" sz="1200" dirty="0">
                <a:solidFill>
                  <a:srgbClr val="CCCCCC"/>
                </a:solidFill>
                <a:latin typeface="Consolas"/>
              </a:rPr>
              <a:t>.</a:t>
            </a:r>
            <a:r>
              <a:rPr lang="en-US" altLang="zh-CN" sz="1200" dirty="0">
                <a:solidFill>
                  <a:srgbClr val="9CDCFE"/>
                </a:solidFill>
                <a:latin typeface="Consolas"/>
              </a:rPr>
              <a:t>value</a:t>
            </a:r>
            <a:r>
              <a:rPr lang="en-US" altLang="zh-CN" sz="1200" dirty="0">
                <a:solidFill>
                  <a:srgbClr val="CCCCCC"/>
                </a:solidFill>
                <a:latin typeface="Consolas"/>
              </a:rPr>
              <a:t> </a:t>
            </a:r>
            <a:r>
              <a:rPr lang="en-US" altLang="zh-CN" sz="1200" dirty="0">
                <a:solidFill>
                  <a:srgbClr val="D4D4D4"/>
                </a:solidFill>
                <a:latin typeface="Consolas"/>
              </a:rPr>
              <a:t>=</a:t>
            </a:r>
            <a:r>
              <a:rPr lang="en-US" altLang="zh-CN" sz="1200" dirty="0">
                <a:solidFill>
                  <a:srgbClr val="CCCCCC"/>
                </a:solidFill>
                <a:latin typeface="Consolas"/>
              </a:rPr>
              <a:t> </a:t>
            </a:r>
            <a:r>
              <a:rPr lang="en-US" altLang="zh-CN" sz="1200" dirty="0">
                <a:solidFill>
                  <a:srgbClr val="569CD6"/>
                </a:solidFill>
                <a:latin typeface="Consolas"/>
              </a:rPr>
              <a:t>None</a:t>
            </a:r>
            <a:endParaRPr lang="en-US" altLang="zh-CN" sz="1200" dirty="0">
              <a:solidFill>
                <a:srgbClr val="CCCCCC"/>
              </a:solidFill>
              <a:latin typeface="Consolas"/>
            </a:endParaRPr>
          </a:p>
          <a:p>
            <a:r>
              <a:rPr lang="en-US" altLang="zh-CN" sz="1200" dirty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altLang="zh-CN" sz="1200" dirty="0">
                <a:solidFill>
                  <a:srgbClr val="569CD6"/>
                </a:solidFill>
                <a:latin typeface="Consolas"/>
              </a:rPr>
              <a:t>def</a:t>
            </a:r>
            <a:r>
              <a:rPr lang="en-US" altLang="zh-CN" sz="1200" dirty="0">
                <a:solidFill>
                  <a:srgbClr val="CCCCCC"/>
                </a:solidFill>
                <a:latin typeface="Consolas"/>
              </a:rPr>
              <a:t> </a:t>
            </a:r>
            <a:r>
              <a:rPr lang="en-US" altLang="zh-CN" sz="1200" dirty="0">
                <a:solidFill>
                  <a:srgbClr val="DCDCAA"/>
                </a:solidFill>
                <a:latin typeface="Consolas"/>
              </a:rPr>
              <a:t>setCelsius</a:t>
            </a:r>
            <a:r>
              <a:rPr lang="en-US" altLang="zh-CN" sz="1200" dirty="0">
                <a:solidFill>
                  <a:srgbClr val="CCCCCC"/>
                </a:solidFill>
                <a:latin typeface="Consolas"/>
              </a:rPr>
              <a:t>(</a:t>
            </a:r>
            <a:r>
              <a:rPr lang="en-US" altLang="zh-CN" sz="1200" dirty="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altLang="zh-CN" sz="1200" dirty="0">
                <a:solidFill>
                  <a:srgbClr val="CCCCCC"/>
                </a:solidFill>
                <a:latin typeface="Consolas"/>
              </a:rPr>
              <a:t>):</a:t>
            </a:r>
          </a:p>
          <a:p>
            <a:r>
              <a:rPr lang="en-US" altLang="zh-CN" sz="1200" dirty="0">
                <a:solidFill>
                  <a:srgbClr val="CCCCCC"/>
                </a:solidFill>
                <a:latin typeface="Consolas"/>
              </a:rPr>
              <a:t>        </a:t>
            </a:r>
            <a:r>
              <a:rPr lang="en-US" altLang="zh-CN" sz="1200" dirty="0">
                <a:solidFill>
                  <a:srgbClr val="C586C0"/>
                </a:solidFill>
                <a:latin typeface="Consolas"/>
              </a:rPr>
              <a:t>pass</a:t>
            </a:r>
            <a:endParaRPr lang="en-US" altLang="zh-CN" sz="1200" dirty="0">
              <a:solidFill>
                <a:srgbClr val="CCCCCC"/>
              </a:solidFill>
              <a:latin typeface="Consolas"/>
            </a:endParaRPr>
          </a:p>
          <a:p>
            <a:r>
              <a:rPr lang="en-US" altLang="zh-CN" sz="1200" dirty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altLang="zh-CN" sz="1200" dirty="0">
                <a:solidFill>
                  <a:srgbClr val="569CD6"/>
                </a:solidFill>
                <a:latin typeface="Consolas"/>
              </a:rPr>
              <a:t>def</a:t>
            </a:r>
            <a:r>
              <a:rPr lang="en-US" altLang="zh-CN" sz="1200" dirty="0">
                <a:solidFill>
                  <a:srgbClr val="CCCCCC"/>
                </a:solidFill>
                <a:latin typeface="Consolas"/>
              </a:rPr>
              <a:t> </a:t>
            </a:r>
            <a:r>
              <a:rPr lang="en-US" altLang="zh-CN" sz="1200" dirty="0">
                <a:solidFill>
                  <a:srgbClr val="DCDCAA"/>
                </a:solidFill>
                <a:latin typeface="Consolas"/>
              </a:rPr>
              <a:t>getCelsius</a:t>
            </a:r>
            <a:r>
              <a:rPr lang="en-US" altLang="zh-CN" sz="1200" dirty="0">
                <a:solidFill>
                  <a:srgbClr val="CCCCCC"/>
                </a:solidFill>
                <a:latin typeface="Consolas"/>
              </a:rPr>
              <a:t>(</a:t>
            </a:r>
            <a:r>
              <a:rPr lang="en-US" altLang="zh-CN" sz="1200" dirty="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altLang="zh-CN" sz="1200" dirty="0">
                <a:solidFill>
                  <a:srgbClr val="CCCCCC"/>
                </a:solidFill>
                <a:latin typeface="Consolas"/>
              </a:rPr>
              <a:t>):</a:t>
            </a:r>
          </a:p>
          <a:p>
            <a:r>
              <a:rPr lang="en-US" altLang="zh-CN" sz="1200" dirty="0">
                <a:solidFill>
                  <a:srgbClr val="CCCCCC"/>
                </a:solidFill>
                <a:latin typeface="Consolas"/>
              </a:rPr>
              <a:t>        </a:t>
            </a:r>
            <a:r>
              <a:rPr lang="en-US" altLang="zh-CN" sz="1200" dirty="0">
                <a:solidFill>
                  <a:srgbClr val="C586C0"/>
                </a:solidFill>
                <a:latin typeface="Consolas"/>
              </a:rPr>
              <a:t>pass</a:t>
            </a:r>
            <a:endParaRPr lang="en-US" altLang="zh-CN" sz="1200" dirty="0">
              <a:solidFill>
                <a:srgbClr val="CCCCCC"/>
              </a:solidFill>
              <a:latin typeface="Consolas"/>
            </a:endParaRPr>
          </a:p>
          <a:p>
            <a:r>
              <a:rPr lang="en-US" altLang="zh-CN" sz="1200" dirty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altLang="zh-CN" sz="1200" dirty="0">
                <a:solidFill>
                  <a:srgbClr val="569CD6"/>
                </a:solidFill>
                <a:latin typeface="Consolas"/>
              </a:rPr>
              <a:t>def</a:t>
            </a:r>
            <a:r>
              <a:rPr lang="en-US" altLang="zh-CN" sz="1200" dirty="0">
                <a:solidFill>
                  <a:srgbClr val="CCCCCC"/>
                </a:solidFill>
                <a:latin typeface="Consolas"/>
              </a:rPr>
              <a:t> </a:t>
            </a:r>
            <a:r>
              <a:rPr lang="en-US" altLang="zh-CN" sz="1200" dirty="0">
                <a:solidFill>
                  <a:srgbClr val="DCDCAA"/>
                </a:solidFill>
                <a:latin typeface="Consolas"/>
              </a:rPr>
              <a:t>setFahrenheit</a:t>
            </a:r>
            <a:r>
              <a:rPr lang="en-US" altLang="zh-CN" sz="1200" dirty="0">
                <a:solidFill>
                  <a:srgbClr val="CCCCCC"/>
                </a:solidFill>
                <a:latin typeface="Consolas"/>
              </a:rPr>
              <a:t>(</a:t>
            </a:r>
            <a:r>
              <a:rPr lang="en-US" altLang="zh-CN" sz="1200" dirty="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altLang="zh-CN" sz="1200" dirty="0">
                <a:solidFill>
                  <a:srgbClr val="CCCCCC"/>
                </a:solidFill>
                <a:latin typeface="Consolas"/>
              </a:rPr>
              <a:t>):</a:t>
            </a:r>
          </a:p>
          <a:p>
            <a:r>
              <a:rPr lang="en-US" altLang="zh-CN" sz="1200" dirty="0">
                <a:solidFill>
                  <a:srgbClr val="CCCCCC"/>
                </a:solidFill>
                <a:latin typeface="Consolas"/>
              </a:rPr>
              <a:t>        </a:t>
            </a:r>
            <a:r>
              <a:rPr lang="en-US" altLang="zh-CN" sz="1200" dirty="0">
                <a:solidFill>
                  <a:srgbClr val="C586C0"/>
                </a:solidFill>
                <a:latin typeface="Consolas"/>
              </a:rPr>
              <a:t>pass</a:t>
            </a:r>
            <a:endParaRPr lang="en-US" altLang="zh-CN" sz="1200" dirty="0">
              <a:solidFill>
                <a:srgbClr val="CCCCCC"/>
              </a:solidFill>
              <a:latin typeface="Consolas"/>
            </a:endParaRPr>
          </a:p>
          <a:p>
            <a:r>
              <a:rPr lang="en-US" altLang="zh-CN" sz="1200" dirty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altLang="zh-CN" sz="1200" dirty="0">
                <a:solidFill>
                  <a:srgbClr val="569CD6"/>
                </a:solidFill>
                <a:latin typeface="Consolas"/>
              </a:rPr>
              <a:t>def</a:t>
            </a:r>
            <a:r>
              <a:rPr lang="en-US" altLang="zh-CN" sz="1200" dirty="0">
                <a:solidFill>
                  <a:srgbClr val="CCCCCC"/>
                </a:solidFill>
                <a:latin typeface="Consolas"/>
              </a:rPr>
              <a:t> </a:t>
            </a:r>
            <a:r>
              <a:rPr lang="en-US" altLang="zh-CN" sz="1200" dirty="0">
                <a:solidFill>
                  <a:srgbClr val="DCDCAA"/>
                </a:solidFill>
                <a:latin typeface="Consolas"/>
              </a:rPr>
              <a:t>getFahrenheit</a:t>
            </a:r>
            <a:r>
              <a:rPr lang="en-US" altLang="zh-CN" sz="1200" dirty="0">
                <a:solidFill>
                  <a:srgbClr val="CCCCCC"/>
                </a:solidFill>
                <a:latin typeface="Consolas"/>
              </a:rPr>
              <a:t>(</a:t>
            </a:r>
            <a:r>
              <a:rPr lang="en-US" altLang="zh-CN" sz="1200" dirty="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altLang="zh-CN" sz="1200" dirty="0">
                <a:solidFill>
                  <a:srgbClr val="CCCCCC"/>
                </a:solidFill>
                <a:latin typeface="Consolas"/>
              </a:rPr>
              <a:t>):</a:t>
            </a:r>
          </a:p>
          <a:p>
            <a:r>
              <a:rPr lang="en-US" altLang="zh-CN" sz="1200" dirty="0">
                <a:solidFill>
                  <a:srgbClr val="CCCCCC"/>
                </a:solidFill>
                <a:latin typeface="Consolas"/>
              </a:rPr>
              <a:t>        </a:t>
            </a:r>
            <a:r>
              <a:rPr lang="en-US" altLang="zh-CN" sz="1200" dirty="0">
                <a:solidFill>
                  <a:srgbClr val="C586C0"/>
                </a:solidFill>
                <a:latin typeface="Consolas"/>
              </a:rPr>
              <a:t>pass</a:t>
            </a:r>
            <a:endParaRPr lang="en-US" altLang="zh-CN" sz="1200" dirty="0">
              <a:solidFill>
                <a:srgbClr val="CCCCCC"/>
              </a:solidFill>
              <a:latin typeface="Consolas"/>
            </a:endParaRPr>
          </a:p>
          <a:p>
            <a:r>
              <a:rPr lang="en-US" altLang="zh-CN" sz="1200" dirty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altLang="zh-CN" sz="1200" dirty="0">
                <a:solidFill>
                  <a:srgbClr val="569CD6"/>
                </a:solidFill>
                <a:latin typeface="Consolas"/>
              </a:rPr>
              <a:t>def</a:t>
            </a:r>
            <a:r>
              <a:rPr lang="en-US" altLang="zh-CN" sz="1200" dirty="0">
                <a:solidFill>
                  <a:srgbClr val="CCCCCC"/>
                </a:solidFill>
                <a:latin typeface="Consolas"/>
              </a:rPr>
              <a:t> </a:t>
            </a:r>
            <a:r>
              <a:rPr lang="en-US" altLang="zh-CN" sz="1200" dirty="0">
                <a:solidFill>
                  <a:srgbClr val="DCDCAA"/>
                </a:solidFill>
                <a:latin typeface="Consolas"/>
              </a:rPr>
              <a:t>setKelvin</a:t>
            </a:r>
            <a:r>
              <a:rPr lang="en-US" altLang="zh-CN" sz="1200" dirty="0">
                <a:solidFill>
                  <a:srgbClr val="CCCCCC"/>
                </a:solidFill>
                <a:latin typeface="Consolas"/>
              </a:rPr>
              <a:t>(</a:t>
            </a:r>
            <a:r>
              <a:rPr lang="en-US" altLang="zh-CN" sz="1200" dirty="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altLang="zh-CN" sz="1200" dirty="0">
                <a:solidFill>
                  <a:srgbClr val="CCCCCC"/>
                </a:solidFill>
                <a:latin typeface="Consolas"/>
              </a:rPr>
              <a:t>):</a:t>
            </a:r>
          </a:p>
          <a:p>
            <a:r>
              <a:rPr lang="en-US" altLang="zh-CN" sz="1200" dirty="0">
                <a:solidFill>
                  <a:srgbClr val="CCCCCC"/>
                </a:solidFill>
                <a:latin typeface="Consolas"/>
              </a:rPr>
              <a:t>        </a:t>
            </a:r>
            <a:r>
              <a:rPr lang="en-US" altLang="zh-CN" sz="1200" dirty="0">
                <a:solidFill>
                  <a:srgbClr val="C586C0"/>
                </a:solidFill>
                <a:latin typeface="Consolas"/>
              </a:rPr>
              <a:t>pass</a:t>
            </a:r>
            <a:endParaRPr lang="en-US" altLang="zh-CN" sz="1200" dirty="0">
              <a:solidFill>
                <a:srgbClr val="CCCCCC"/>
              </a:solidFill>
              <a:latin typeface="Consolas"/>
            </a:endParaRPr>
          </a:p>
          <a:p>
            <a:r>
              <a:rPr lang="en-US" altLang="zh-CN" sz="1200" dirty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altLang="zh-CN" sz="1200" dirty="0">
                <a:solidFill>
                  <a:srgbClr val="569CD6"/>
                </a:solidFill>
                <a:latin typeface="Consolas"/>
              </a:rPr>
              <a:t>def</a:t>
            </a:r>
            <a:r>
              <a:rPr lang="en-US" altLang="zh-CN" sz="1200" dirty="0">
                <a:solidFill>
                  <a:srgbClr val="CCCCCC"/>
                </a:solidFill>
                <a:latin typeface="Consolas"/>
              </a:rPr>
              <a:t> </a:t>
            </a:r>
            <a:r>
              <a:rPr lang="en-US" altLang="zh-CN" sz="1200" dirty="0">
                <a:solidFill>
                  <a:srgbClr val="DCDCAA"/>
                </a:solidFill>
                <a:latin typeface="Consolas"/>
              </a:rPr>
              <a:t>getKelvin</a:t>
            </a:r>
            <a:r>
              <a:rPr lang="en-US" altLang="zh-CN" sz="1200" dirty="0">
                <a:solidFill>
                  <a:srgbClr val="CCCCCC"/>
                </a:solidFill>
                <a:latin typeface="Consolas"/>
              </a:rPr>
              <a:t>(</a:t>
            </a:r>
            <a:r>
              <a:rPr lang="en-US" altLang="zh-CN" sz="1200" dirty="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altLang="zh-CN" sz="1200" dirty="0">
                <a:solidFill>
                  <a:srgbClr val="CCCCCC"/>
                </a:solidFill>
                <a:latin typeface="Consolas"/>
              </a:rPr>
              <a:t>):</a:t>
            </a:r>
          </a:p>
          <a:p>
            <a:r>
              <a:rPr lang="en-US" altLang="zh-CN" sz="1200" dirty="0">
                <a:solidFill>
                  <a:srgbClr val="CCCCCC"/>
                </a:solidFill>
                <a:latin typeface="Consolas"/>
              </a:rPr>
              <a:t>        </a:t>
            </a:r>
            <a:r>
              <a:rPr lang="en-US" altLang="zh-CN" sz="1200" dirty="0">
                <a:solidFill>
                  <a:srgbClr val="C586C0"/>
                </a:solidFill>
                <a:latin typeface="Consolas"/>
              </a:rPr>
              <a:t>pass</a:t>
            </a:r>
            <a:endParaRPr lang="en-US" altLang="zh-CN" sz="1200" b="0" dirty="0">
              <a:solidFill>
                <a:srgbClr val="CCCCCC"/>
              </a:solidFill>
              <a:effectLst/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3725388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4478AF-F905-9626-0922-FF970EDEA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C02FF94-264F-FFCE-0337-DDCEF4419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27D80656-D49C-A9FE-78AF-5DC3B7269A40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Class VS Object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222C224-669F-3C94-3DEE-2505DC81A7AA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AutoShape 2" descr="https://i.pinimg.com/736x/f7/be/bc/f7bebcafbacf057106eee3622de70a28.jpg">
            <a:extLst>
              <a:ext uri="{FF2B5EF4-FFF2-40B4-BE49-F238E27FC236}">
                <a16:creationId xmlns:a16="http://schemas.microsoft.com/office/drawing/2014/main" id="{8F287790-D2BB-B4FB-D8C2-95AA5ED70FA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1664804" y="1993404"/>
            <a:ext cx="5814392" cy="1754326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9CDCFE"/>
                </a:solidFill>
                <a:latin typeface="Consolas" panose="020B0609020204030204" pitchFamily="49" charset="0"/>
              </a:rPr>
              <a:t>guangzhou_temperature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   = </a:t>
            </a:r>
            <a:r>
              <a:rPr lang="en-US" altLang="zh-CN" dirty="0">
                <a:solidFill>
                  <a:srgbClr val="4EC9B0"/>
                </a:solidFill>
                <a:latin typeface="Consolas" panose="020B0609020204030204" pitchFamily="49" charset="0"/>
              </a:rPr>
              <a:t>Temperature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altLang="zh-CN" dirty="0">
                <a:solidFill>
                  <a:srgbClr val="9CDCFE"/>
                </a:solidFill>
                <a:latin typeface="Consolas" panose="020B0609020204030204" pitchFamily="49" charset="0"/>
              </a:rPr>
              <a:t>tokyo_temperature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       = </a:t>
            </a:r>
            <a:r>
              <a:rPr lang="en-US" altLang="zh-CN" dirty="0">
                <a:solidFill>
                  <a:srgbClr val="4EC9B0"/>
                </a:solidFill>
                <a:latin typeface="Consolas" panose="020B0609020204030204" pitchFamily="49" charset="0"/>
              </a:rPr>
              <a:t>Temperature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altLang="zh-CN" dirty="0">
                <a:solidFill>
                  <a:srgbClr val="9CDCFE"/>
                </a:solidFill>
                <a:latin typeface="Consolas" panose="020B0609020204030204" pitchFamily="49" charset="0"/>
              </a:rPr>
              <a:t>hongkong_temperature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    = </a:t>
            </a:r>
            <a:r>
              <a:rPr lang="en-US" altLang="zh-CN" dirty="0">
                <a:solidFill>
                  <a:srgbClr val="4EC9B0"/>
                </a:solidFill>
                <a:latin typeface="Consolas" panose="020B0609020204030204" pitchFamily="49" charset="0"/>
              </a:rPr>
              <a:t>Temperature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altLang="zh-CN" dirty="0">
                <a:solidFill>
                  <a:srgbClr val="9CDCFE"/>
                </a:solidFill>
                <a:latin typeface="Consolas" panose="020B0609020204030204" pitchFamily="49" charset="0"/>
              </a:rPr>
              <a:t>newyork_temperature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     = </a:t>
            </a:r>
            <a:r>
              <a:rPr lang="en-US" altLang="zh-CN" dirty="0">
                <a:solidFill>
                  <a:srgbClr val="4EC9B0"/>
                </a:solidFill>
                <a:latin typeface="Consolas" panose="020B0609020204030204" pitchFamily="49" charset="0"/>
              </a:rPr>
              <a:t>Temperature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altLang="zh-CN" dirty="0">
                <a:solidFill>
                  <a:srgbClr val="9CDCFE"/>
                </a:solidFill>
                <a:latin typeface="Consolas" panose="020B0609020204030204" pitchFamily="49" charset="0"/>
              </a:rPr>
              <a:t>cpu_temperature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         = </a:t>
            </a:r>
            <a:r>
              <a:rPr lang="en-US" altLang="zh-CN" dirty="0">
                <a:solidFill>
                  <a:srgbClr val="4EC9B0"/>
                </a:solidFill>
                <a:latin typeface="Consolas" panose="020B0609020204030204" pitchFamily="49" charset="0"/>
              </a:rPr>
              <a:t>Temperature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altLang="zh-CN" dirty="0">
                <a:solidFill>
                  <a:srgbClr val="9CDCFE"/>
                </a:solidFill>
                <a:latin typeface="Consolas" panose="020B0609020204030204" pitchFamily="49" charset="0"/>
              </a:rPr>
              <a:t>gpu_temperature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         = </a:t>
            </a:r>
            <a:r>
              <a:rPr lang="en-US" altLang="zh-CN" dirty="0">
                <a:solidFill>
                  <a:srgbClr val="4EC9B0"/>
                </a:solidFill>
                <a:latin typeface="Consolas" panose="020B0609020204030204" pitchFamily="49" charset="0"/>
              </a:rPr>
              <a:t>Temperature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()</a:t>
            </a:r>
            <a:endParaRPr lang="en-US" altLang="zh-C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156176" y="1128456"/>
            <a:ext cx="106477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Arial Black" panose="020B0A040201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class</a:t>
            </a:r>
            <a:endParaRPr lang="zh-CN" altLang="en-US" sz="2400" dirty="0"/>
          </a:p>
        </p:txBody>
      </p:sp>
      <p:sp>
        <p:nvSpPr>
          <p:cNvPr id="16" name="矩形 15"/>
          <p:cNvSpPr/>
          <p:nvPr/>
        </p:nvSpPr>
        <p:spPr>
          <a:xfrm>
            <a:off x="1403648" y="1128456"/>
            <a:ext cx="124425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smtClean="0">
                <a:latin typeface="Arial Black" panose="020B0A040201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object</a:t>
            </a:r>
            <a:endParaRPr lang="zh-CN" altLang="en-US" sz="2400" dirty="0"/>
          </a:p>
        </p:txBody>
      </p:sp>
      <p:sp>
        <p:nvSpPr>
          <p:cNvPr id="14" name="下箭头 13"/>
          <p:cNvSpPr/>
          <p:nvPr/>
        </p:nvSpPr>
        <p:spPr>
          <a:xfrm rot="2374935">
            <a:off x="5820499" y="1529779"/>
            <a:ext cx="360040" cy="432048"/>
          </a:xfrm>
          <a:prstGeom prst="downArrow">
            <a:avLst/>
          </a:prstGeom>
          <a:solidFill>
            <a:srgbClr val="4EC9B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下箭头 17"/>
          <p:cNvSpPr/>
          <p:nvPr/>
        </p:nvSpPr>
        <p:spPr>
          <a:xfrm rot="19154187">
            <a:off x="2514222" y="1529817"/>
            <a:ext cx="360040" cy="432048"/>
          </a:xfrm>
          <a:prstGeom prst="downArrow">
            <a:avLst/>
          </a:prstGeom>
          <a:solidFill>
            <a:srgbClr val="94D1F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8333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4478AF-F905-9626-0922-FF970EDEA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C02FF94-264F-FFCE-0337-DDCEF4419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27D80656-D49C-A9FE-78AF-5DC3B7269A40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Class VS Object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222C224-669F-3C94-3DEE-2505DC81A7AA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AutoShape 2" descr="https://i.pinimg.com/736x/f7/be/bc/f7bebcafbacf057106eee3622de70a28.jpg">
            <a:extLst>
              <a:ext uri="{FF2B5EF4-FFF2-40B4-BE49-F238E27FC236}">
                <a16:creationId xmlns:a16="http://schemas.microsoft.com/office/drawing/2014/main" id="{8F287790-D2BB-B4FB-D8C2-95AA5ED70FA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30C5F6B-A382-EAF7-7308-A90F05CD4B38}"/>
              </a:ext>
            </a:extLst>
          </p:cNvPr>
          <p:cNvSpPr/>
          <p:nvPr/>
        </p:nvSpPr>
        <p:spPr>
          <a:xfrm>
            <a:off x="-1980728" y="1129308"/>
            <a:ext cx="8475792" cy="15121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algn="ctr"/>
            <a:r>
              <a:rPr lang="en-US" altLang="zh-CN" sz="5400" b="1" dirty="0" smtClean="0">
                <a:solidFill>
                  <a:schemeClr val="tx1"/>
                </a:solidFill>
                <a:latin typeface="Arial Black" panose="020B0A040201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class</a:t>
            </a:r>
          </a:p>
          <a:p>
            <a:pPr algn="ctr"/>
            <a:r>
              <a:rPr lang="zh-CN" altLang="en-US" sz="4000" b="1" dirty="0">
                <a:solidFill>
                  <a:schemeClr val="tx1"/>
                </a:solidFill>
                <a:latin typeface="Arial Black" panose="020B0A040201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类</a:t>
            </a:r>
            <a:endParaRPr lang="en-US" altLang="zh-CN" sz="4000" b="1" dirty="0">
              <a:solidFill>
                <a:schemeClr val="tx1"/>
              </a:solidFill>
              <a:latin typeface="Arial Black" panose="020B0A040201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30C5F6B-A382-EAF7-7308-A90F05CD4B38}"/>
              </a:ext>
            </a:extLst>
          </p:cNvPr>
          <p:cNvSpPr/>
          <p:nvPr/>
        </p:nvSpPr>
        <p:spPr>
          <a:xfrm>
            <a:off x="2123728" y="1129308"/>
            <a:ext cx="8475792" cy="15121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algn="ctr"/>
            <a:r>
              <a:rPr lang="en-US" altLang="zh-CN" sz="5400" b="1" dirty="0" smtClean="0">
                <a:solidFill>
                  <a:schemeClr val="tx1"/>
                </a:solidFill>
                <a:latin typeface="Arial Black" panose="020B0A040201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object</a:t>
            </a:r>
          </a:p>
          <a:p>
            <a:pPr algn="ctr"/>
            <a:r>
              <a:rPr lang="zh-CN" altLang="en-US" sz="4000" b="1" dirty="0" smtClean="0">
                <a:solidFill>
                  <a:schemeClr val="tx1"/>
                </a:solidFill>
                <a:latin typeface="Arial Black" panose="020B0A040201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对象</a:t>
            </a:r>
            <a:endParaRPr lang="en-US" altLang="zh-CN" sz="4000" b="1" dirty="0">
              <a:solidFill>
                <a:schemeClr val="tx1"/>
              </a:solidFill>
              <a:latin typeface="Arial Black" panose="020B0A040201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30C5F6B-A382-EAF7-7308-A90F05CD4B38}"/>
              </a:ext>
            </a:extLst>
          </p:cNvPr>
          <p:cNvSpPr/>
          <p:nvPr/>
        </p:nvSpPr>
        <p:spPr>
          <a:xfrm>
            <a:off x="-1980728" y="3401005"/>
            <a:ext cx="8475792" cy="15121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algn="ctr"/>
            <a:r>
              <a:rPr lang="en-US" altLang="zh-CN" sz="5400" b="1" dirty="0" smtClean="0">
                <a:solidFill>
                  <a:schemeClr val="bg1">
                    <a:lumMod val="85000"/>
                  </a:schemeClr>
                </a:solidFill>
                <a:latin typeface="Arial Black" panose="020B0A040201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type</a:t>
            </a:r>
          </a:p>
          <a:p>
            <a:pPr algn="ctr"/>
            <a:r>
              <a:rPr lang="zh-CN" altLang="en-US" sz="4000" b="1" dirty="0" smtClean="0">
                <a:solidFill>
                  <a:schemeClr val="bg1">
                    <a:lumMod val="85000"/>
                  </a:schemeClr>
                </a:solidFill>
                <a:latin typeface="Arial Black" panose="020B0A040201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数据类型</a:t>
            </a:r>
            <a:endParaRPr lang="en-US" altLang="zh-CN" sz="4000" b="1" dirty="0">
              <a:solidFill>
                <a:schemeClr val="bg1">
                  <a:lumMod val="85000"/>
                </a:schemeClr>
              </a:solidFill>
              <a:latin typeface="Arial Black" panose="020B0A040201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30C5F6B-A382-EAF7-7308-A90F05CD4B38}"/>
              </a:ext>
            </a:extLst>
          </p:cNvPr>
          <p:cNvSpPr/>
          <p:nvPr/>
        </p:nvSpPr>
        <p:spPr>
          <a:xfrm>
            <a:off x="2123728" y="3401005"/>
            <a:ext cx="8475792" cy="15121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algn="ctr"/>
            <a:r>
              <a:rPr lang="en-US" altLang="zh-CN" sz="5400" b="1" dirty="0" smtClean="0">
                <a:solidFill>
                  <a:schemeClr val="bg1">
                    <a:lumMod val="85000"/>
                  </a:schemeClr>
                </a:solidFill>
                <a:latin typeface="Arial Black" panose="020B0A040201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variable</a:t>
            </a:r>
          </a:p>
          <a:p>
            <a:pPr algn="ctr"/>
            <a:r>
              <a:rPr lang="zh-CN" altLang="en-US" sz="4000" b="1" dirty="0" smtClean="0">
                <a:solidFill>
                  <a:schemeClr val="bg1">
                    <a:lumMod val="85000"/>
                  </a:schemeClr>
                </a:solidFill>
                <a:latin typeface="Arial Black" panose="020B0A040201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变量</a:t>
            </a:r>
            <a:endParaRPr lang="en-US" altLang="zh-CN" sz="4000" b="1" dirty="0">
              <a:solidFill>
                <a:schemeClr val="bg1">
                  <a:lumMod val="85000"/>
                </a:schemeClr>
              </a:solidFill>
              <a:latin typeface="Arial Black" panose="020B0A040201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右箭头 2"/>
          <p:cNvSpPr/>
          <p:nvPr/>
        </p:nvSpPr>
        <p:spPr>
          <a:xfrm>
            <a:off x="3909603" y="1561356"/>
            <a:ext cx="792088" cy="936104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右箭头 10"/>
          <p:cNvSpPr/>
          <p:nvPr/>
        </p:nvSpPr>
        <p:spPr>
          <a:xfrm>
            <a:off x="3909603" y="3689037"/>
            <a:ext cx="792088" cy="936104"/>
          </a:xfrm>
          <a:prstGeom prst="rightArrow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 rot="5400000">
            <a:off x="2852166" y="2414672"/>
            <a:ext cx="29069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200" dirty="0" smtClean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endParaRPr lang="zh-CN" altLang="en-US" sz="7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1382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4478AF-F905-9626-0922-FF970EDEA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C02FF94-264F-FFCE-0337-DDCEF4419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27D80656-D49C-A9FE-78AF-5DC3B7269A40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What is </a:t>
            </a:r>
            <a:r>
              <a: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self</a:t>
            </a:r>
            <a:r>
              <a: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?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222C224-669F-3C94-3DEE-2505DC81A7AA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AutoShape 2" descr="https://i.pinimg.com/736x/f7/be/bc/f7bebcafbacf057106eee3622de70a28.jpg">
            <a:extLst>
              <a:ext uri="{FF2B5EF4-FFF2-40B4-BE49-F238E27FC236}">
                <a16:creationId xmlns:a16="http://schemas.microsoft.com/office/drawing/2014/main" id="{8F287790-D2BB-B4FB-D8C2-95AA5ED70FA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30C5F6B-A382-EAF7-7308-A90F05CD4B38}"/>
              </a:ext>
            </a:extLst>
          </p:cNvPr>
          <p:cNvSpPr/>
          <p:nvPr/>
        </p:nvSpPr>
        <p:spPr>
          <a:xfrm>
            <a:off x="425072" y="838359"/>
            <a:ext cx="8475792" cy="8670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 </a:t>
            </a: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reference to the current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instance of a class. It's how an object refers to its own attributes and methods.</a:t>
            </a:r>
            <a:endParaRPr lang="en-US" altLang="zh-CN" sz="16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19668" y="2065412"/>
            <a:ext cx="7686600" cy="258532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class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4EC9B0"/>
                </a:solidFill>
                <a:latin typeface="Consolas" panose="020B0609020204030204" pitchFamily="49" charset="0"/>
              </a:rPr>
              <a:t>Dog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def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DCDCAA"/>
                </a:solidFill>
                <a:latin typeface="Consolas" panose="020B0609020204030204" pitchFamily="49" charset="0"/>
              </a:rPr>
              <a:t>__init__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altLang="zh-CN" dirty="0">
                <a:solidFill>
                  <a:srgbClr val="9CDCFE"/>
                </a:solidFill>
                <a:latin typeface="Consolas" panose="020B0609020204030204" pitchFamily="49" charset="0"/>
              </a:rPr>
              <a:t>name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zh-CN" dirty="0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zh-CN" dirty="0">
                <a:solidFill>
                  <a:srgbClr val="9CDCFE"/>
                </a:solidFill>
                <a:latin typeface="Consolas" panose="020B0609020204030204" pitchFamily="49" charset="0"/>
              </a:rPr>
              <a:t>name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altLang="zh-CN" dirty="0">
                <a:solidFill>
                  <a:srgbClr val="9CDCFE"/>
                </a:solidFill>
                <a:latin typeface="Consolas" panose="020B0609020204030204" pitchFamily="49" charset="0"/>
              </a:rPr>
              <a:t>name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      </a:t>
            </a:r>
            <a:r>
              <a:rPr lang="en-US" altLang="zh-CN" dirty="0">
                <a:solidFill>
                  <a:srgbClr val="6A9955"/>
                </a:solidFill>
                <a:latin typeface="Consolas" panose="020B0609020204030204" pitchFamily="49" charset="0"/>
              </a:rPr>
              <a:t># store on THIS instance</a:t>
            </a:r>
            <a:endParaRPr lang="en-US" altLang="zh-CN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/>
            </a:r>
            <a:b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def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DCDCAA"/>
                </a:solidFill>
                <a:latin typeface="Consolas" panose="020B0609020204030204" pitchFamily="49" charset="0"/>
              </a:rPr>
              <a:t>bark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zh-CN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%s</a:t>
            </a:r>
            <a:r>
              <a:rPr lang="en-US" altLang="zh-CN" dirty="0">
                <a:solidFill>
                  <a:srgbClr val="CE9178"/>
                </a:solidFill>
                <a:latin typeface="Consolas" panose="020B0609020204030204" pitchFamily="49" charset="0"/>
              </a:rPr>
              <a:t> says woof!"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 % (</a:t>
            </a:r>
            <a:r>
              <a:rPr lang="en-US" altLang="zh-CN" dirty="0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zh-CN" dirty="0">
                <a:solidFill>
                  <a:srgbClr val="9CDCFE"/>
                </a:solidFill>
                <a:latin typeface="Consolas" panose="020B0609020204030204" pitchFamily="49" charset="0"/>
              </a:rPr>
              <a:t>name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))</a:t>
            </a: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/>
            </a:r>
            <a:b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9CDCFE"/>
                </a:solidFill>
                <a:latin typeface="Consolas" panose="020B0609020204030204" pitchFamily="49" charset="0"/>
              </a:rPr>
              <a:t>d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altLang="zh-CN" dirty="0">
                <a:solidFill>
                  <a:srgbClr val="4EC9B0"/>
                </a:solidFill>
                <a:latin typeface="Consolas" panose="020B0609020204030204" pitchFamily="49" charset="0"/>
              </a:rPr>
              <a:t>Dog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CE9178"/>
                </a:solidFill>
                <a:latin typeface="Consolas" panose="020B0609020204030204" pitchFamily="49" charset="0"/>
              </a:rPr>
              <a:t>"Rex"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zh-CN" dirty="0">
                <a:solidFill>
                  <a:srgbClr val="9CDCFE"/>
                </a:solidFill>
                <a:latin typeface="Consolas" panose="020B0609020204030204" pitchFamily="49" charset="0"/>
              </a:rPr>
              <a:t>d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zh-CN" dirty="0">
                <a:solidFill>
                  <a:srgbClr val="DCDCAA"/>
                </a:solidFill>
                <a:latin typeface="Consolas" panose="020B0609020204030204" pitchFamily="49" charset="0"/>
              </a:rPr>
              <a:t>bark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()      </a:t>
            </a:r>
            <a:r>
              <a:rPr lang="en-US" altLang="zh-CN" dirty="0">
                <a:solidFill>
                  <a:srgbClr val="6A9955"/>
                </a:solidFill>
                <a:latin typeface="Consolas" panose="020B0609020204030204" pitchFamily="49" charset="0"/>
              </a:rPr>
              <a:t># Rex says woof!</a:t>
            </a:r>
            <a:endParaRPr lang="en-US" altLang="zh-C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9786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4478AF-F905-9626-0922-FF970EDEA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C02FF94-264F-FFCE-0337-DDCEF4419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22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27D80656-D49C-A9FE-78AF-5DC3B7269A40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Temperature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222C224-669F-3C94-3DEE-2505DC81A7AA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AutoShape 2" descr="https://i.pinimg.com/736x/f7/be/bc/f7bebcafbacf057106eee3622de70a28.jpg">
            <a:extLst>
              <a:ext uri="{FF2B5EF4-FFF2-40B4-BE49-F238E27FC236}">
                <a16:creationId xmlns:a16="http://schemas.microsoft.com/office/drawing/2014/main" id="{8F287790-D2BB-B4FB-D8C2-95AA5ED70FA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30C5F6B-A382-EAF7-7308-A90F05CD4B38}"/>
              </a:ext>
            </a:extLst>
          </p:cNvPr>
          <p:cNvSpPr/>
          <p:nvPr/>
        </p:nvSpPr>
        <p:spPr>
          <a:xfrm>
            <a:off x="272672" y="841276"/>
            <a:ext cx="8475792" cy="23042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342900" indent="-342900">
              <a:lnSpc>
                <a:spcPct val="150000"/>
              </a:lnSpc>
              <a:buFont typeface="+mj-lt"/>
              <a:buAutoNum type="arabicPeriod" startAt="2"/>
            </a:pPr>
            <a:endParaRPr lang="en-US" altLang="zh-CN" b="1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 startAt="2"/>
            </a:pPr>
            <a:endParaRPr lang="en-US" altLang="zh-CN" b="1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30C5F6B-A382-EAF7-7308-A90F05CD4B38}"/>
              </a:ext>
            </a:extLst>
          </p:cNvPr>
          <p:cNvSpPr/>
          <p:nvPr/>
        </p:nvSpPr>
        <p:spPr>
          <a:xfrm>
            <a:off x="425072" y="838359"/>
            <a:ext cx="8475792" cy="23042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Basic relationships</a:t>
            </a: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Celsius (°C) and Kelvin (K): K = °C + 273.15</a:t>
            </a:r>
          </a:p>
          <a:p>
            <a:pPr lvl="1">
              <a:lnSpc>
                <a:spcPct val="150000"/>
              </a:lnSpc>
            </a:pPr>
            <a:r>
              <a:rPr lang="en-US" altLang="zh-CN" sz="16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Celsius 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(°C) and Fahrenheit (°F): °F = °C × 1.8 + 32</a:t>
            </a:r>
          </a:p>
          <a:p>
            <a:pPr lvl="1">
              <a:lnSpc>
                <a:spcPct val="150000"/>
              </a:lnSpc>
            </a:pPr>
            <a:r>
              <a:rPr lang="en-US" altLang="zh-CN" sz="16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Fahrenheit 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(°F) and Kelvin (K): K = (°F − 32) ÷ 1.8 + </a:t>
            </a:r>
            <a:r>
              <a:rPr lang="en-US" altLang="zh-CN" sz="16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273.15</a:t>
            </a:r>
          </a:p>
          <a:p>
            <a:pPr lvl="1">
              <a:lnSpc>
                <a:spcPct val="150000"/>
              </a:lnSpc>
            </a:pPr>
            <a:endParaRPr lang="en-US" altLang="zh-CN" sz="1600" dirty="0" smtClean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Kelvin </a:t>
            </a: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cannot be negative</a:t>
            </a:r>
          </a:p>
          <a:p>
            <a:pPr lvl="1">
              <a:lnSpc>
                <a:spcPct val="150000"/>
              </a:lnSpc>
            </a:pPr>
            <a:endParaRPr lang="en-US" altLang="zh-CN" sz="16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4661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4478AF-F905-9626-0922-FF970EDEA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C02FF94-264F-FFCE-0337-DDCEF4419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27D80656-D49C-A9FE-78AF-5DC3B7269A40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Circle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222C224-669F-3C94-3DEE-2505DC81A7AA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AutoShape 2" descr="https://i.pinimg.com/736x/f7/be/bc/f7bebcafbacf057106eee3622de70a28.jpg">
            <a:extLst>
              <a:ext uri="{FF2B5EF4-FFF2-40B4-BE49-F238E27FC236}">
                <a16:creationId xmlns:a16="http://schemas.microsoft.com/office/drawing/2014/main" id="{8F287790-D2BB-B4FB-D8C2-95AA5ED70FA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30C5F6B-A382-EAF7-7308-A90F05CD4B38}"/>
              </a:ext>
            </a:extLst>
          </p:cNvPr>
          <p:cNvSpPr/>
          <p:nvPr/>
        </p:nvSpPr>
        <p:spPr>
          <a:xfrm>
            <a:off x="272672" y="841276"/>
            <a:ext cx="8475792" cy="23042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342900" indent="-342900">
              <a:lnSpc>
                <a:spcPct val="150000"/>
              </a:lnSpc>
              <a:buFont typeface="+mj-lt"/>
              <a:buAutoNum type="arabicPeriod" startAt="2"/>
            </a:pPr>
            <a:endParaRPr lang="en-US" altLang="zh-CN" b="1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 startAt="2"/>
            </a:pPr>
            <a:endParaRPr lang="en-US" altLang="zh-CN" b="1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30C5F6B-A382-EAF7-7308-A90F05CD4B38}"/>
              </a:ext>
            </a:extLst>
          </p:cNvPr>
          <p:cNvSpPr/>
          <p:nvPr/>
        </p:nvSpPr>
        <p:spPr>
          <a:xfrm>
            <a:off x="425072" y="838359"/>
            <a:ext cx="8475792" cy="23042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Basic relationships</a:t>
            </a:r>
          </a:p>
          <a:p>
            <a:pPr lvl="1">
              <a:lnSpc>
                <a:spcPct val="150000"/>
              </a:lnSpc>
            </a:pPr>
            <a:r>
              <a:rPr lang="en-US" altLang="zh-CN" sz="16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 = 2*pi * r</a:t>
            </a:r>
          </a:p>
          <a:p>
            <a:pPr lvl="1">
              <a:lnSpc>
                <a:spcPct val="150000"/>
              </a:lnSpc>
            </a:pPr>
            <a:r>
              <a:rPr lang="en-US" altLang="zh-CN" sz="16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 = pi * r * r</a:t>
            </a:r>
          </a:p>
          <a:p>
            <a:pPr lvl="1">
              <a:lnSpc>
                <a:spcPct val="150000"/>
              </a:lnSpc>
            </a:pPr>
            <a:endParaRPr lang="en-US" altLang="zh-CN" sz="1600" dirty="0" smtClean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Radius should be positive</a:t>
            </a:r>
            <a:endParaRPr lang="en-US" altLang="zh-CN" b="1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endParaRPr lang="en-US" altLang="zh-CN" sz="16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1926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4478AF-F905-9626-0922-FF970EDEA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C02FF94-264F-FFCE-0337-DDCEF4419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24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27D80656-D49C-A9FE-78AF-5DC3B7269A40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BankAccount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222C224-669F-3C94-3DEE-2505DC81A7AA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AutoShape 2" descr="https://i.pinimg.com/736x/f7/be/bc/f7bebcafbacf057106eee3622de70a28.jpg">
            <a:extLst>
              <a:ext uri="{FF2B5EF4-FFF2-40B4-BE49-F238E27FC236}">
                <a16:creationId xmlns:a16="http://schemas.microsoft.com/office/drawing/2014/main" id="{8F287790-D2BB-B4FB-D8C2-95AA5ED70FA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30C5F6B-A382-EAF7-7308-A90F05CD4B38}"/>
              </a:ext>
            </a:extLst>
          </p:cNvPr>
          <p:cNvSpPr/>
          <p:nvPr/>
        </p:nvSpPr>
        <p:spPr>
          <a:xfrm>
            <a:off x="272672" y="841276"/>
            <a:ext cx="8475792" cy="23042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342900" indent="-342900">
              <a:lnSpc>
                <a:spcPct val="150000"/>
              </a:lnSpc>
              <a:buFont typeface="+mj-lt"/>
              <a:buAutoNum type="arabicPeriod" startAt="2"/>
            </a:pPr>
            <a:endParaRPr lang="en-US" altLang="zh-CN" b="1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 startAt="2"/>
            </a:pPr>
            <a:endParaRPr lang="en-US" altLang="zh-CN" b="1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6214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4478AF-F905-9626-0922-FF970EDEA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C02FF94-264F-FFCE-0337-DDCEF4419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25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27D80656-D49C-A9FE-78AF-5DC3B7269A40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Special (</a:t>
            </a:r>
            <a:r>
              <a: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Magic) </a:t>
            </a: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Methods in Python Classes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222C224-669F-3C94-3DEE-2505DC81A7AA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AutoShape 2" descr="https://i.pinimg.com/736x/f7/be/bc/f7bebcafbacf057106eee3622de70a28.jpg">
            <a:extLst>
              <a:ext uri="{FF2B5EF4-FFF2-40B4-BE49-F238E27FC236}">
                <a16:creationId xmlns:a16="http://schemas.microsoft.com/office/drawing/2014/main" id="{8F287790-D2BB-B4FB-D8C2-95AA5ED70FA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30C5F6B-A382-EAF7-7308-A90F05CD4B38}"/>
              </a:ext>
            </a:extLst>
          </p:cNvPr>
          <p:cNvSpPr/>
          <p:nvPr/>
        </p:nvSpPr>
        <p:spPr>
          <a:xfrm>
            <a:off x="272672" y="841276"/>
            <a:ext cx="8475792" cy="23042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342900" indent="-342900">
              <a:lnSpc>
                <a:spcPct val="150000"/>
              </a:lnSpc>
              <a:buFont typeface="+mj-lt"/>
              <a:buAutoNum type="arabicPeriod" startAt="2"/>
            </a:pPr>
            <a:endParaRPr lang="en-US" altLang="zh-CN" b="1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 startAt="2"/>
            </a:pPr>
            <a:endParaRPr lang="en-US" altLang="zh-CN" b="1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30C5F6B-A382-EAF7-7308-A90F05CD4B38}"/>
              </a:ext>
            </a:extLst>
          </p:cNvPr>
          <p:cNvSpPr/>
          <p:nvPr/>
        </p:nvSpPr>
        <p:spPr>
          <a:xfrm>
            <a:off x="425072" y="838359"/>
            <a:ext cx="8475792" cy="23042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Special methods (also called magic methods or dunder methods) are </a:t>
            </a: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predefined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methods with </a:t>
            </a: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double underscores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(__method__) that let your classes integrate with Python's built-in features.</a:t>
            </a:r>
            <a:endParaRPr lang="en-US" altLang="zh-CN" sz="16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7762" y="2353444"/>
            <a:ext cx="4025611" cy="2696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249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4478AF-F905-9626-0922-FF970EDEA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C02FF94-264F-FFCE-0337-DDCEF4419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26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27D80656-D49C-A9FE-78AF-5DC3B7269A40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Special (</a:t>
            </a:r>
            <a:r>
              <a: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Magic) </a:t>
            </a: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Methods in Python Classes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222C224-669F-3C94-3DEE-2505DC81A7AA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AutoShape 2" descr="https://i.pinimg.com/736x/f7/be/bc/f7bebcafbacf057106eee3622de70a28.jpg">
            <a:extLst>
              <a:ext uri="{FF2B5EF4-FFF2-40B4-BE49-F238E27FC236}">
                <a16:creationId xmlns:a16="http://schemas.microsoft.com/office/drawing/2014/main" id="{8F287790-D2BB-B4FB-D8C2-95AA5ED70FA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30C5F6B-A382-EAF7-7308-A90F05CD4B38}"/>
              </a:ext>
            </a:extLst>
          </p:cNvPr>
          <p:cNvSpPr/>
          <p:nvPr/>
        </p:nvSpPr>
        <p:spPr>
          <a:xfrm>
            <a:off x="272672" y="841276"/>
            <a:ext cx="8475792" cy="23042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342900" indent="-342900">
              <a:lnSpc>
                <a:spcPct val="150000"/>
              </a:lnSpc>
              <a:buFont typeface="+mj-lt"/>
              <a:buAutoNum type="arabicPeriod" startAt="2"/>
            </a:pPr>
            <a:endParaRPr lang="en-US" altLang="zh-CN" b="1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 startAt="2"/>
            </a:pPr>
            <a:endParaRPr lang="en-US" altLang="zh-CN" b="1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03548" y="1355199"/>
            <a:ext cx="8136904" cy="3662541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569CD6"/>
                </a:solidFill>
                <a:latin typeface="Consolas" panose="020B0609020204030204" pitchFamily="49" charset="0"/>
              </a:rPr>
              <a:t>class</a:t>
            </a:r>
            <a:r>
              <a:rPr lang="en-US" altLang="zh-CN" sz="16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4EC9B0"/>
                </a:solidFill>
                <a:latin typeface="Consolas" panose="020B0609020204030204" pitchFamily="49" charset="0"/>
              </a:rPr>
              <a:t>Example</a:t>
            </a:r>
            <a:r>
              <a:rPr lang="en-US" altLang="zh-CN" sz="1600" dirty="0">
                <a:solidFill>
                  <a:srgbClr val="D4D4D4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altLang="zh-CN" sz="16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US" altLang="zh-CN" sz="1600" dirty="0">
                <a:solidFill>
                  <a:srgbClr val="569CD6"/>
                </a:solidFill>
                <a:latin typeface="Consolas" panose="020B0609020204030204" pitchFamily="49" charset="0"/>
              </a:rPr>
              <a:t>def</a:t>
            </a:r>
            <a:r>
              <a:rPr lang="en-US" altLang="zh-CN" sz="16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DCDCAA"/>
                </a:solidFill>
                <a:latin typeface="Consolas" panose="020B0609020204030204" pitchFamily="49" charset="0"/>
              </a:rPr>
              <a:t>__new__</a:t>
            </a:r>
            <a:r>
              <a:rPr lang="en-US" altLang="zh-CN" sz="16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600" dirty="0">
                <a:solidFill>
                  <a:srgbClr val="9CDCFE"/>
                </a:solidFill>
                <a:latin typeface="Consolas" panose="020B0609020204030204" pitchFamily="49" charset="0"/>
              </a:rPr>
              <a:t>cls</a:t>
            </a:r>
            <a:r>
              <a:rPr lang="en-US" altLang="zh-CN" sz="1600" dirty="0">
                <a:solidFill>
                  <a:srgbClr val="D4D4D4"/>
                </a:solidFill>
                <a:latin typeface="Consolas" panose="020B0609020204030204" pitchFamily="49" charset="0"/>
              </a:rPr>
              <a:t>, *</a:t>
            </a:r>
            <a:r>
              <a:rPr lang="en-US" altLang="zh-CN" sz="1600" dirty="0">
                <a:solidFill>
                  <a:srgbClr val="9CDCFE"/>
                </a:solidFill>
                <a:latin typeface="Consolas" panose="020B0609020204030204" pitchFamily="49" charset="0"/>
              </a:rPr>
              <a:t>args</a:t>
            </a:r>
            <a:r>
              <a:rPr lang="en-US" altLang="zh-CN" sz="1600" dirty="0">
                <a:solidFill>
                  <a:srgbClr val="D4D4D4"/>
                </a:solidFill>
                <a:latin typeface="Consolas" panose="020B0609020204030204" pitchFamily="49" charset="0"/>
              </a:rPr>
              <a:t>, **</a:t>
            </a:r>
            <a:r>
              <a:rPr lang="en-US" altLang="zh-CN" sz="1600" dirty="0">
                <a:solidFill>
                  <a:srgbClr val="9CDCFE"/>
                </a:solidFill>
                <a:latin typeface="Consolas" panose="020B0609020204030204" pitchFamily="49" charset="0"/>
              </a:rPr>
              <a:t>kwargs</a:t>
            </a:r>
            <a:r>
              <a:rPr lang="en-US" altLang="zh-CN" sz="1600" dirty="0">
                <a:solidFill>
                  <a:srgbClr val="D4D4D4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altLang="zh-CN" sz="16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zh-CN" sz="1600" dirty="0">
                <a:solidFill>
                  <a:srgbClr val="CE9178"/>
                </a:solidFill>
                <a:latin typeface="Consolas" panose="020B0609020204030204" pitchFamily="49" charset="0"/>
              </a:rPr>
              <a:t>"""Called before __init__ to create the instance."""</a:t>
            </a:r>
            <a:endParaRPr lang="en-US" altLang="zh-CN" sz="16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altLang="zh-CN" sz="16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zh-CN" sz="1600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sz="16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600" dirty="0">
                <a:solidFill>
                  <a:srgbClr val="CE9178"/>
                </a:solidFill>
                <a:latin typeface="Consolas" panose="020B0609020204030204" pitchFamily="49" charset="0"/>
              </a:rPr>
              <a:t>"Creating instance"</a:t>
            </a:r>
            <a:r>
              <a:rPr lang="en-US" altLang="zh-CN" sz="1600" dirty="0">
                <a:solidFill>
                  <a:srgbClr val="D4D4D4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6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zh-CN" sz="160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sz="16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4EC9B0"/>
                </a:solidFill>
                <a:latin typeface="Consolas" panose="020B0609020204030204" pitchFamily="49" charset="0"/>
              </a:rPr>
              <a:t>super</a:t>
            </a:r>
            <a:r>
              <a:rPr lang="en-US" altLang="zh-CN" sz="1600" dirty="0">
                <a:solidFill>
                  <a:srgbClr val="D4D4D4"/>
                </a:solidFill>
                <a:latin typeface="Consolas" panose="020B0609020204030204" pitchFamily="49" charset="0"/>
              </a:rPr>
              <a:t>().</a:t>
            </a:r>
            <a:r>
              <a:rPr lang="en-US" altLang="zh-CN" sz="1600" dirty="0">
                <a:solidFill>
                  <a:srgbClr val="DCDCAA"/>
                </a:solidFill>
                <a:latin typeface="Consolas" panose="020B0609020204030204" pitchFamily="49" charset="0"/>
              </a:rPr>
              <a:t>__new__</a:t>
            </a:r>
            <a:r>
              <a:rPr lang="en-US" altLang="zh-CN" sz="16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600" dirty="0">
                <a:solidFill>
                  <a:srgbClr val="9CDCFE"/>
                </a:solidFill>
                <a:latin typeface="Consolas" panose="020B0609020204030204" pitchFamily="49" charset="0"/>
              </a:rPr>
              <a:t>cls</a:t>
            </a:r>
            <a:r>
              <a:rPr lang="en-US" altLang="zh-CN" sz="1600" dirty="0">
                <a:solidFill>
                  <a:srgbClr val="D4D4D4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6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</a:p>
          <a:p>
            <a:r>
              <a:rPr lang="en-US" altLang="zh-CN" sz="16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US" altLang="zh-CN" sz="1600" dirty="0">
                <a:solidFill>
                  <a:srgbClr val="569CD6"/>
                </a:solidFill>
                <a:latin typeface="Consolas" panose="020B0609020204030204" pitchFamily="49" charset="0"/>
              </a:rPr>
              <a:t>def</a:t>
            </a:r>
            <a:r>
              <a:rPr lang="en-US" altLang="zh-CN" sz="16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DCDCAA"/>
                </a:solidFill>
                <a:latin typeface="Consolas" panose="020B0609020204030204" pitchFamily="49" charset="0"/>
              </a:rPr>
              <a:t>__init__</a:t>
            </a:r>
            <a:r>
              <a:rPr lang="en-US" altLang="zh-CN" sz="16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600" dirty="0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en-US" altLang="zh-CN" sz="1600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altLang="zh-CN" sz="1600" dirty="0">
                <a:solidFill>
                  <a:srgbClr val="9CDCFE"/>
                </a:solidFill>
                <a:latin typeface="Consolas" panose="020B0609020204030204" pitchFamily="49" charset="0"/>
              </a:rPr>
              <a:t>value</a:t>
            </a:r>
            <a:r>
              <a:rPr lang="en-US" altLang="zh-CN" sz="1600" dirty="0">
                <a:solidFill>
                  <a:srgbClr val="D4D4D4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altLang="zh-CN" sz="16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zh-CN" sz="1600" dirty="0">
                <a:solidFill>
                  <a:srgbClr val="CE9178"/>
                </a:solidFill>
                <a:latin typeface="Consolas" panose="020B0609020204030204" pitchFamily="49" charset="0"/>
              </a:rPr>
              <a:t>"""Called to initialize the instance."""</a:t>
            </a:r>
            <a:endParaRPr lang="en-US" altLang="zh-CN" sz="16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altLang="zh-CN" sz="16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zh-CN" sz="1600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sz="16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600" dirty="0">
                <a:solidFill>
                  <a:srgbClr val="CE9178"/>
                </a:solidFill>
                <a:latin typeface="Consolas" panose="020B0609020204030204" pitchFamily="49" charset="0"/>
              </a:rPr>
              <a:t>"Initializing instance"</a:t>
            </a:r>
            <a:r>
              <a:rPr lang="en-US" altLang="zh-CN" sz="1600" dirty="0">
                <a:solidFill>
                  <a:srgbClr val="D4D4D4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6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zh-CN" sz="1600" dirty="0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en-US" altLang="zh-CN" sz="1600" dirty="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600" dirty="0">
                <a:solidFill>
                  <a:srgbClr val="9CDCFE"/>
                </a:solidFill>
                <a:latin typeface="Consolas" panose="020B0609020204030204" pitchFamily="49" charset="0"/>
              </a:rPr>
              <a:t>value</a:t>
            </a:r>
            <a:r>
              <a:rPr lang="en-US" altLang="zh-CN" sz="1600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altLang="zh-CN" sz="1600" dirty="0">
                <a:solidFill>
                  <a:srgbClr val="9CDCFE"/>
                </a:solidFill>
                <a:latin typeface="Consolas" panose="020B0609020204030204" pitchFamily="49" charset="0"/>
              </a:rPr>
              <a:t>value</a:t>
            </a:r>
            <a:endParaRPr lang="en-US" altLang="zh-CN" sz="16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altLang="zh-CN" sz="16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</a:p>
          <a:p>
            <a:r>
              <a:rPr lang="en-US" altLang="zh-CN" sz="16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US" altLang="zh-CN" sz="1600" dirty="0">
                <a:solidFill>
                  <a:srgbClr val="569CD6"/>
                </a:solidFill>
                <a:latin typeface="Consolas" panose="020B0609020204030204" pitchFamily="49" charset="0"/>
              </a:rPr>
              <a:t>def</a:t>
            </a:r>
            <a:r>
              <a:rPr lang="en-US" altLang="zh-CN" sz="16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DCDCAA"/>
                </a:solidFill>
                <a:latin typeface="Consolas" panose="020B0609020204030204" pitchFamily="49" charset="0"/>
              </a:rPr>
              <a:t>__del__</a:t>
            </a:r>
            <a:r>
              <a:rPr lang="en-US" altLang="zh-CN" sz="16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600" dirty="0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en-US" altLang="zh-CN" sz="1600" dirty="0">
                <a:solidFill>
                  <a:srgbClr val="D4D4D4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altLang="zh-CN" sz="16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zh-CN" sz="1600" dirty="0">
                <a:solidFill>
                  <a:srgbClr val="CE9178"/>
                </a:solidFill>
                <a:latin typeface="Consolas" panose="020B0609020204030204" pitchFamily="49" charset="0"/>
              </a:rPr>
              <a:t>"""Called when the object is about to be destroyed."""</a:t>
            </a:r>
            <a:endParaRPr lang="en-US" altLang="zh-CN" sz="16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altLang="zh-CN" sz="16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zh-CN" sz="1600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sz="16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600" dirty="0">
                <a:solidFill>
                  <a:srgbClr val="CE9178"/>
                </a:solidFill>
                <a:latin typeface="Consolas" panose="020B0609020204030204" pitchFamily="49" charset="0"/>
              </a:rPr>
              <a:t>"Destroying instance"</a:t>
            </a:r>
            <a:r>
              <a:rPr lang="en-US" altLang="zh-CN" sz="1600" dirty="0">
                <a:solidFill>
                  <a:srgbClr val="D4D4D4"/>
                </a:solidFill>
                <a:latin typeface="Consolas" panose="020B0609020204030204" pitchFamily="49" charset="0"/>
              </a:rPr>
              <a:t>)</a:t>
            </a:r>
            <a:endParaRPr lang="en-US" altLang="zh-CN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30C5F6B-A382-EAF7-7308-A90F05CD4B38}"/>
              </a:ext>
            </a:extLst>
          </p:cNvPr>
          <p:cNvSpPr/>
          <p:nvPr/>
        </p:nvSpPr>
        <p:spPr>
          <a:xfrm>
            <a:off x="425072" y="838359"/>
            <a:ext cx="8475792" cy="23042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Object </a:t>
            </a: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Lifecycle</a:t>
            </a:r>
            <a:endParaRPr lang="en-US" altLang="zh-CN" sz="1600" b="1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4104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4478AF-F905-9626-0922-FF970EDEA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C02FF94-264F-FFCE-0337-DDCEF4419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27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27D80656-D49C-A9FE-78AF-5DC3B7269A40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Special (</a:t>
            </a:r>
            <a:r>
              <a: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Magic) </a:t>
            </a: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Methods in Python Classes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222C224-669F-3C94-3DEE-2505DC81A7AA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AutoShape 2" descr="https://i.pinimg.com/736x/f7/be/bc/f7bebcafbacf057106eee3622de70a28.jpg">
            <a:extLst>
              <a:ext uri="{FF2B5EF4-FFF2-40B4-BE49-F238E27FC236}">
                <a16:creationId xmlns:a16="http://schemas.microsoft.com/office/drawing/2014/main" id="{8F287790-D2BB-B4FB-D8C2-95AA5ED70FA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30C5F6B-A382-EAF7-7308-A90F05CD4B38}"/>
              </a:ext>
            </a:extLst>
          </p:cNvPr>
          <p:cNvSpPr/>
          <p:nvPr/>
        </p:nvSpPr>
        <p:spPr>
          <a:xfrm>
            <a:off x="272672" y="841276"/>
            <a:ext cx="8475792" cy="23042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342900" indent="-342900">
              <a:lnSpc>
                <a:spcPct val="150000"/>
              </a:lnSpc>
              <a:buFont typeface="+mj-lt"/>
              <a:buAutoNum type="arabicPeriod" startAt="2"/>
            </a:pPr>
            <a:endParaRPr lang="en-US" altLang="zh-CN" b="1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 startAt="2"/>
            </a:pPr>
            <a:endParaRPr lang="en-US" altLang="zh-CN" b="1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03548" y="1355199"/>
            <a:ext cx="8136904" cy="378565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569CD6"/>
                </a:solidFill>
                <a:latin typeface="Consolas" panose="020B0609020204030204" pitchFamily="49" charset="0"/>
              </a:rPr>
              <a:t>class</a:t>
            </a:r>
            <a:r>
              <a:rPr lang="en-US" altLang="zh-CN" sz="16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4EC9B0"/>
                </a:solidFill>
                <a:latin typeface="Consolas" panose="020B0609020204030204" pitchFamily="49" charset="0"/>
              </a:rPr>
              <a:t>Point</a:t>
            </a:r>
            <a:r>
              <a:rPr lang="en-US" altLang="zh-CN" sz="1600" dirty="0">
                <a:solidFill>
                  <a:srgbClr val="D4D4D4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altLang="zh-CN" sz="16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US" altLang="zh-CN" sz="1600" dirty="0">
                <a:solidFill>
                  <a:srgbClr val="569CD6"/>
                </a:solidFill>
                <a:latin typeface="Consolas" panose="020B0609020204030204" pitchFamily="49" charset="0"/>
              </a:rPr>
              <a:t>def</a:t>
            </a:r>
            <a:r>
              <a:rPr lang="en-US" altLang="zh-CN" sz="16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DCDCAA"/>
                </a:solidFill>
                <a:latin typeface="Consolas" panose="020B0609020204030204" pitchFamily="49" charset="0"/>
              </a:rPr>
              <a:t>__init__</a:t>
            </a:r>
            <a:r>
              <a:rPr lang="en-US" altLang="zh-CN" sz="16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600" dirty="0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en-US" altLang="zh-CN" sz="1600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altLang="zh-CN" sz="1600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US" altLang="zh-CN" sz="1600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altLang="zh-CN" sz="1600" dirty="0">
                <a:solidFill>
                  <a:srgbClr val="9CDCFE"/>
                </a:solidFill>
                <a:latin typeface="Consolas" panose="020B0609020204030204" pitchFamily="49" charset="0"/>
              </a:rPr>
              <a:t>y</a:t>
            </a:r>
            <a:r>
              <a:rPr lang="en-US" altLang="zh-CN" sz="1600" dirty="0">
                <a:solidFill>
                  <a:srgbClr val="D4D4D4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altLang="zh-CN" sz="16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zh-CN" sz="1600" dirty="0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en-US" altLang="zh-CN" sz="1600" dirty="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600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US" altLang="zh-CN" sz="1600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altLang="zh-CN" sz="1600" dirty="0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en-US" altLang="zh-CN" sz="1600" dirty="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600" dirty="0">
                <a:solidFill>
                  <a:srgbClr val="9CDCFE"/>
                </a:solidFill>
                <a:latin typeface="Consolas" panose="020B0609020204030204" pitchFamily="49" charset="0"/>
              </a:rPr>
              <a:t>y</a:t>
            </a:r>
            <a:r>
              <a:rPr lang="en-US" altLang="zh-CN" sz="1600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altLang="zh-CN" sz="1600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US" altLang="zh-CN" sz="1600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altLang="zh-CN" sz="1600" dirty="0">
                <a:solidFill>
                  <a:srgbClr val="9CDCFE"/>
                </a:solidFill>
                <a:latin typeface="Consolas" panose="020B0609020204030204" pitchFamily="49" charset="0"/>
              </a:rPr>
              <a:t>y</a:t>
            </a:r>
            <a:endParaRPr lang="en-US" altLang="zh-CN" sz="16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altLang="zh-CN" sz="16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</a:p>
          <a:p>
            <a:r>
              <a:rPr lang="en-US" altLang="zh-CN" sz="16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US" altLang="zh-CN" sz="1600" dirty="0">
                <a:solidFill>
                  <a:srgbClr val="569CD6"/>
                </a:solidFill>
                <a:latin typeface="Consolas" panose="020B0609020204030204" pitchFamily="49" charset="0"/>
              </a:rPr>
              <a:t>def</a:t>
            </a:r>
            <a:r>
              <a:rPr lang="en-US" altLang="zh-CN" sz="16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DCDCAA"/>
                </a:solidFill>
                <a:latin typeface="Consolas" panose="020B0609020204030204" pitchFamily="49" charset="0"/>
              </a:rPr>
              <a:t>__str__</a:t>
            </a:r>
            <a:r>
              <a:rPr lang="en-US" altLang="zh-CN" sz="16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600" dirty="0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en-US" altLang="zh-CN" sz="1600" dirty="0">
                <a:solidFill>
                  <a:srgbClr val="D4D4D4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altLang="zh-CN" sz="16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zh-CN" sz="1600" dirty="0">
                <a:solidFill>
                  <a:srgbClr val="CE9178"/>
                </a:solidFill>
                <a:latin typeface="Consolas" panose="020B0609020204030204" pitchFamily="49" charset="0"/>
              </a:rPr>
              <a:t>"""Human-readable string (print, str())."""</a:t>
            </a:r>
            <a:endParaRPr lang="en-US" altLang="zh-CN" sz="16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altLang="zh-CN" sz="16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zh-CN" sz="160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sz="16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CE9178"/>
                </a:solidFill>
                <a:latin typeface="Consolas" panose="020B0609020204030204" pitchFamily="49" charset="0"/>
              </a:rPr>
              <a:t>"Point(</a:t>
            </a:r>
            <a:r>
              <a:rPr lang="en-US" altLang="zh-CN" sz="1600" dirty="0">
                <a:solidFill>
                  <a:srgbClr val="569CD6"/>
                </a:solidFill>
                <a:latin typeface="Consolas" panose="020B0609020204030204" pitchFamily="49" charset="0"/>
              </a:rPr>
              <a:t>%0.2f</a:t>
            </a:r>
            <a:r>
              <a:rPr lang="en-US" altLang="zh-CN" sz="1600" dirty="0">
                <a:solidFill>
                  <a:srgbClr val="CE9178"/>
                </a:solidFill>
                <a:latin typeface="Consolas" panose="020B0609020204030204" pitchFamily="49" charset="0"/>
              </a:rPr>
              <a:t>, </a:t>
            </a:r>
            <a:r>
              <a:rPr lang="en-US" altLang="zh-CN" sz="1600" dirty="0">
                <a:solidFill>
                  <a:srgbClr val="569CD6"/>
                </a:solidFill>
                <a:latin typeface="Consolas" panose="020B0609020204030204" pitchFamily="49" charset="0"/>
              </a:rPr>
              <a:t>%0.2f</a:t>
            </a:r>
            <a:r>
              <a:rPr lang="en-US" altLang="zh-CN" sz="1600" dirty="0">
                <a:solidFill>
                  <a:srgbClr val="CE9178"/>
                </a:solidFill>
                <a:latin typeface="Consolas" panose="020B0609020204030204" pitchFamily="49" charset="0"/>
              </a:rPr>
              <a:t>)"</a:t>
            </a:r>
            <a:r>
              <a:rPr lang="en-US" altLang="zh-CN" sz="1600" dirty="0">
                <a:solidFill>
                  <a:srgbClr val="D4D4D4"/>
                </a:solidFill>
                <a:latin typeface="Consolas" panose="020B0609020204030204" pitchFamily="49" charset="0"/>
              </a:rPr>
              <a:t> % (</a:t>
            </a:r>
            <a:r>
              <a:rPr lang="en-US" altLang="zh-CN" sz="1600" dirty="0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en-US" altLang="zh-CN" sz="1600" dirty="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600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US" altLang="zh-CN" sz="1600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altLang="zh-CN" sz="1600" dirty="0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en-US" altLang="zh-CN" sz="1600" dirty="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600" dirty="0">
                <a:solidFill>
                  <a:srgbClr val="9CDCFE"/>
                </a:solidFill>
                <a:latin typeface="Consolas" panose="020B0609020204030204" pitchFamily="49" charset="0"/>
              </a:rPr>
              <a:t>y</a:t>
            </a:r>
            <a:r>
              <a:rPr lang="en-US" altLang="zh-CN" sz="1600" dirty="0">
                <a:solidFill>
                  <a:srgbClr val="D4D4D4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6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</a:p>
          <a:p>
            <a:r>
              <a:rPr lang="en-US" altLang="zh-CN" sz="16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US" altLang="zh-CN" sz="1600" dirty="0">
                <a:solidFill>
                  <a:srgbClr val="569CD6"/>
                </a:solidFill>
                <a:latin typeface="Consolas" panose="020B0609020204030204" pitchFamily="49" charset="0"/>
              </a:rPr>
              <a:t>def</a:t>
            </a:r>
            <a:r>
              <a:rPr lang="en-US" altLang="zh-CN" sz="16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DCDCAA"/>
                </a:solidFill>
                <a:latin typeface="Consolas" panose="020B0609020204030204" pitchFamily="49" charset="0"/>
              </a:rPr>
              <a:t>__repr__</a:t>
            </a:r>
            <a:r>
              <a:rPr lang="en-US" altLang="zh-CN" sz="16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600" dirty="0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en-US" altLang="zh-CN" sz="1600" dirty="0">
                <a:solidFill>
                  <a:srgbClr val="D4D4D4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altLang="zh-CN" sz="16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zh-CN" sz="1600" dirty="0">
                <a:solidFill>
                  <a:srgbClr val="CE9178"/>
                </a:solidFill>
                <a:latin typeface="Consolas" panose="020B0609020204030204" pitchFamily="49" charset="0"/>
              </a:rPr>
              <a:t>"""Unambiguous string (repr(), debugging)."""</a:t>
            </a:r>
            <a:endParaRPr lang="en-US" altLang="zh-CN" sz="16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altLang="zh-CN" sz="16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zh-CN" sz="160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sz="16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CE9178"/>
                </a:solidFill>
                <a:latin typeface="Consolas" panose="020B0609020204030204" pitchFamily="49" charset="0"/>
              </a:rPr>
              <a:t>"Point(x=</a:t>
            </a:r>
            <a:r>
              <a:rPr lang="en-US" altLang="zh-CN" sz="1600" dirty="0">
                <a:solidFill>
                  <a:srgbClr val="569CD6"/>
                </a:solidFill>
                <a:latin typeface="Consolas" panose="020B0609020204030204" pitchFamily="49" charset="0"/>
              </a:rPr>
              <a:t>%0.2f</a:t>
            </a:r>
            <a:r>
              <a:rPr lang="en-US" altLang="zh-CN" sz="1600" dirty="0">
                <a:solidFill>
                  <a:srgbClr val="CE9178"/>
                </a:solidFill>
                <a:latin typeface="Consolas" panose="020B0609020204030204" pitchFamily="49" charset="0"/>
              </a:rPr>
              <a:t>, y=</a:t>
            </a:r>
            <a:r>
              <a:rPr lang="en-US" altLang="zh-CN" sz="1600" dirty="0">
                <a:solidFill>
                  <a:srgbClr val="569CD6"/>
                </a:solidFill>
                <a:latin typeface="Consolas" panose="020B0609020204030204" pitchFamily="49" charset="0"/>
              </a:rPr>
              <a:t>%0.2f</a:t>
            </a:r>
            <a:r>
              <a:rPr lang="en-US" altLang="zh-CN" sz="1600" dirty="0">
                <a:solidFill>
                  <a:srgbClr val="CE9178"/>
                </a:solidFill>
                <a:latin typeface="Consolas" panose="020B0609020204030204" pitchFamily="49" charset="0"/>
              </a:rPr>
              <a:t>)"</a:t>
            </a:r>
            <a:r>
              <a:rPr lang="en-US" altLang="zh-CN" sz="1600" dirty="0">
                <a:solidFill>
                  <a:srgbClr val="D4D4D4"/>
                </a:solidFill>
                <a:latin typeface="Consolas" panose="020B0609020204030204" pitchFamily="49" charset="0"/>
              </a:rPr>
              <a:t> % (</a:t>
            </a:r>
            <a:r>
              <a:rPr lang="en-US" altLang="zh-CN" sz="1600" dirty="0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en-US" altLang="zh-CN" sz="1600" dirty="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600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US" altLang="zh-CN" sz="1600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altLang="zh-CN" sz="1600" dirty="0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en-US" altLang="zh-CN" sz="1600" dirty="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600" dirty="0">
                <a:solidFill>
                  <a:srgbClr val="9CDCFE"/>
                </a:solidFill>
                <a:latin typeface="Consolas" panose="020B0609020204030204" pitchFamily="49" charset="0"/>
              </a:rPr>
              <a:t>y</a:t>
            </a:r>
            <a:r>
              <a:rPr lang="en-US" altLang="zh-CN" sz="1600" dirty="0">
                <a:solidFill>
                  <a:srgbClr val="D4D4D4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600" dirty="0">
                <a:solidFill>
                  <a:srgbClr val="D4D4D4"/>
                </a:solidFill>
                <a:latin typeface="Consolas" panose="020B0609020204030204" pitchFamily="49" charset="0"/>
              </a:rPr>
              <a:t/>
            </a:r>
            <a:br>
              <a:rPr lang="en-US" altLang="zh-CN" sz="1600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altLang="zh-CN" sz="1600" dirty="0">
                <a:solidFill>
                  <a:srgbClr val="9CDCFE"/>
                </a:solidFill>
                <a:latin typeface="Consolas" panose="020B0609020204030204" pitchFamily="49" charset="0"/>
              </a:rPr>
              <a:t>p</a:t>
            </a:r>
            <a:r>
              <a:rPr lang="en-US" altLang="zh-CN" sz="1600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altLang="zh-CN" sz="1600" dirty="0">
                <a:solidFill>
                  <a:srgbClr val="4EC9B0"/>
                </a:solidFill>
                <a:latin typeface="Consolas" panose="020B0609020204030204" pitchFamily="49" charset="0"/>
              </a:rPr>
              <a:t>Point</a:t>
            </a:r>
            <a:r>
              <a:rPr lang="en-US" altLang="zh-CN" sz="16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6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US" altLang="zh-CN" sz="1600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altLang="zh-CN" sz="1600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en-US" altLang="zh-CN" sz="1600" dirty="0">
                <a:solidFill>
                  <a:srgbClr val="D4D4D4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600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sz="16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600" dirty="0">
                <a:solidFill>
                  <a:srgbClr val="9CDCFE"/>
                </a:solidFill>
                <a:latin typeface="Consolas" panose="020B0609020204030204" pitchFamily="49" charset="0"/>
              </a:rPr>
              <a:t>p</a:t>
            </a:r>
            <a:r>
              <a:rPr lang="en-US" altLang="zh-CN" sz="1600" dirty="0">
                <a:solidFill>
                  <a:srgbClr val="D4D4D4"/>
                </a:solidFill>
                <a:latin typeface="Consolas" panose="020B0609020204030204" pitchFamily="49" charset="0"/>
              </a:rPr>
              <a:t>)         </a:t>
            </a:r>
            <a:r>
              <a:rPr lang="en-US" altLang="zh-CN" sz="1600" dirty="0">
                <a:solidFill>
                  <a:srgbClr val="6A9955"/>
                </a:solidFill>
                <a:latin typeface="Consolas" panose="020B0609020204030204" pitchFamily="49" charset="0"/>
              </a:rPr>
              <a:t># Point(1, 2)</a:t>
            </a:r>
            <a:endParaRPr lang="en-US" altLang="zh-CN" sz="16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altLang="zh-CN" sz="1600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sz="16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600" dirty="0">
                <a:solidFill>
                  <a:srgbClr val="DCDCAA"/>
                </a:solidFill>
                <a:latin typeface="Consolas" panose="020B0609020204030204" pitchFamily="49" charset="0"/>
              </a:rPr>
              <a:t>repr</a:t>
            </a:r>
            <a:r>
              <a:rPr lang="en-US" altLang="zh-CN" sz="16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600" dirty="0">
                <a:solidFill>
                  <a:srgbClr val="9CDCFE"/>
                </a:solidFill>
                <a:latin typeface="Consolas" panose="020B0609020204030204" pitchFamily="49" charset="0"/>
              </a:rPr>
              <a:t>p</a:t>
            </a:r>
            <a:r>
              <a:rPr lang="en-US" altLang="zh-CN" sz="1600" dirty="0">
                <a:solidFill>
                  <a:srgbClr val="D4D4D4"/>
                </a:solidFill>
                <a:latin typeface="Consolas" panose="020B0609020204030204" pitchFamily="49" charset="0"/>
              </a:rPr>
              <a:t>))   </a:t>
            </a:r>
            <a:r>
              <a:rPr lang="en-US" altLang="zh-CN" sz="1600" dirty="0">
                <a:solidFill>
                  <a:srgbClr val="6A9955"/>
                </a:solidFill>
                <a:latin typeface="Consolas" panose="020B0609020204030204" pitchFamily="49" charset="0"/>
              </a:rPr>
              <a:t># Point(x=1, y=2)</a:t>
            </a:r>
            <a:endParaRPr lang="en-US" altLang="zh-CN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30C5F6B-A382-EAF7-7308-A90F05CD4B38}"/>
              </a:ext>
            </a:extLst>
          </p:cNvPr>
          <p:cNvSpPr/>
          <p:nvPr/>
        </p:nvSpPr>
        <p:spPr>
          <a:xfrm>
            <a:off x="425072" y="838359"/>
            <a:ext cx="8475792" cy="23042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String </a:t>
            </a: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Representation</a:t>
            </a:r>
            <a:endParaRPr lang="en-US" altLang="zh-CN" sz="1600" b="1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6102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4478AF-F905-9626-0922-FF970EDEA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C02FF94-264F-FFCE-0337-DDCEF4419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28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27D80656-D49C-A9FE-78AF-5DC3B7269A40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Special (</a:t>
            </a:r>
            <a:r>
              <a: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Magic) </a:t>
            </a: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Methods in Python Classes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222C224-669F-3C94-3DEE-2505DC81A7AA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AutoShape 2" descr="https://i.pinimg.com/736x/f7/be/bc/f7bebcafbacf057106eee3622de70a28.jpg">
            <a:extLst>
              <a:ext uri="{FF2B5EF4-FFF2-40B4-BE49-F238E27FC236}">
                <a16:creationId xmlns:a16="http://schemas.microsoft.com/office/drawing/2014/main" id="{8F287790-D2BB-B4FB-D8C2-95AA5ED70FA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30C5F6B-A382-EAF7-7308-A90F05CD4B38}"/>
              </a:ext>
            </a:extLst>
          </p:cNvPr>
          <p:cNvSpPr/>
          <p:nvPr/>
        </p:nvSpPr>
        <p:spPr>
          <a:xfrm>
            <a:off x="272672" y="841276"/>
            <a:ext cx="8475792" cy="23042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342900" indent="-342900">
              <a:lnSpc>
                <a:spcPct val="150000"/>
              </a:lnSpc>
              <a:buFont typeface="+mj-lt"/>
              <a:buAutoNum type="arabicPeriod" startAt="2"/>
            </a:pPr>
            <a:endParaRPr lang="en-US" altLang="zh-CN" b="1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 startAt="2"/>
            </a:pPr>
            <a:endParaRPr lang="en-US" altLang="zh-CN" b="1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31540" y="1355199"/>
            <a:ext cx="8316924" cy="3139321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srgbClr val="569CD6"/>
                </a:solidFill>
                <a:latin typeface="Consolas" panose="020B0609020204030204" pitchFamily="49" charset="0"/>
              </a:rPr>
              <a:t>class</a:t>
            </a:r>
            <a:r>
              <a:rPr lang="en-US" altLang="zh-CN" sz="12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4EC9B0"/>
                </a:solidFill>
                <a:latin typeface="Consolas" panose="020B0609020204030204" pitchFamily="49" charset="0"/>
              </a:rPr>
              <a:t>Vector</a:t>
            </a:r>
            <a:r>
              <a:rPr lang="en-US" altLang="zh-CN" sz="1200" dirty="0">
                <a:solidFill>
                  <a:srgbClr val="D4D4D4"/>
                </a:solidFill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US" altLang="zh-CN" sz="1200" dirty="0">
                <a:solidFill>
                  <a:srgbClr val="569CD6"/>
                </a:solidFill>
                <a:latin typeface="Consolas" panose="020B0609020204030204" pitchFamily="49" charset="0"/>
              </a:rPr>
              <a:t>def</a:t>
            </a:r>
            <a:r>
              <a:rPr lang="en-US" altLang="zh-CN" sz="12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DCDCAA"/>
                </a:solidFill>
                <a:latin typeface="Consolas" panose="020B0609020204030204" pitchFamily="49" charset="0"/>
              </a:rPr>
              <a:t>__init__</a:t>
            </a:r>
            <a:r>
              <a:rPr lang="en-US" altLang="zh-CN" sz="12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200" dirty="0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en-US" altLang="zh-CN" sz="1200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altLang="zh-CN" sz="1200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US" altLang="zh-CN" sz="1200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altLang="zh-CN" sz="1200" dirty="0">
                <a:solidFill>
                  <a:srgbClr val="9CDCFE"/>
                </a:solidFill>
                <a:latin typeface="Consolas" panose="020B0609020204030204" pitchFamily="49" charset="0"/>
              </a:rPr>
              <a:t>y</a:t>
            </a:r>
            <a:r>
              <a:rPr lang="en-US" altLang="zh-CN" sz="1200" dirty="0">
                <a:solidFill>
                  <a:srgbClr val="D4D4D4"/>
                </a:solidFill>
                <a:latin typeface="Consolas" panose="020B0609020204030204" pitchFamily="49" charset="0"/>
              </a:rPr>
              <a:t>):</a:t>
            </a:r>
          </a:p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zh-CN" sz="1200" dirty="0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en-US" altLang="zh-CN" sz="1200" dirty="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200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US" altLang="zh-CN" sz="1200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altLang="zh-CN" sz="1200" dirty="0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en-US" altLang="zh-CN" sz="1200" dirty="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200" dirty="0">
                <a:solidFill>
                  <a:srgbClr val="9CDCFE"/>
                </a:solidFill>
                <a:latin typeface="Consolas" panose="020B0609020204030204" pitchFamily="49" charset="0"/>
              </a:rPr>
              <a:t>y</a:t>
            </a:r>
            <a:r>
              <a:rPr lang="en-US" altLang="zh-CN" sz="1200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altLang="zh-CN" sz="1200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US" altLang="zh-CN" sz="1200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altLang="zh-CN" sz="1200" dirty="0">
                <a:solidFill>
                  <a:srgbClr val="9CDCFE"/>
                </a:solidFill>
                <a:latin typeface="Consolas" panose="020B0609020204030204" pitchFamily="49" charset="0"/>
              </a:rPr>
              <a:t>y</a:t>
            </a:r>
            <a:endParaRPr lang="en-US" altLang="zh-CN" sz="12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US" altLang="zh-CN" sz="1200" dirty="0">
                <a:solidFill>
                  <a:srgbClr val="569CD6"/>
                </a:solidFill>
                <a:latin typeface="Consolas" panose="020B0609020204030204" pitchFamily="49" charset="0"/>
              </a:rPr>
              <a:t>def</a:t>
            </a:r>
            <a:r>
              <a:rPr lang="en-US" altLang="zh-CN" sz="12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DCDCAA"/>
                </a:solidFill>
                <a:latin typeface="Consolas" panose="020B0609020204030204" pitchFamily="49" charset="0"/>
              </a:rPr>
              <a:t>__add__</a:t>
            </a:r>
            <a:r>
              <a:rPr lang="en-US" altLang="zh-CN" sz="12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200" dirty="0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en-US" altLang="zh-CN" sz="1200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altLang="zh-CN" sz="1200" dirty="0">
                <a:solidFill>
                  <a:srgbClr val="9CDCFE"/>
                </a:solidFill>
                <a:latin typeface="Consolas" panose="020B0609020204030204" pitchFamily="49" charset="0"/>
              </a:rPr>
              <a:t>other</a:t>
            </a:r>
            <a:r>
              <a:rPr lang="en-US" altLang="zh-CN" sz="1200" dirty="0">
                <a:solidFill>
                  <a:srgbClr val="D4D4D4"/>
                </a:solidFill>
                <a:latin typeface="Consolas" panose="020B0609020204030204" pitchFamily="49" charset="0"/>
              </a:rPr>
              <a:t>):      </a:t>
            </a:r>
            <a:r>
              <a:rPr lang="en-US" altLang="zh-CN" sz="120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sz="12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4EC9B0"/>
                </a:solidFill>
                <a:latin typeface="Consolas" panose="020B0609020204030204" pitchFamily="49" charset="0"/>
              </a:rPr>
              <a:t>Vector</a:t>
            </a:r>
            <a:r>
              <a:rPr lang="en-US" altLang="zh-CN" sz="12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200" dirty="0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en-US" altLang="zh-CN" sz="1200" dirty="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200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US" altLang="zh-CN" sz="1200" dirty="0">
                <a:solidFill>
                  <a:srgbClr val="D4D4D4"/>
                </a:solidFill>
                <a:latin typeface="Consolas" panose="020B0609020204030204" pitchFamily="49" charset="0"/>
              </a:rPr>
              <a:t> + </a:t>
            </a:r>
            <a:r>
              <a:rPr lang="en-US" altLang="zh-CN" sz="1200" dirty="0">
                <a:solidFill>
                  <a:srgbClr val="9CDCFE"/>
                </a:solidFill>
                <a:latin typeface="Consolas" panose="020B0609020204030204" pitchFamily="49" charset="0"/>
              </a:rPr>
              <a:t>other</a:t>
            </a:r>
            <a:r>
              <a:rPr lang="en-US" altLang="zh-CN" sz="1200" dirty="0">
                <a:solidFill>
                  <a:srgbClr val="D4D4D4"/>
                </a:solidFill>
                <a:latin typeface="Consolas" panose="020B0609020204030204" pitchFamily="49" charset="0"/>
              </a:rPr>
              <a:t>.x, </a:t>
            </a:r>
            <a:r>
              <a:rPr lang="en-US" altLang="zh-CN" sz="1200" dirty="0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en-US" altLang="zh-CN" sz="1200" dirty="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200" dirty="0">
                <a:solidFill>
                  <a:srgbClr val="9CDCFE"/>
                </a:solidFill>
                <a:latin typeface="Consolas" panose="020B0609020204030204" pitchFamily="49" charset="0"/>
              </a:rPr>
              <a:t>y</a:t>
            </a:r>
            <a:r>
              <a:rPr lang="en-US" altLang="zh-CN" sz="1200" dirty="0">
                <a:solidFill>
                  <a:srgbClr val="D4D4D4"/>
                </a:solidFill>
                <a:latin typeface="Consolas" panose="020B0609020204030204" pitchFamily="49" charset="0"/>
              </a:rPr>
              <a:t> + </a:t>
            </a:r>
            <a:r>
              <a:rPr lang="en-US" altLang="zh-CN" sz="1200" dirty="0">
                <a:solidFill>
                  <a:srgbClr val="9CDCFE"/>
                </a:solidFill>
                <a:latin typeface="Consolas" panose="020B0609020204030204" pitchFamily="49" charset="0"/>
              </a:rPr>
              <a:t>other</a:t>
            </a:r>
            <a:r>
              <a:rPr lang="en-US" altLang="zh-CN" sz="1200" dirty="0">
                <a:solidFill>
                  <a:srgbClr val="D4D4D4"/>
                </a:solidFill>
                <a:latin typeface="Consolas" panose="020B0609020204030204" pitchFamily="49" charset="0"/>
              </a:rPr>
              <a:t>.y)  </a:t>
            </a:r>
            <a:r>
              <a:rPr lang="en-US" altLang="zh-CN" sz="1200" dirty="0">
                <a:solidFill>
                  <a:srgbClr val="6A9955"/>
                </a:solidFill>
                <a:latin typeface="Consolas" panose="020B0609020204030204" pitchFamily="49" charset="0"/>
              </a:rPr>
              <a:t># v1 + v2</a:t>
            </a:r>
            <a:endParaRPr lang="en-US" altLang="zh-CN" sz="12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US" altLang="zh-CN" sz="1200" dirty="0">
                <a:solidFill>
                  <a:srgbClr val="569CD6"/>
                </a:solidFill>
                <a:latin typeface="Consolas" panose="020B0609020204030204" pitchFamily="49" charset="0"/>
              </a:rPr>
              <a:t>def</a:t>
            </a:r>
            <a:r>
              <a:rPr lang="en-US" altLang="zh-CN" sz="12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DCDCAA"/>
                </a:solidFill>
                <a:latin typeface="Consolas" panose="020B0609020204030204" pitchFamily="49" charset="0"/>
              </a:rPr>
              <a:t>__sub__</a:t>
            </a:r>
            <a:r>
              <a:rPr lang="en-US" altLang="zh-CN" sz="12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200" dirty="0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en-US" altLang="zh-CN" sz="1200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altLang="zh-CN" sz="1200" dirty="0">
                <a:solidFill>
                  <a:srgbClr val="9CDCFE"/>
                </a:solidFill>
                <a:latin typeface="Consolas" panose="020B0609020204030204" pitchFamily="49" charset="0"/>
              </a:rPr>
              <a:t>other</a:t>
            </a:r>
            <a:r>
              <a:rPr lang="en-US" altLang="zh-CN" sz="1200" dirty="0">
                <a:solidFill>
                  <a:srgbClr val="D4D4D4"/>
                </a:solidFill>
                <a:latin typeface="Consolas" panose="020B0609020204030204" pitchFamily="49" charset="0"/>
              </a:rPr>
              <a:t>):      </a:t>
            </a:r>
            <a:r>
              <a:rPr lang="en-US" altLang="zh-CN" sz="120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sz="12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4EC9B0"/>
                </a:solidFill>
                <a:latin typeface="Consolas" panose="020B0609020204030204" pitchFamily="49" charset="0"/>
              </a:rPr>
              <a:t>Vector</a:t>
            </a:r>
            <a:r>
              <a:rPr lang="en-US" altLang="zh-CN" sz="12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200" dirty="0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en-US" altLang="zh-CN" sz="1200" dirty="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200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US" altLang="zh-CN" sz="1200" dirty="0">
                <a:solidFill>
                  <a:srgbClr val="D4D4D4"/>
                </a:solidFill>
                <a:latin typeface="Consolas" panose="020B0609020204030204" pitchFamily="49" charset="0"/>
              </a:rPr>
              <a:t> - </a:t>
            </a:r>
            <a:r>
              <a:rPr lang="en-US" altLang="zh-CN" sz="1200" dirty="0">
                <a:solidFill>
                  <a:srgbClr val="9CDCFE"/>
                </a:solidFill>
                <a:latin typeface="Consolas" panose="020B0609020204030204" pitchFamily="49" charset="0"/>
              </a:rPr>
              <a:t>other</a:t>
            </a:r>
            <a:r>
              <a:rPr lang="en-US" altLang="zh-CN" sz="1200" dirty="0">
                <a:solidFill>
                  <a:srgbClr val="D4D4D4"/>
                </a:solidFill>
                <a:latin typeface="Consolas" panose="020B0609020204030204" pitchFamily="49" charset="0"/>
              </a:rPr>
              <a:t>.x, </a:t>
            </a:r>
            <a:r>
              <a:rPr lang="en-US" altLang="zh-CN" sz="1200" dirty="0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en-US" altLang="zh-CN" sz="1200" dirty="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200" dirty="0">
                <a:solidFill>
                  <a:srgbClr val="9CDCFE"/>
                </a:solidFill>
                <a:latin typeface="Consolas" panose="020B0609020204030204" pitchFamily="49" charset="0"/>
              </a:rPr>
              <a:t>y</a:t>
            </a:r>
            <a:r>
              <a:rPr lang="en-US" altLang="zh-CN" sz="1200" dirty="0">
                <a:solidFill>
                  <a:srgbClr val="D4D4D4"/>
                </a:solidFill>
                <a:latin typeface="Consolas" panose="020B0609020204030204" pitchFamily="49" charset="0"/>
              </a:rPr>
              <a:t> - </a:t>
            </a:r>
            <a:r>
              <a:rPr lang="en-US" altLang="zh-CN" sz="1200" dirty="0">
                <a:solidFill>
                  <a:srgbClr val="9CDCFE"/>
                </a:solidFill>
                <a:latin typeface="Consolas" panose="020B0609020204030204" pitchFamily="49" charset="0"/>
              </a:rPr>
              <a:t>other</a:t>
            </a:r>
            <a:r>
              <a:rPr lang="en-US" altLang="zh-CN" sz="1200" dirty="0">
                <a:solidFill>
                  <a:srgbClr val="D4D4D4"/>
                </a:solidFill>
                <a:latin typeface="Consolas" panose="020B0609020204030204" pitchFamily="49" charset="0"/>
              </a:rPr>
              <a:t>.y)  </a:t>
            </a:r>
            <a:r>
              <a:rPr lang="en-US" altLang="zh-CN" sz="1200" dirty="0">
                <a:solidFill>
                  <a:srgbClr val="6A9955"/>
                </a:solidFill>
                <a:latin typeface="Consolas" panose="020B0609020204030204" pitchFamily="49" charset="0"/>
              </a:rPr>
              <a:t># v1 - v2</a:t>
            </a:r>
            <a:endParaRPr lang="en-US" altLang="zh-CN" sz="12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US" altLang="zh-CN" sz="1200" dirty="0">
                <a:solidFill>
                  <a:srgbClr val="569CD6"/>
                </a:solidFill>
                <a:latin typeface="Consolas" panose="020B0609020204030204" pitchFamily="49" charset="0"/>
              </a:rPr>
              <a:t>def</a:t>
            </a:r>
            <a:r>
              <a:rPr lang="en-US" altLang="zh-CN" sz="12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DCDCAA"/>
                </a:solidFill>
                <a:latin typeface="Consolas" panose="020B0609020204030204" pitchFamily="49" charset="0"/>
              </a:rPr>
              <a:t>__mul__</a:t>
            </a:r>
            <a:r>
              <a:rPr lang="en-US" altLang="zh-CN" sz="12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200" dirty="0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en-US" altLang="zh-CN" sz="1200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altLang="zh-CN" sz="1200" dirty="0">
                <a:solidFill>
                  <a:srgbClr val="9CDCFE"/>
                </a:solidFill>
                <a:latin typeface="Consolas" panose="020B0609020204030204" pitchFamily="49" charset="0"/>
              </a:rPr>
              <a:t>scalar</a:t>
            </a:r>
            <a:r>
              <a:rPr lang="en-US" altLang="zh-CN" sz="1200" dirty="0">
                <a:solidFill>
                  <a:srgbClr val="D4D4D4"/>
                </a:solidFill>
                <a:latin typeface="Consolas" panose="020B0609020204030204" pitchFamily="49" charset="0"/>
              </a:rPr>
              <a:t>):     </a:t>
            </a:r>
            <a:r>
              <a:rPr lang="en-US" altLang="zh-CN" sz="120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sz="12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4EC9B0"/>
                </a:solidFill>
                <a:latin typeface="Consolas" panose="020B0609020204030204" pitchFamily="49" charset="0"/>
              </a:rPr>
              <a:t>Vector</a:t>
            </a:r>
            <a:r>
              <a:rPr lang="en-US" altLang="zh-CN" sz="12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200" dirty="0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en-US" altLang="zh-CN" sz="1200" dirty="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200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US" altLang="zh-CN" sz="1200" dirty="0">
                <a:solidFill>
                  <a:srgbClr val="D4D4D4"/>
                </a:solidFill>
                <a:latin typeface="Consolas" panose="020B0609020204030204" pitchFamily="49" charset="0"/>
              </a:rPr>
              <a:t> * </a:t>
            </a:r>
            <a:r>
              <a:rPr lang="en-US" altLang="zh-CN" sz="1200" dirty="0">
                <a:solidFill>
                  <a:srgbClr val="9CDCFE"/>
                </a:solidFill>
                <a:latin typeface="Consolas" panose="020B0609020204030204" pitchFamily="49" charset="0"/>
              </a:rPr>
              <a:t>scalar</a:t>
            </a:r>
            <a:r>
              <a:rPr lang="en-US" altLang="zh-CN" sz="1200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altLang="zh-CN" sz="1200" dirty="0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en-US" altLang="zh-CN" sz="1200" dirty="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200" dirty="0">
                <a:solidFill>
                  <a:srgbClr val="9CDCFE"/>
                </a:solidFill>
                <a:latin typeface="Consolas" panose="020B0609020204030204" pitchFamily="49" charset="0"/>
              </a:rPr>
              <a:t>y</a:t>
            </a:r>
            <a:r>
              <a:rPr lang="en-US" altLang="zh-CN" sz="1200" dirty="0">
                <a:solidFill>
                  <a:srgbClr val="D4D4D4"/>
                </a:solidFill>
                <a:latin typeface="Consolas" panose="020B0609020204030204" pitchFamily="49" charset="0"/>
              </a:rPr>
              <a:t> * </a:t>
            </a:r>
            <a:r>
              <a:rPr lang="en-US" altLang="zh-CN" sz="1200" dirty="0">
                <a:solidFill>
                  <a:srgbClr val="9CDCFE"/>
                </a:solidFill>
                <a:latin typeface="Consolas" panose="020B0609020204030204" pitchFamily="49" charset="0"/>
              </a:rPr>
              <a:t>scalar</a:t>
            </a:r>
            <a:r>
              <a:rPr lang="en-US" altLang="zh-CN" sz="1200" dirty="0">
                <a:solidFill>
                  <a:srgbClr val="D4D4D4"/>
                </a:solidFill>
                <a:latin typeface="Consolas" panose="020B0609020204030204" pitchFamily="49" charset="0"/>
              </a:rPr>
              <a:t>)    </a:t>
            </a:r>
            <a:r>
              <a:rPr lang="en-US" altLang="zh-CN" sz="1200" dirty="0">
                <a:solidFill>
                  <a:srgbClr val="6A9955"/>
                </a:solidFill>
                <a:latin typeface="Consolas" panose="020B0609020204030204" pitchFamily="49" charset="0"/>
              </a:rPr>
              <a:t># v * 3</a:t>
            </a:r>
            <a:endParaRPr lang="en-US" altLang="zh-CN" sz="12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US" altLang="zh-CN" sz="1200" dirty="0">
                <a:solidFill>
                  <a:srgbClr val="569CD6"/>
                </a:solidFill>
                <a:latin typeface="Consolas" panose="020B0609020204030204" pitchFamily="49" charset="0"/>
              </a:rPr>
              <a:t>def</a:t>
            </a:r>
            <a:r>
              <a:rPr lang="en-US" altLang="zh-CN" sz="12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DCDCAA"/>
                </a:solidFill>
                <a:latin typeface="Consolas" panose="020B0609020204030204" pitchFamily="49" charset="0"/>
              </a:rPr>
              <a:t>__rmul__</a:t>
            </a:r>
            <a:r>
              <a:rPr lang="en-US" altLang="zh-CN" sz="12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200" dirty="0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en-US" altLang="zh-CN" sz="1200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altLang="zh-CN" sz="1200" dirty="0">
                <a:solidFill>
                  <a:srgbClr val="9CDCFE"/>
                </a:solidFill>
                <a:latin typeface="Consolas" panose="020B0609020204030204" pitchFamily="49" charset="0"/>
              </a:rPr>
              <a:t>scalar</a:t>
            </a:r>
            <a:r>
              <a:rPr lang="en-US" altLang="zh-CN" sz="1200" dirty="0">
                <a:solidFill>
                  <a:srgbClr val="D4D4D4"/>
                </a:solidFill>
                <a:latin typeface="Consolas" panose="020B0609020204030204" pitchFamily="49" charset="0"/>
              </a:rPr>
              <a:t>):    </a:t>
            </a:r>
            <a:r>
              <a:rPr lang="en-US" altLang="zh-CN" sz="120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sz="12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en-US" altLang="zh-CN" sz="1200" dirty="0">
                <a:solidFill>
                  <a:srgbClr val="D4D4D4"/>
                </a:solidFill>
                <a:latin typeface="Consolas" panose="020B0609020204030204" pitchFamily="49" charset="0"/>
              </a:rPr>
              <a:t> * </a:t>
            </a:r>
            <a:r>
              <a:rPr lang="en-US" altLang="zh-CN" sz="1200" dirty="0">
                <a:solidFill>
                  <a:srgbClr val="9CDCFE"/>
                </a:solidFill>
                <a:latin typeface="Consolas" panose="020B0609020204030204" pitchFamily="49" charset="0"/>
              </a:rPr>
              <a:t>scalar</a:t>
            </a:r>
            <a:r>
              <a:rPr lang="en-US" altLang="zh-CN" sz="1200" dirty="0">
                <a:solidFill>
                  <a:srgbClr val="D4D4D4"/>
                </a:solidFill>
                <a:latin typeface="Consolas" panose="020B0609020204030204" pitchFamily="49" charset="0"/>
              </a:rPr>
              <a:t>                               </a:t>
            </a:r>
            <a:r>
              <a:rPr lang="en-US" altLang="zh-CN" sz="1200" dirty="0">
                <a:solidFill>
                  <a:srgbClr val="6A9955"/>
                </a:solidFill>
                <a:latin typeface="Consolas" panose="020B0609020204030204" pitchFamily="49" charset="0"/>
              </a:rPr>
              <a:t># 3 * v</a:t>
            </a:r>
            <a:endParaRPr lang="en-US" altLang="zh-CN" sz="12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US" altLang="zh-CN" sz="1200" dirty="0">
                <a:solidFill>
                  <a:srgbClr val="569CD6"/>
                </a:solidFill>
                <a:latin typeface="Consolas" panose="020B0609020204030204" pitchFamily="49" charset="0"/>
              </a:rPr>
              <a:t>def</a:t>
            </a:r>
            <a:r>
              <a:rPr lang="en-US" altLang="zh-CN" sz="12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DCDCAA"/>
                </a:solidFill>
                <a:latin typeface="Consolas" panose="020B0609020204030204" pitchFamily="49" charset="0"/>
              </a:rPr>
              <a:t>__truediv__</a:t>
            </a:r>
            <a:r>
              <a:rPr lang="en-US" altLang="zh-CN" sz="12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200" dirty="0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en-US" altLang="zh-CN" sz="1200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altLang="zh-CN" sz="1200" dirty="0">
                <a:solidFill>
                  <a:srgbClr val="9CDCFE"/>
                </a:solidFill>
                <a:latin typeface="Consolas" panose="020B0609020204030204" pitchFamily="49" charset="0"/>
              </a:rPr>
              <a:t>scalar</a:t>
            </a:r>
            <a:r>
              <a:rPr lang="en-US" altLang="zh-CN" sz="1200" dirty="0">
                <a:solidFill>
                  <a:srgbClr val="D4D4D4"/>
                </a:solidFill>
                <a:latin typeface="Consolas" panose="020B0609020204030204" pitchFamily="49" charset="0"/>
              </a:rPr>
              <a:t>): </a:t>
            </a:r>
            <a:r>
              <a:rPr lang="en-US" altLang="zh-CN" sz="120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sz="12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4EC9B0"/>
                </a:solidFill>
                <a:latin typeface="Consolas" panose="020B0609020204030204" pitchFamily="49" charset="0"/>
              </a:rPr>
              <a:t>Vector</a:t>
            </a:r>
            <a:r>
              <a:rPr lang="en-US" altLang="zh-CN" sz="12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200" dirty="0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en-US" altLang="zh-CN" sz="1200" dirty="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200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US" altLang="zh-CN" sz="1200" dirty="0">
                <a:solidFill>
                  <a:srgbClr val="D4D4D4"/>
                </a:solidFill>
                <a:latin typeface="Consolas" panose="020B0609020204030204" pitchFamily="49" charset="0"/>
              </a:rPr>
              <a:t> / </a:t>
            </a:r>
            <a:r>
              <a:rPr lang="en-US" altLang="zh-CN" sz="1200" dirty="0">
                <a:solidFill>
                  <a:srgbClr val="9CDCFE"/>
                </a:solidFill>
                <a:latin typeface="Consolas" panose="020B0609020204030204" pitchFamily="49" charset="0"/>
              </a:rPr>
              <a:t>scalar</a:t>
            </a:r>
            <a:r>
              <a:rPr lang="en-US" altLang="zh-CN" sz="1200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altLang="zh-CN" sz="1200" dirty="0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en-US" altLang="zh-CN" sz="1200" dirty="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200" dirty="0">
                <a:solidFill>
                  <a:srgbClr val="9CDCFE"/>
                </a:solidFill>
                <a:latin typeface="Consolas" panose="020B0609020204030204" pitchFamily="49" charset="0"/>
              </a:rPr>
              <a:t>y</a:t>
            </a:r>
            <a:r>
              <a:rPr lang="en-US" altLang="zh-CN" sz="1200" dirty="0">
                <a:solidFill>
                  <a:srgbClr val="D4D4D4"/>
                </a:solidFill>
                <a:latin typeface="Consolas" panose="020B0609020204030204" pitchFamily="49" charset="0"/>
              </a:rPr>
              <a:t> / </a:t>
            </a:r>
            <a:r>
              <a:rPr lang="en-US" altLang="zh-CN" sz="1200" dirty="0">
                <a:solidFill>
                  <a:srgbClr val="9CDCFE"/>
                </a:solidFill>
                <a:latin typeface="Consolas" panose="020B0609020204030204" pitchFamily="49" charset="0"/>
              </a:rPr>
              <a:t>scalar</a:t>
            </a:r>
            <a:r>
              <a:rPr lang="en-US" altLang="zh-CN" sz="1200" dirty="0">
                <a:solidFill>
                  <a:srgbClr val="D4D4D4"/>
                </a:solidFill>
                <a:latin typeface="Consolas" panose="020B0609020204030204" pitchFamily="49" charset="0"/>
              </a:rPr>
              <a:t>)    </a:t>
            </a:r>
            <a:r>
              <a:rPr lang="en-US" altLang="zh-CN" sz="1200" dirty="0">
                <a:solidFill>
                  <a:srgbClr val="6A9955"/>
                </a:solidFill>
                <a:latin typeface="Consolas" panose="020B0609020204030204" pitchFamily="49" charset="0"/>
              </a:rPr>
              <a:t># v / 3</a:t>
            </a:r>
            <a:endParaRPr lang="en-US" altLang="zh-CN" sz="12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US" altLang="zh-CN" sz="1200" dirty="0">
                <a:solidFill>
                  <a:srgbClr val="569CD6"/>
                </a:solidFill>
                <a:latin typeface="Consolas" panose="020B0609020204030204" pitchFamily="49" charset="0"/>
              </a:rPr>
              <a:t>def</a:t>
            </a:r>
            <a:r>
              <a:rPr lang="en-US" altLang="zh-CN" sz="12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DCDCAA"/>
                </a:solidFill>
                <a:latin typeface="Consolas" panose="020B0609020204030204" pitchFamily="49" charset="0"/>
              </a:rPr>
              <a:t>__neg__</a:t>
            </a:r>
            <a:r>
              <a:rPr lang="en-US" altLang="zh-CN" sz="12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200" dirty="0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en-US" altLang="zh-CN" sz="1200" dirty="0">
                <a:solidFill>
                  <a:srgbClr val="D4D4D4"/>
                </a:solidFill>
                <a:latin typeface="Consolas" panose="020B0609020204030204" pitchFamily="49" charset="0"/>
              </a:rPr>
              <a:t>):             </a:t>
            </a:r>
            <a:r>
              <a:rPr lang="en-US" altLang="zh-CN" sz="120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sz="12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4EC9B0"/>
                </a:solidFill>
                <a:latin typeface="Consolas" panose="020B0609020204030204" pitchFamily="49" charset="0"/>
              </a:rPr>
              <a:t>Vector</a:t>
            </a:r>
            <a:r>
              <a:rPr lang="en-US" altLang="zh-CN" sz="1200" dirty="0">
                <a:solidFill>
                  <a:srgbClr val="D4D4D4"/>
                </a:solidFill>
                <a:latin typeface="Consolas" panose="020B0609020204030204" pitchFamily="49" charset="0"/>
              </a:rPr>
              <a:t>(-</a:t>
            </a:r>
            <a:r>
              <a:rPr lang="en-US" altLang="zh-CN" sz="1200" dirty="0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en-US" altLang="zh-CN" sz="1200" dirty="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200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US" altLang="zh-CN" sz="1200" dirty="0">
                <a:solidFill>
                  <a:srgbClr val="D4D4D4"/>
                </a:solidFill>
                <a:latin typeface="Consolas" panose="020B0609020204030204" pitchFamily="49" charset="0"/>
              </a:rPr>
              <a:t>, -</a:t>
            </a:r>
            <a:r>
              <a:rPr lang="en-US" altLang="zh-CN" sz="1200" dirty="0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en-US" altLang="zh-CN" sz="1200" dirty="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200" dirty="0">
                <a:solidFill>
                  <a:srgbClr val="9CDCFE"/>
                </a:solidFill>
                <a:latin typeface="Consolas" panose="020B0609020204030204" pitchFamily="49" charset="0"/>
              </a:rPr>
              <a:t>y</a:t>
            </a:r>
            <a:r>
              <a:rPr lang="en-US" altLang="zh-CN" sz="1200" dirty="0">
                <a:solidFill>
                  <a:srgbClr val="D4D4D4"/>
                </a:solidFill>
                <a:latin typeface="Consolas" panose="020B0609020204030204" pitchFamily="49" charset="0"/>
              </a:rPr>
              <a:t>)                    </a:t>
            </a:r>
            <a:r>
              <a:rPr lang="en-US" altLang="zh-CN" sz="1200" dirty="0">
                <a:solidFill>
                  <a:srgbClr val="6A9955"/>
                </a:solidFill>
                <a:latin typeface="Consolas" panose="020B0609020204030204" pitchFamily="49" charset="0"/>
              </a:rPr>
              <a:t># -v</a:t>
            </a:r>
            <a:endParaRPr lang="en-US" altLang="zh-CN" sz="12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US" altLang="zh-CN" sz="1200" dirty="0">
                <a:solidFill>
                  <a:srgbClr val="569CD6"/>
                </a:solidFill>
                <a:latin typeface="Consolas" panose="020B0609020204030204" pitchFamily="49" charset="0"/>
              </a:rPr>
              <a:t>def</a:t>
            </a:r>
            <a:r>
              <a:rPr lang="en-US" altLang="zh-CN" sz="12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DCDCAA"/>
                </a:solidFill>
                <a:latin typeface="Consolas" panose="020B0609020204030204" pitchFamily="49" charset="0"/>
              </a:rPr>
              <a:t>__abs__</a:t>
            </a:r>
            <a:r>
              <a:rPr lang="en-US" altLang="zh-CN" sz="12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200" dirty="0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en-US" altLang="zh-CN" sz="1200" dirty="0">
                <a:solidFill>
                  <a:srgbClr val="D4D4D4"/>
                </a:solidFill>
                <a:latin typeface="Consolas" panose="020B0609020204030204" pitchFamily="49" charset="0"/>
              </a:rPr>
              <a:t>):             </a:t>
            </a:r>
            <a:r>
              <a:rPr lang="en-US" altLang="zh-CN" sz="120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sz="1200" dirty="0">
                <a:solidFill>
                  <a:srgbClr val="D4D4D4"/>
                </a:solidFill>
                <a:latin typeface="Consolas" panose="020B0609020204030204" pitchFamily="49" charset="0"/>
              </a:rPr>
              <a:t> (</a:t>
            </a:r>
            <a:r>
              <a:rPr lang="en-US" altLang="zh-CN" sz="1200" dirty="0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en-US" altLang="zh-CN" sz="1200" dirty="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200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US" altLang="zh-CN" sz="1200" dirty="0">
                <a:solidFill>
                  <a:srgbClr val="D4D4D4"/>
                </a:solidFill>
                <a:latin typeface="Consolas" panose="020B0609020204030204" pitchFamily="49" charset="0"/>
              </a:rPr>
              <a:t>**</a:t>
            </a:r>
            <a:r>
              <a:rPr lang="en-US" altLang="zh-CN" sz="1200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en-US" altLang="zh-CN" sz="1200" dirty="0">
                <a:solidFill>
                  <a:srgbClr val="D4D4D4"/>
                </a:solidFill>
                <a:latin typeface="Consolas" panose="020B0609020204030204" pitchFamily="49" charset="0"/>
              </a:rPr>
              <a:t> + </a:t>
            </a:r>
            <a:r>
              <a:rPr lang="en-US" altLang="zh-CN" sz="1200" dirty="0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en-US" altLang="zh-CN" sz="1200" dirty="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200" dirty="0">
                <a:solidFill>
                  <a:srgbClr val="9CDCFE"/>
                </a:solidFill>
                <a:latin typeface="Consolas" panose="020B0609020204030204" pitchFamily="49" charset="0"/>
              </a:rPr>
              <a:t>y</a:t>
            </a:r>
            <a:r>
              <a:rPr lang="en-US" altLang="zh-CN" sz="1200" dirty="0">
                <a:solidFill>
                  <a:srgbClr val="D4D4D4"/>
                </a:solidFill>
                <a:latin typeface="Consolas" panose="020B0609020204030204" pitchFamily="49" charset="0"/>
              </a:rPr>
              <a:t>**</a:t>
            </a:r>
            <a:r>
              <a:rPr lang="en-US" altLang="zh-CN" sz="1200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en-US" altLang="zh-CN" sz="1200" dirty="0">
                <a:solidFill>
                  <a:srgbClr val="D4D4D4"/>
                </a:solidFill>
                <a:latin typeface="Consolas" panose="020B0609020204030204" pitchFamily="49" charset="0"/>
              </a:rPr>
              <a:t>) ** </a:t>
            </a:r>
            <a:r>
              <a:rPr lang="en-US" altLang="zh-CN" sz="1200" dirty="0">
                <a:solidFill>
                  <a:srgbClr val="B5CEA8"/>
                </a:solidFill>
                <a:latin typeface="Consolas" panose="020B0609020204030204" pitchFamily="49" charset="0"/>
              </a:rPr>
              <a:t>0.5</a:t>
            </a:r>
            <a:r>
              <a:rPr lang="en-US" altLang="zh-CN" sz="1200" dirty="0">
                <a:solidFill>
                  <a:srgbClr val="D4D4D4"/>
                </a:solidFill>
                <a:latin typeface="Consolas" panose="020B0609020204030204" pitchFamily="49" charset="0"/>
              </a:rPr>
              <a:t>              </a:t>
            </a:r>
            <a:r>
              <a:rPr lang="en-US" altLang="zh-CN" sz="1200" dirty="0">
                <a:solidFill>
                  <a:srgbClr val="6A9955"/>
                </a:solidFill>
                <a:latin typeface="Consolas" panose="020B0609020204030204" pitchFamily="49" charset="0"/>
              </a:rPr>
              <a:t># abs(v)</a:t>
            </a:r>
            <a:endParaRPr lang="en-US" altLang="zh-CN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30C5F6B-A382-EAF7-7308-A90F05CD4B38}"/>
              </a:ext>
            </a:extLst>
          </p:cNvPr>
          <p:cNvSpPr/>
          <p:nvPr/>
        </p:nvSpPr>
        <p:spPr>
          <a:xfrm>
            <a:off x="425072" y="838359"/>
            <a:ext cx="8475792" cy="23042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Arithmetic </a:t>
            </a: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Operators</a:t>
            </a:r>
            <a:endParaRPr lang="en-US" altLang="zh-CN" sz="1600" b="1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1059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4478AF-F905-9626-0922-FF970EDEA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C02FF94-264F-FFCE-0337-DDCEF4419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29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27D80656-D49C-A9FE-78AF-5DC3B7269A40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The Legend of Sword and Fairy </a:t>
            </a:r>
            <a:r>
              <a: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(</a:t>
            </a:r>
            <a:r>
              <a:rPr lang="zh-CN" alt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仙剑奇侠传</a:t>
            </a:r>
            <a:r>
              <a: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)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222C224-669F-3C94-3DEE-2505DC81A7AA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AutoShape 2" descr="https://i.pinimg.com/736x/f7/be/bc/f7bebcafbacf057106eee3622de70a28.jpg">
            <a:extLst>
              <a:ext uri="{FF2B5EF4-FFF2-40B4-BE49-F238E27FC236}">
                <a16:creationId xmlns:a16="http://schemas.microsoft.com/office/drawing/2014/main" id="{8F287790-D2BB-B4FB-D8C2-95AA5ED70FA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30C5F6B-A382-EAF7-7308-A90F05CD4B38}"/>
              </a:ext>
            </a:extLst>
          </p:cNvPr>
          <p:cNvSpPr/>
          <p:nvPr/>
        </p:nvSpPr>
        <p:spPr>
          <a:xfrm>
            <a:off x="425072" y="838358"/>
            <a:ext cx="8475792" cy="41073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Role </a:t>
            </a:r>
            <a:r>
              <a:rPr lang="zh-CN" altLang="en-US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人物角色类</a:t>
            </a:r>
            <a:endParaRPr lang="en-US" altLang="zh-CN" b="1" dirty="0" smtClean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3688" y="1423346"/>
            <a:ext cx="5512014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195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4478AF-F905-9626-0922-FF970EDEA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C02FF94-264F-FFCE-0337-DDCEF4419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30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27D80656-D49C-A9FE-78AF-5DC3B7269A40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The Legend of Sword and Fairy </a:t>
            </a:r>
            <a:r>
              <a: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(</a:t>
            </a:r>
            <a:r>
              <a:rPr lang="zh-CN" alt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仙剑奇侠传</a:t>
            </a:r>
            <a:r>
              <a: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)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222C224-669F-3C94-3DEE-2505DC81A7AA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AutoShape 2" descr="https://i.pinimg.com/736x/f7/be/bc/f7bebcafbacf057106eee3622de70a28.jpg">
            <a:extLst>
              <a:ext uri="{FF2B5EF4-FFF2-40B4-BE49-F238E27FC236}">
                <a16:creationId xmlns:a16="http://schemas.microsoft.com/office/drawing/2014/main" id="{8F287790-D2BB-B4FB-D8C2-95AA5ED70FA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30C5F6B-A382-EAF7-7308-A90F05CD4B38}"/>
              </a:ext>
            </a:extLst>
          </p:cNvPr>
          <p:cNvSpPr/>
          <p:nvPr/>
        </p:nvSpPr>
        <p:spPr>
          <a:xfrm>
            <a:off x="425072" y="838358"/>
            <a:ext cx="8475792" cy="41073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Role </a:t>
            </a:r>
            <a:r>
              <a:rPr lang="zh-CN" altLang="en-US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人物角色类</a:t>
            </a:r>
            <a:endParaRPr lang="en-US" altLang="zh-CN" b="1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3"/>
          <a:srcRect l="1" r="-2637"/>
          <a:stretch/>
        </p:blipFill>
        <p:spPr>
          <a:xfrm>
            <a:off x="1907704" y="1345332"/>
            <a:ext cx="5655355" cy="3656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432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4478AF-F905-9626-0922-FF970EDEA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C02FF94-264F-FFCE-0337-DDCEF4419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31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27D80656-D49C-A9FE-78AF-5DC3B7269A40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The Legend of Sword and Fairy </a:t>
            </a:r>
            <a:r>
              <a: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(</a:t>
            </a:r>
            <a:r>
              <a:rPr lang="zh-CN" alt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仙剑奇侠传</a:t>
            </a:r>
            <a:r>
              <a: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)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222C224-669F-3C94-3DEE-2505DC81A7AA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AutoShape 2" descr="https://i.pinimg.com/736x/f7/be/bc/f7bebcafbacf057106eee3622de70a28.jpg">
            <a:extLst>
              <a:ext uri="{FF2B5EF4-FFF2-40B4-BE49-F238E27FC236}">
                <a16:creationId xmlns:a16="http://schemas.microsoft.com/office/drawing/2014/main" id="{8F287790-D2BB-B4FB-D8C2-95AA5ED70FA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30C5F6B-A382-EAF7-7308-A90F05CD4B38}"/>
              </a:ext>
            </a:extLst>
          </p:cNvPr>
          <p:cNvSpPr/>
          <p:nvPr/>
        </p:nvSpPr>
        <p:spPr>
          <a:xfrm>
            <a:off x="425072" y="838358"/>
            <a:ext cx="8475792" cy="41073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Role </a:t>
            </a:r>
            <a:r>
              <a:rPr lang="zh-CN" altLang="en-US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人物角色类</a:t>
            </a:r>
            <a:endParaRPr lang="en-US" altLang="zh-CN" b="1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6961" y="1345332"/>
            <a:ext cx="5512013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292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4478AF-F905-9626-0922-FF970EDEA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C02FF94-264F-FFCE-0337-DDCEF4419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32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27D80656-D49C-A9FE-78AF-5DC3B7269A40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The Legend of Sword and Fairy </a:t>
            </a:r>
            <a:r>
              <a: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(</a:t>
            </a:r>
            <a:r>
              <a:rPr lang="zh-CN" alt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仙剑奇侠传</a:t>
            </a:r>
            <a:r>
              <a: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)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222C224-669F-3C94-3DEE-2505DC81A7AA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AutoShape 2" descr="https://i.pinimg.com/736x/f7/be/bc/f7bebcafbacf057106eee3622de70a28.jpg">
            <a:extLst>
              <a:ext uri="{FF2B5EF4-FFF2-40B4-BE49-F238E27FC236}">
                <a16:creationId xmlns:a16="http://schemas.microsoft.com/office/drawing/2014/main" id="{8F287790-D2BB-B4FB-D8C2-95AA5ED70FA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30C5F6B-A382-EAF7-7308-A90F05CD4B38}"/>
              </a:ext>
            </a:extLst>
          </p:cNvPr>
          <p:cNvSpPr/>
          <p:nvPr/>
        </p:nvSpPr>
        <p:spPr>
          <a:xfrm>
            <a:off x="425072" y="838358"/>
            <a:ext cx="8475792" cy="41073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Role </a:t>
            </a:r>
            <a:r>
              <a:rPr lang="zh-CN" altLang="en-US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人物角色类</a:t>
            </a:r>
            <a:endParaRPr lang="en-US" altLang="zh-CN" b="1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7778" y="1345332"/>
            <a:ext cx="5512014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324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4478AF-F905-9626-0922-FF970EDEA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C02FF94-264F-FFCE-0337-DDCEF4419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33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27D80656-D49C-A9FE-78AF-5DC3B7269A40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The Legend of Sword and Fairy </a:t>
            </a:r>
            <a:r>
              <a: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(</a:t>
            </a:r>
            <a:r>
              <a:rPr lang="zh-CN" alt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仙剑奇侠传</a:t>
            </a:r>
            <a:r>
              <a: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)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222C224-669F-3C94-3DEE-2505DC81A7AA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AutoShape 2" descr="https://i.pinimg.com/736x/f7/be/bc/f7bebcafbacf057106eee3622de70a28.jpg">
            <a:extLst>
              <a:ext uri="{FF2B5EF4-FFF2-40B4-BE49-F238E27FC236}">
                <a16:creationId xmlns:a16="http://schemas.microsoft.com/office/drawing/2014/main" id="{8F287790-D2BB-B4FB-D8C2-95AA5ED70FA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30C5F6B-A382-EAF7-7308-A90F05CD4B38}"/>
              </a:ext>
            </a:extLst>
          </p:cNvPr>
          <p:cNvSpPr/>
          <p:nvPr/>
        </p:nvSpPr>
        <p:spPr>
          <a:xfrm>
            <a:off x="272672" y="841276"/>
            <a:ext cx="8475792" cy="23042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342900" indent="-342900">
              <a:lnSpc>
                <a:spcPct val="150000"/>
              </a:lnSpc>
              <a:buFont typeface="+mj-lt"/>
              <a:buAutoNum type="arabicPeriod" startAt="2"/>
            </a:pPr>
            <a:endParaRPr lang="en-US" altLang="zh-CN" b="1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 startAt="2"/>
            </a:pPr>
            <a:endParaRPr lang="en-US" altLang="zh-CN" b="1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30C5F6B-A382-EAF7-7308-A90F05CD4B38}"/>
              </a:ext>
            </a:extLst>
          </p:cNvPr>
          <p:cNvSpPr/>
          <p:nvPr/>
        </p:nvSpPr>
        <p:spPr>
          <a:xfrm>
            <a:off x="425072" y="838358"/>
            <a:ext cx="8475792" cy="41073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Role </a:t>
            </a:r>
            <a:r>
              <a:rPr lang="zh-CN" altLang="en-US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人物角色类</a:t>
            </a:r>
            <a:endParaRPr lang="en-US" altLang="zh-CN" b="1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3"/>
          <a:srcRect r="44777"/>
          <a:stretch/>
        </p:blipFill>
        <p:spPr>
          <a:xfrm>
            <a:off x="5004048" y="791712"/>
            <a:ext cx="3603187" cy="4329640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539552" y="1431297"/>
            <a:ext cx="4701367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Role</a:t>
            </a:r>
          </a:p>
          <a:p>
            <a:r>
              <a:rPr 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├──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</a:p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│   ├── 身份：</a:t>
            </a:r>
            <a:r>
              <a:rPr 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name, level</a:t>
            </a:r>
          </a:p>
          <a:p>
            <a:r>
              <a:rPr 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│   ├──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能力：</a:t>
            </a:r>
            <a:r>
              <a:rPr lang="en-US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maxHp</a:t>
            </a:r>
            <a:r>
              <a:rPr 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maxMp</a:t>
            </a:r>
            <a:r>
              <a:rPr 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attack, defense, </a:t>
            </a:r>
            <a:r>
              <a:rPr 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br>
              <a:rPr 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speed</a:t>
            </a:r>
            <a:r>
              <a:rPr 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luck, spirit</a:t>
            </a:r>
          </a:p>
          <a:p>
            <a:r>
              <a:rPr 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│   ├──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资源：</a:t>
            </a:r>
            <a:r>
              <a:rPr lang="en-US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hp</a:t>
            </a:r>
            <a:r>
              <a:rPr 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mp</a:t>
            </a: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│   └──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状态：</a:t>
            </a:r>
            <a:r>
              <a:rPr 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skills, </a:t>
            </a:r>
            <a:r>
              <a:rPr lang="en-US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isAlive</a:t>
            </a:r>
            <a:r>
              <a:rPr 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isDefending</a:t>
            </a: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│</a:t>
            </a:r>
          </a:p>
          <a:p>
            <a:r>
              <a:rPr 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└──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</a:p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├── 派生：</a:t>
            </a:r>
            <a:r>
              <a:rPr lang="en-US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critRate</a:t>
            </a:r>
            <a:r>
              <a:rPr 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dodgeRate</a:t>
            </a: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├──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打印：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__</a:t>
            </a:r>
            <a:r>
              <a:rPr lang="en-US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str</a:t>
            </a:r>
            <a:r>
              <a:rPr 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__, </a:t>
            </a:r>
            <a:r>
              <a:rPr lang="en-US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printStatus</a:t>
            </a: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├──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资源：</a:t>
            </a:r>
            <a:r>
              <a:rPr lang="en-US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takeDamage</a:t>
            </a:r>
            <a:r>
              <a:rPr 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heal, </a:t>
            </a:r>
            <a:r>
              <a:rPr lang="en-US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restoreMp</a:t>
            </a: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├──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战斗：</a:t>
            </a:r>
            <a:r>
              <a:rPr 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defend, </a:t>
            </a:r>
            <a:r>
              <a:rPr lang="en-US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attackTarget</a:t>
            </a:r>
            <a:r>
              <a:rPr 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useSkill</a:t>
            </a: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├──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结算：</a:t>
            </a:r>
            <a:r>
              <a:rPr lang="en-US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endTurn</a:t>
            </a: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└──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成长：</a:t>
            </a:r>
            <a:r>
              <a:rPr lang="en-US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levelUp</a:t>
            </a: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94947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4478AF-F905-9626-0922-FF970EDEA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7601" y="1316732"/>
            <a:ext cx="5512013" cy="3657600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C02FF94-264F-FFCE-0337-DDCEF4419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34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27D80656-D49C-A9FE-78AF-5DC3B7269A40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The Legend of Sword and Fairy </a:t>
            </a:r>
            <a:r>
              <a: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(</a:t>
            </a:r>
            <a:r>
              <a:rPr lang="zh-CN" alt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仙剑奇侠传</a:t>
            </a:r>
            <a:r>
              <a: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)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222C224-669F-3C94-3DEE-2505DC81A7AA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AutoShape 2" descr="https://i.pinimg.com/736x/f7/be/bc/f7bebcafbacf057106eee3622de70a28.jpg">
            <a:extLst>
              <a:ext uri="{FF2B5EF4-FFF2-40B4-BE49-F238E27FC236}">
                <a16:creationId xmlns:a16="http://schemas.microsoft.com/office/drawing/2014/main" id="{8F287790-D2BB-B4FB-D8C2-95AA5ED70FA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30C5F6B-A382-EAF7-7308-A90F05CD4B38}"/>
              </a:ext>
            </a:extLst>
          </p:cNvPr>
          <p:cNvSpPr/>
          <p:nvPr/>
        </p:nvSpPr>
        <p:spPr>
          <a:xfrm>
            <a:off x="272672" y="841276"/>
            <a:ext cx="8475792" cy="23042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342900" indent="-342900">
              <a:lnSpc>
                <a:spcPct val="150000"/>
              </a:lnSpc>
              <a:buFont typeface="+mj-lt"/>
              <a:buAutoNum type="arabicPeriod" startAt="2"/>
            </a:pPr>
            <a:endParaRPr lang="en-US" altLang="zh-CN" b="1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 startAt="2"/>
            </a:pPr>
            <a:endParaRPr lang="en-US" altLang="zh-CN" b="1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30C5F6B-A382-EAF7-7308-A90F05CD4B38}"/>
              </a:ext>
            </a:extLst>
          </p:cNvPr>
          <p:cNvSpPr/>
          <p:nvPr/>
        </p:nvSpPr>
        <p:spPr>
          <a:xfrm>
            <a:off x="425072" y="838358"/>
            <a:ext cx="8475792" cy="41073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Skill </a:t>
            </a:r>
            <a:r>
              <a:rPr lang="zh-CN" altLang="en-US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法术技能类</a:t>
            </a:r>
            <a:endParaRPr lang="en-US" altLang="zh-CN" b="1" dirty="0" smtClean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39553" y="1431297"/>
            <a:ext cx="2952328" cy="2677656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Skill</a:t>
            </a:r>
          </a:p>
          <a:p>
            <a:r>
              <a:rPr 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├──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</a:p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│   ├── </a:t>
            </a:r>
            <a:r>
              <a:rPr 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name       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技能名</a:t>
            </a:r>
          </a:p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│   ├── </a:t>
            </a:r>
            <a:r>
              <a:rPr lang="en-US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mpCost</a:t>
            </a:r>
            <a:r>
              <a:rPr 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消耗法力</a:t>
            </a:r>
          </a:p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│   ├── </a:t>
            </a:r>
            <a:r>
              <a:rPr 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power      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威力系数</a:t>
            </a:r>
          </a:p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│   ├── </a:t>
            </a:r>
            <a:r>
              <a:rPr lang="en-US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skillType</a:t>
            </a:r>
            <a:r>
              <a:rPr 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类型</a:t>
            </a: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b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damage/heal/defend）</a:t>
            </a:r>
          </a:p>
          <a:p>
            <a:r>
              <a:rPr 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│   └── description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描述</a:t>
            </a:r>
          </a:p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│</a:t>
            </a:r>
          </a:p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└── 方法</a:t>
            </a:r>
          </a:p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└──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__</a:t>
            </a:r>
            <a:r>
              <a:rPr lang="en-US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init</a:t>
            </a:r>
            <a:r>
              <a:rPr 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__   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构造</a:t>
            </a: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5498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4478AF-F905-9626-0922-FF970EDEA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7601" y="1316732"/>
            <a:ext cx="5512013" cy="3657600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C02FF94-264F-FFCE-0337-DDCEF4419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35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27D80656-D49C-A9FE-78AF-5DC3B7269A40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The Legend of Sword and Fairy </a:t>
            </a:r>
            <a:r>
              <a: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(</a:t>
            </a:r>
            <a:r>
              <a:rPr lang="zh-CN" alt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仙剑奇侠传</a:t>
            </a:r>
            <a:r>
              <a: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)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222C224-669F-3C94-3DEE-2505DC81A7AA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AutoShape 2" descr="https://i.pinimg.com/736x/f7/be/bc/f7bebcafbacf057106eee3622de70a28.jpg">
            <a:extLst>
              <a:ext uri="{FF2B5EF4-FFF2-40B4-BE49-F238E27FC236}">
                <a16:creationId xmlns:a16="http://schemas.microsoft.com/office/drawing/2014/main" id="{8F287790-D2BB-B4FB-D8C2-95AA5ED70FA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30C5F6B-A382-EAF7-7308-A90F05CD4B38}"/>
              </a:ext>
            </a:extLst>
          </p:cNvPr>
          <p:cNvSpPr/>
          <p:nvPr/>
        </p:nvSpPr>
        <p:spPr>
          <a:xfrm>
            <a:off x="272672" y="841276"/>
            <a:ext cx="8475792" cy="23042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342900" indent="-342900">
              <a:lnSpc>
                <a:spcPct val="150000"/>
              </a:lnSpc>
              <a:buFont typeface="+mj-lt"/>
              <a:buAutoNum type="arabicPeriod" startAt="2"/>
            </a:pPr>
            <a:endParaRPr lang="en-US" altLang="zh-CN" b="1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 startAt="2"/>
            </a:pPr>
            <a:endParaRPr lang="en-US" altLang="zh-CN" b="1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30C5F6B-A382-EAF7-7308-A90F05CD4B38}"/>
              </a:ext>
            </a:extLst>
          </p:cNvPr>
          <p:cNvSpPr/>
          <p:nvPr/>
        </p:nvSpPr>
        <p:spPr>
          <a:xfrm>
            <a:off x="425072" y="838358"/>
            <a:ext cx="8475792" cy="41073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Item </a:t>
            </a:r>
            <a:r>
              <a:rPr lang="zh-CN" altLang="en-US" b="1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物品类</a:t>
            </a:r>
            <a:endParaRPr lang="en-US" altLang="zh-CN" b="1" dirty="0" smtClean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39553" y="1431297"/>
            <a:ext cx="2952328" cy="2677656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Skill</a:t>
            </a:r>
          </a:p>
          <a:p>
            <a:r>
              <a:rPr 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├──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</a:p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│   ├── </a:t>
            </a:r>
            <a:r>
              <a:rPr 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name       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技能名</a:t>
            </a:r>
          </a:p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│   ├── </a:t>
            </a:r>
            <a:r>
              <a:rPr lang="en-US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mpCost</a:t>
            </a:r>
            <a:r>
              <a:rPr 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消耗法力</a:t>
            </a:r>
          </a:p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│   ├── </a:t>
            </a:r>
            <a:r>
              <a:rPr 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power      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威力系数</a:t>
            </a:r>
          </a:p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│   ├── </a:t>
            </a:r>
            <a:r>
              <a:rPr lang="en-US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skillType</a:t>
            </a:r>
            <a:r>
              <a:rPr 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类型</a:t>
            </a: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b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damage/heal/defend）</a:t>
            </a:r>
          </a:p>
          <a:p>
            <a:r>
              <a:rPr 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│   └── description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描述</a:t>
            </a:r>
          </a:p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│</a:t>
            </a:r>
          </a:p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└── 方法</a:t>
            </a:r>
          </a:p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└──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__</a:t>
            </a:r>
            <a:r>
              <a:rPr lang="en-US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init</a:t>
            </a:r>
            <a:r>
              <a:rPr 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__   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构造</a:t>
            </a: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25681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23768</TotalTime>
  <Words>3081</Words>
  <Application>Microsoft Office PowerPoint</Application>
  <PresentationFormat>全屏显示(16:10)</PresentationFormat>
  <Paragraphs>357</Paragraphs>
  <Slides>35</Slides>
  <Notes>35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44" baseType="lpstr">
      <vt:lpstr>MS PGothic</vt:lpstr>
      <vt:lpstr>宋体</vt:lpstr>
      <vt:lpstr>微软雅黑</vt:lpstr>
      <vt:lpstr>Arial</vt:lpstr>
      <vt:lpstr>Arial Black</vt:lpstr>
      <vt:lpstr>Calibri</vt:lpstr>
      <vt:lpstr>Consolas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单像素成像技术与 单像素免成像技术</dc:title>
  <dc:creator>pc</dc:creator>
  <cp:lastModifiedBy>pc</cp:lastModifiedBy>
  <cp:revision>2120</cp:revision>
  <dcterms:created xsi:type="dcterms:W3CDTF">2020-06-09T03:02:09Z</dcterms:created>
  <dcterms:modified xsi:type="dcterms:W3CDTF">2026-10-13T07:47:15Z</dcterms:modified>
</cp:coreProperties>
</file>