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87" r:id="rId2"/>
    <p:sldId id="2007579623" r:id="rId3"/>
    <p:sldId id="2007579622" r:id="rId4"/>
    <p:sldId id="2007579624" r:id="rId5"/>
    <p:sldId id="2007579625" r:id="rId6"/>
    <p:sldId id="2007579630" r:id="rId7"/>
    <p:sldId id="2007579627" r:id="rId8"/>
    <p:sldId id="2007579628" r:id="rId9"/>
    <p:sldId id="2007579629" r:id="rId10"/>
    <p:sldId id="2007579631" r:id="rId11"/>
    <p:sldId id="2007579632" r:id="rId12"/>
    <p:sldId id="2007579633" r:id="rId13"/>
    <p:sldId id="2007579634" r:id="rId14"/>
    <p:sldId id="2007579635" r:id="rId15"/>
    <p:sldId id="2007579636" r:id="rId16"/>
    <p:sldId id="2007579637" r:id="rId17"/>
    <p:sldId id="2007579638" r:id="rId18"/>
    <p:sldId id="2007579639" r:id="rId19"/>
    <p:sldId id="2007579640" r:id="rId20"/>
    <p:sldId id="2007579642" r:id="rId21"/>
    <p:sldId id="2007579643" r:id="rId22"/>
    <p:sldId id="2007579644" r:id="rId23"/>
    <p:sldId id="2007579645" r:id="rId24"/>
    <p:sldId id="2007579641" r:id="rId25"/>
    <p:sldId id="2007579646" r:id="rId26"/>
    <p:sldId id="2007579647" r:id="rId2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1">
          <p15:clr>
            <a:srgbClr val="A4A3A4"/>
          </p15:clr>
        </p15:guide>
        <p15:guide id="2" pos="269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 Zibang" initials="ZZ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D1F1"/>
    <a:srgbClr val="4EC9B0"/>
    <a:srgbClr val="8C1515"/>
    <a:srgbClr val="E0E0E0"/>
    <a:srgbClr val="00008F"/>
    <a:srgbClr val="3C679C"/>
    <a:srgbClr val="C9742F"/>
    <a:srgbClr val="CF7225"/>
    <a:srgbClr val="8B0B0B"/>
    <a:srgbClr val="FDC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78480" autoAdjust="0"/>
  </p:normalViewPr>
  <p:slideViewPr>
    <p:cSldViewPr>
      <p:cViewPr>
        <p:scale>
          <a:sx n="66" d="100"/>
          <a:sy n="66" d="100"/>
        </p:scale>
        <p:origin x="2940" y="696"/>
      </p:cViewPr>
      <p:guideLst>
        <p:guide orient="horz" pos="1181"/>
        <p:guide pos="269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19C75-063A-4430-A319-3780764FEA8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2EEAF-8DE4-409C-A614-809959D8A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207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7647B-E055-44F4-BDAD-511D5418643E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6792D-4616-4DF5-9FAF-847C90E5E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851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1934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611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984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95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067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2983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051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707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855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2330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55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584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160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3108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6737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520E3-F404-4626-4D12-F5E0B056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A05AE8-08BA-E58B-6F61-A957ABB6A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97C754-4FEF-7B8F-1120-E4BD0465A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485C54-52A8-04A4-549F-9DCD74C6D6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2398DE8-5784-0D96-5F30-E0A6D8F98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5339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667E5-E357-8F0A-3CE7-05BB121FC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632C463-80EE-47EF-A532-D2B12C2A7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F86AE9-F22E-60E0-A830-D4C06E793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A38F927-569A-6B7E-A33D-DBFC2B2C46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6E005D2-14D5-132F-1E66-D3816ECA6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2327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EB947-F0A8-4C02-2714-218BD4977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BF38B07-29D2-0D5A-001D-D3D65CB1D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DB7A8E-95B8-C455-9E7A-B2260D57DB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2ED77A-F165-6851-3F37-1307A49F8E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3BE580-2CA1-ABA5-0368-752FD153B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2196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99A08-ABC0-4A0A-2A45-16FF4D088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9617E4-9CAE-4F09-B8BE-68CF724E0A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D1E028-0A5B-3320-B025-924BC4D94A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C0B5F4-DF47-D2E6-02E3-DDD9FFCB14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DA5733-B813-91B4-49DA-90D1322C3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4380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EED82-DAEC-F803-BF44-47DE1E107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78AED8-08C3-207C-25DF-8586BF13EB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1A71F1-A388-220F-DA0D-C868CC25A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F6187EE-9949-DA2C-34B4-A354C8D158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FBD41A-F7FE-CB9A-627D-945278ADA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8905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41A69-02D0-14DA-F348-5D0706E3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7B43A2-8679-EFCA-E914-FC42931EE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0D1A3C-F8F4-0BB0-FBD3-B17311090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A43883-7DF8-7438-5E28-01AB997FA3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FED75F2-FF26-8AAA-58D7-62DBE1A75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7596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6F81B-8E47-2F3C-3738-38707DCA4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E493E0-F6B4-EB26-615B-20CA25229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8B16E6C-9E46-36E7-0734-B694A94C4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BD026-BB67-B8FF-CE70-1F19A628372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C23DA6-7BC9-A876-9898-0BE8BA7A32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24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00CC9-6799-B303-4F53-0A21881D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578EFE-9141-BF90-F063-F92F440F3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BE70A0D-8F87-0A9F-6107-A17A8482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3C8A042-276E-B8C0-B6C0-9592FA3E875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EB8A119-CBC8-E809-5387-671FA1A3DC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609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66F26E-16D4-4285-86B5-5A02881A0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257800"/>
            <a:ext cx="9155113" cy="457200"/>
          </a:xfrm>
          <a:prstGeom prst="rect">
            <a:avLst/>
          </a:prstGeom>
          <a:solidFill>
            <a:srgbClr val="8C1515"/>
          </a:solidFill>
          <a:ln w="9525">
            <a:solidFill>
              <a:srgbClr val="8C1515"/>
            </a:solidFill>
            <a:miter lim="800000"/>
            <a:headEnd/>
            <a:tailEnd/>
          </a:ln>
          <a:effectLst>
            <a:outerShdw blurRad="38100" dist="25401" dir="2700000" algn="br" rotWithShape="0">
              <a:srgbClr val="808080">
                <a:alpha val="59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79712" y="1460356"/>
            <a:ext cx="2954337" cy="123444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单击此处编辑母版标题样式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9712" y="2837669"/>
            <a:ext cx="2954337" cy="12439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all" spc="300" normalizeH="0" baseline="0" noProof="0">
                <a:ln>
                  <a:noFill/>
                </a:ln>
                <a:solidFill>
                  <a:srgbClr val="A4001D"/>
                </a:solidFill>
                <a:effectLst/>
                <a:uLnTx/>
                <a:uFillTx/>
              </a:rPr>
              <a:t>单击此处编辑母版文本样式</a:t>
            </a:r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5041994" y="1455485"/>
            <a:ext cx="1951038" cy="2601384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44450" cap="flat" cmpd="sng" algn="ctr">
            <a:solidFill>
              <a:srgbClr val="FFFFFF"/>
            </a:solidFill>
            <a:prstDash val="solid"/>
          </a:ln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txBody>
          <a:bodyPr/>
          <a:lstStyle>
            <a:lvl1pPr>
              <a:buNone/>
              <a:defRPr sz="1200"/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7080" y="5358976"/>
            <a:ext cx="807077" cy="25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9A8DF32-1A1B-3C3E-D235-D057C4233D1B}"/>
              </a:ext>
            </a:extLst>
          </p:cNvPr>
          <p:cNvSpPr/>
          <p:nvPr userDrawn="1"/>
        </p:nvSpPr>
        <p:spPr>
          <a:xfrm>
            <a:off x="0" y="118046"/>
            <a:ext cx="228600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A24903-F4DA-DDF5-351D-FF499065F442}"/>
              </a:ext>
            </a:extLst>
          </p:cNvPr>
          <p:cNvSpPr/>
          <p:nvPr userDrawn="1"/>
        </p:nvSpPr>
        <p:spPr>
          <a:xfrm>
            <a:off x="300221" y="118046"/>
            <a:ext cx="83756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8E52F7B5-FAEE-B7D9-CDE1-95CD25BAC7F3}"/>
              </a:ext>
            </a:extLst>
          </p:cNvPr>
          <p:cNvCxnSpPr>
            <a:cxnSpLocks/>
          </p:cNvCxnSpPr>
          <p:nvPr userDrawn="1"/>
        </p:nvCxnSpPr>
        <p:spPr>
          <a:xfrm>
            <a:off x="506887" y="625252"/>
            <a:ext cx="8637113" cy="0"/>
          </a:xfrm>
          <a:prstGeom prst="line">
            <a:avLst/>
          </a:prstGeom>
          <a:ln w="19050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98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9328163-63B1-448A-8C5E-85E95C5B897F}"/>
              </a:ext>
            </a:extLst>
          </p:cNvPr>
          <p:cNvSpPr/>
          <p:nvPr userDrawn="1"/>
        </p:nvSpPr>
        <p:spPr>
          <a:xfrm>
            <a:off x="0" y="0"/>
            <a:ext cx="457200" cy="5714999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4408" y="5377780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2754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757592" y="-5351412"/>
            <a:ext cx="36004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9117616" y="-5639444"/>
            <a:ext cx="36004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0477672" y="11066412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8253520" y="11138496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928833"/>
            <a:ext cx="9144000" cy="3915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" descr="See the source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388" y="3571779"/>
            <a:ext cx="1659527" cy="124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D:\Work\Openhouse\logo2.png">
            <a:extLst>
              <a:ext uri="{FF2B5EF4-FFF2-40B4-BE49-F238E27FC236}">
                <a16:creationId xmlns:a16="http://schemas.microsoft.com/office/drawing/2014/main" id="{9B2CA439-5E9F-4CE2-A272-854DAA849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28" y="221948"/>
            <a:ext cx="1799792" cy="57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组合 31">
            <a:extLst>
              <a:ext uri="{FF2B5EF4-FFF2-40B4-BE49-F238E27FC236}">
                <a16:creationId xmlns:a16="http://schemas.microsoft.com/office/drawing/2014/main" id="{70F6FD2C-7DD5-4800-84E5-469FFEDEA8E5}"/>
              </a:ext>
            </a:extLst>
          </p:cNvPr>
          <p:cNvGrpSpPr/>
          <p:nvPr/>
        </p:nvGrpSpPr>
        <p:grpSpPr>
          <a:xfrm>
            <a:off x="192320" y="1197264"/>
            <a:ext cx="8775511" cy="1452923"/>
            <a:chOff x="1802914" y="1417340"/>
            <a:chExt cx="11700681" cy="1452923"/>
          </a:xfrm>
        </p:grpSpPr>
        <p:sp>
          <p:nvSpPr>
            <p:cNvPr id="33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1802914" y="1568947"/>
              <a:ext cx="5647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prstClr val="black"/>
                </a:buClr>
              </a:pPr>
              <a:r>
                <a:rPr lang="en-US" altLang="zh-CN" sz="2400" b="1" dirty="0">
                  <a:solidFill>
                    <a:prstClr val="white">
                      <a:lumMod val="85000"/>
                    </a:prstClr>
                  </a:solidFill>
                  <a:latin typeface="微软雅黑" pitchFamily="34" charset="-122"/>
                  <a:cs typeface="Arial" panose="020B0604020202020204" pitchFamily="34" charset="0"/>
                </a:rPr>
                <a:t>Advanced Programming</a:t>
              </a:r>
              <a:endParaRPr lang="zh-CN" altLang="en-US" sz="2400" dirty="0">
                <a:solidFill>
                  <a:prstClr val="white">
                    <a:lumMod val="85000"/>
                  </a:prstClr>
                </a:solidFill>
                <a:latin typeface="微软雅黑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531593D7-94FD-48F3-8E01-E12F509FC844}"/>
                </a:ext>
              </a:extLst>
            </p:cNvPr>
            <p:cNvCxnSpPr/>
            <p:nvPr/>
          </p:nvCxnSpPr>
          <p:spPr>
            <a:xfrm>
              <a:off x="1802915" y="1417340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4E660E5E-8A20-446F-BDA6-56D9A3964607}"/>
                </a:ext>
              </a:extLst>
            </p:cNvPr>
            <p:cNvCxnSpPr/>
            <p:nvPr/>
          </p:nvCxnSpPr>
          <p:spPr>
            <a:xfrm>
              <a:off x="1802915" y="2174498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">
              <a:extLst>
                <a:ext uri="{FF2B5EF4-FFF2-40B4-BE49-F238E27FC236}">
                  <a16:creationId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2960925" y="2285488"/>
              <a:ext cx="938608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prstClr val="black"/>
                </a:buClr>
              </a:pPr>
              <a:r>
                <a:rPr lang="en-US" altLang="zh-CN" sz="3200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Lecture 07 Files</a:t>
              </a:r>
              <a:endParaRPr lang="zh-CN" altLang="en-US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0"/>
            <a:ext cx="9144000" cy="1063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8624931" y="4444663"/>
            <a:ext cx="950053" cy="4000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">
            <a:extLst>
              <a:ext uri="{FF2B5EF4-FFF2-40B4-BE49-F238E27FC236}">
                <a16:creationId xmlns:a16="http://schemas.microsoft.com/office/drawing/2014/main" id="{B326EBC7-93F8-41CA-9C03-87466766C001}"/>
              </a:ext>
            </a:extLst>
          </p:cNvPr>
          <p:cNvSpPr txBox="1"/>
          <p:nvPr/>
        </p:nvSpPr>
        <p:spPr>
          <a:xfrm>
            <a:off x="1942068" y="3172319"/>
            <a:ext cx="536623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20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Zibang Zhang</a:t>
            </a:r>
            <a:endParaRPr lang="en-US" altLang="zh-CN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14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Optoelectronic Engineering, Jinan University</a:t>
            </a:r>
            <a:endParaRPr lang="zh-CN" altLang="en-US" sz="14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94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a File on a Computer?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84976" cy="8640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computing, a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file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a named collection of data stored on a storage device (like a hard drive, SSD, or USB stick) that a computer treats as a single unit.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2137420"/>
            <a:ext cx="2537763" cy="262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25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a File on a Computer?</a:t>
            </a:r>
          </a:p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84976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 characteristics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Name and extension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e.g., </a:t>
            </a:r>
            <a:r>
              <a:rPr lang="en-US" altLang="zh-CN" sz="16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report.docx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extension (.docx) often hints at the format or the program that opens it.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</a:t>
            </a:r>
            <a:r>
              <a:rPr lang="en-US" altLang="zh-CN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the actual data: text, images, video, code, or raw bytes.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Metadata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information about the file, such as size, creation/modification dates, and permissions.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Location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a path in the file system, e.g., C:\Users\Alex\Documents\report.docx.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Type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files are broadly either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text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(human-readable characters) or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binary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(encoded data meant for programs).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39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Files vs. Folders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84976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folder (directory) is a container that holds files and other folders. </a:t>
            </a:r>
            <a:b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file system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organizes everything into a hierarchy, and 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operating system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manages how files are created, read, written, and deleted.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t="22321" b="22321"/>
          <a:stretch/>
        </p:blipFill>
        <p:spPr>
          <a:xfrm>
            <a:off x="2706360" y="2681348"/>
            <a:ext cx="3731281" cy="190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601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Does an empty file or folder occupy storage?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84976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short answer is yes</a:t>
            </a:r>
            <a:b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Both empty files and empty folders consume some storage space, but the amount is often so tiny that the operating system may report it as "0 bytes." </a:t>
            </a:r>
            <a:b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exact behavior depends heavily on 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file system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(like NTFS on Windows or ext4 on Linux).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767532"/>
            <a:ext cx="4592762" cy="23288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3354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a File System?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250" y="1233487"/>
            <a:ext cx="6667500" cy="324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692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a File System?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84976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Common file systems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866150"/>
              </p:ext>
            </p:extLst>
          </p:nvPr>
        </p:nvGraphicFramePr>
        <p:xfrm>
          <a:off x="827584" y="1417340"/>
          <a:ext cx="7606856" cy="3015428"/>
        </p:xfrm>
        <a:graphic>
          <a:graphicData uri="http://schemas.openxmlformats.org/drawingml/2006/table">
            <a:tbl>
              <a:tblPr/>
              <a:tblGrid>
                <a:gridCol w="2427462">
                  <a:extLst>
                    <a:ext uri="{9D8B030D-6E8A-4147-A177-3AD203B41FA5}">
                      <a16:colId xmlns:a16="http://schemas.microsoft.com/office/drawing/2014/main" val="49734830"/>
                    </a:ext>
                  </a:extLst>
                </a:gridCol>
                <a:gridCol w="5179394">
                  <a:extLst>
                    <a:ext uri="{9D8B030D-6E8A-4147-A177-3AD203B41FA5}">
                      <a16:colId xmlns:a16="http://schemas.microsoft.com/office/drawing/2014/main" val="32170542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File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Typical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32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NTFS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Windows system and data drives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57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FAT32 / exFAT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USB sticks, cross-platform removable media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235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ext4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078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APFS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macOS and iOS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2009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HFS+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Older macOS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5100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XFS / Btrfs / ZFS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Linux servers, advanced features (snapshots, checksums)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8561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ISO 9660 / UDF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Optical discs (CD/DVD)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6503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711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a File System?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799338"/>
            <a:ext cx="3600400" cy="43560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圆角矩形 6"/>
          <p:cNvSpPr/>
          <p:nvPr/>
        </p:nvSpPr>
        <p:spPr>
          <a:xfrm>
            <a:off x="2915816" y="2146945"/>
            <a:ext cx="1512168" cy="189735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215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a File System?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84976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file system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the method and data structure an operating system uses to organize, store, retrieve, and manage files and folders on a storage device.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Think of it as the filing system and rulebook for a disk: it defines how data is laid out physically, where each file lives, and who can access it.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Without a file system, a hard drive would just be a massive, unorganized sequence of bytes with no way to tell where one file ends and another begins.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708" y="3505572"/>
            <a:ext cx="5256584" cy="155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59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is a File System?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63824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Core responsibilities of a file system: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Naming and paths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gives files names and organizes them into a hierarchy 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(e.g., C:\Users\Alex\Documents\report.docx).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Space management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tracks which blocks/clusters on the disk are free, used, or reserved.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Metadata storage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keeps records of file size, timestamps, permissions, and ownership.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Access control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 enforces read/write/execute permissions per user or group.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Reliability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handles fragmentation, journaling (crash recovery), and error checking.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Abstraction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— hides the raw hardware so programs can just say "open this file" instead of dealing with disk sectors.</a:t>
            </a:r>
          </a:p>
        </p:txBody>
      </p:sp>
    </p:spTree>
    <p:extLst>
      <p:ext uri="{BB962C8B-B14F-4D97-AF65-F5344CB8AC3E}">
        <p14:creationId xmlns:p14="http://schemas.microsoft.com/office/powerpoint/2010/main" val="1848336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Where is the Metadata of a File Stored?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63824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For 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📄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NTFS (Windows)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Metadata is centrally stored in the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Master File Table (MFT). 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Each file or directory corresponds to a record in the MFT, containing the file name, timestamps, permissions, and other attributes.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fsutil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fsinfo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ntfsinfo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C:”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425452"/>
            <a:ext cx="3456384" cy="274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14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Types of files in Python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折角形 4"/>
          <p:cNvSpPr/>
          <p:nvPr/>
        </p:nvSpPr>
        <p:spPr>
          <a:xfrm rot="10800000" flipH="1">
            <a:off x="5436096" y="1345332"/>
            <a:ext cx="2016224" cy="2736304"/>
          </a:xfrm>
          <a:prstGeom prst="foldedCorner">
            <a:avLst>
              <a:gd name="adj" fmla="val 34054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文本框 5"/>
          <p:cNvSpPr txBox="1"/>
          <p:nvPr/>
        </p:nvSpPr>
        <p:spPr>
          <a:xfrm>
            <a:off x="1763688" y="4081636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Myfile.txt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436096" y="4081636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Myfile.bin</a:t>
            </a:r>
            <a:endParaRPr lang="en-US" sz="2000" dirty="0"/>
          </a:p>
        </p:txBody>
      </p:sp>
      <p:sp>
        <p:nvSpPr>
          <p:cNvPr id="12" name="折角形 11"/>
          <p:cNvSpPr/>
          <p:nvPr/>
        </p:nvSpPr>
        <p:spPr>
          <a:xfrm rot="10800000" flipH="1">
            <a:off x="5436096" y="1352589"/>
            <a:ext cx="2016224" cy="2736304"/>
          </a:xfrm>
          <a:prstGeom prst="foldedCorner">
            <a:avLst>
              <a:gd name="adj" fmla="val 34054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折角形 12"/>
          <p:cNvSpPr/>
          <p:nvPr/>
        </p:nvSpPr>
        <p:spPr>
          <a:xfrm rot="10800000" flipH="1">
            <a:off x="1784964" y="1352589"/>
            <a:ext cx="2016224" cy="2736304"/>
          </a:xfrm>
          <a:prstGeom prst="foldedCorner">
            <a:avLst>
              <a:gd name="adj" fmla="val 34054"/>
            </a:avLst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文本框 13"/>
          <p:cNvSpPr txBox="1"/>
          <p:nvPr/>
        </p:nvSpPr>
        <p:spPr>
          <a:xfrm>
            <a:off x="1475656" y="1352588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Text File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26787" y="1352588"/>
            <a:ext cx="2016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Binary File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79712" y="2135603"/>
            <a:ext cx="16561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a text file which contains readable characters for human</a:t>
            </a:r>
          </a:p>
        </p:txBody>
      </p:sp>
      <p:sp>
        <p:nvSpPr>
          <p:cNvPr id="10" name="矩形 9"/>
          <p:cNvSpPr/>
          <p:nvPr/>
        </p:nvSpPr>
        <p:spPr>
          <a:xfrm>
            <a:off x="1972436" y="2135603"/>
            <a:ext cx="1598728" cy="1802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66339" y="2135603"/>
            <a:ext cx="165618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010101010101</a:t>
            </a:r>
          </a:p>
          <a:p>
            <a:r>
              <a:rPr lang="en-US" dirty="0"/>
              <a:t>101101010101011011011010101010101010101010100101</a:t>
            </a:r>
          </a:p>
        </p:txBody>
      </p:sp>
      <p:sp>
        <p:nvSpPr>
          <p:cNvPr id="19" name="矩形 18"/>
          <p:cNvSpPr/>
          <p:nvPr/>
        </p:nvSpPr>
        <p:spPr>
          <a:xfrm>
            <a:off x="5580111" y="2135603"/>
            <a:ext cx="1598728" cy="180201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68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Text File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63824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One of 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simplest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and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most fundamental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types of computer files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Stores data as a sequence of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human-readable characters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encoded in a standard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character encoding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scheme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en-US" altLang="zh-CN" sz="16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2159990"/>
            <a:ext cx="4320480" cy="305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586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Character Encoding – How text is encoded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63824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text file is ultimately just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bytes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; the encoding tells the software how to map bytes to characters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Mismatched encoding is a common cause of "</a:t>
            </a:r>
            <a:r>
              <a:rPr lang="en-US" altLang="zh-CN" sz="16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mojibake</a:t>
            </a:r>
            <a:r>
              <a:rPr lang="en-US" altLang="zh-CN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 (garbled text, like æ–‡ä»¶).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6602"/>
              </p:ext>
            </p:extLst>
          </p:nvPr>
        </p:nvGraphicFramePr>
        <p:xfrm>
          <a:off x="460374" y="2209428"/>
          <a:ext cx="8360097" cy="2591628"/>
        </p:xfrm>
        <a:graphic>
          <a:graphicData uri="http://schemas.openxmlformats.org/drawingml/2006/table">
            <a:tbl>
              <a:tblPr/>
              <a:tblGrid>
                <a:gridCol w="2131853">
                  <a:extLst>
                    <a:ext uri="{9D8B030D-6E8A-4147-A177-3AD203B41FA5}">
                      <a16:colId xmlns:a16="http://schemas.microsoft.com/office/drawing/2014/main" val="3112081084"/>
                    </a:ext>
                  </a:extLst>
                </a:gridCol>
                <a:gridCol w="6228244">
                  <a:extLst>
                    <a:ext uri="{9D8B030D-6E8A-4147-A177-3AD203B41FA5}">
                      <a16:colId xmlns:a16="http://schemas.microsoft.com/office/drawing/2014/main" val="408620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2508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ASCII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7-bit, 128 characters (English letters, digits, basic punctuation).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5929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UTF-8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Variable-width</a:t>
                      </a: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backward-compatible with ASCII, supports virtually all languages and emoji. </a:t>
                      </a:r>
                      <a:r>
                        <a:rPr lang="en-US" sz="1400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Now the dominant standard.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219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UTF-16 / UTF-32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Fixed/variable width, used in some Windows and legacy contexts.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89958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Latin-1 (ISO-8859-1)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8-bit Western European characters.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5779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GBK / GB2312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Chinese character encodings (legacy; UTF-8 is preferred today).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642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2266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“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这是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个文本文件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” in UTF-8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63824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phrase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"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这是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lang="zh-CN" altLang="en-US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个文本文件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 contains 7 Chinese characters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UTF-8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,each common CJK character (in the U+4E00–U+9FFF range) is encoded as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 bytes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each Latin character is encoded as 1 byte.</a:t>
            </a:r>
            <a:b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So:   7 × 3 + 1 × 1 = 22 bytes</a:t>
            </a:r>
          </a:p>
        </p:txBody>
      </p:sp>
      <p:sp>
        <p:nvSpPr>
          <p:cNvPr id="6" name="流程图: 可选过程 5"/>
          <p:cNvSpPr/>
          <p:nvPr/>
        </p:nvSpPr>
        <p:spPr>
          <a:xfrm>
            <a:off x="3538460" y="2785492"/>
            <a:ext cx="2232248" cy="2232248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UTF-8</a:t>
            </a:r>
          </a:p>
        </p:txBody>
      </p:sp>
    </p:spTree>
    <p:extLst>
      <p:ext uri="{BB962C8B-B14F-4D97-AF65-F5344CB8AC3E}">
        <p14:creationId xmlns:p14="http://schemas.microsoft.com/office/powerpoint/2010/main" val="26036789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Binary File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63824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binary file is any file whose content is stored as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raw bytes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intended to be interpreted by a specific program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or according to a specific format — rather than as human-readable text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919" y="2065412"/>
            <a:ext cx="3935329" cy="28969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557082" y="4950990"/>
            <a:ext cx="43522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binary file (.</a:t>
            </a:r>
            <a:r>
              <a:rPr lang="en-US" altLang="zh-CN" sz="1400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pptx</a:t>
            </a:r>
            <a:r>
              <a:rPr lang="en-US" altLang="zh-CN" sz="14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viewed in Notepad++ (text editor)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36495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Binary File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CBEB535-EE8D-E2C9-96D4-FFBE50C80CFB}"/>
              </a:ext>
            </a:extLst>
          </p:cNvPr>
          <p:cNvSpPr/>
          <p:nvPr/>
        </p:nvSpPr>
        <p:spPr>
          <a:xfrm>
            <a:off x="272672" y="841276"/>
            <a:ext cx="8763824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binary file is any file whose content is stored as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raw bytes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intended to be interpreted by a specific program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or according to a specific format — rather than as human-readable text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557082" y="4950990"/>
            <a:ext cx="40957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binary file (.</a:t>
            </a:r>
            <a:r>
              <a:rPr lang="en-US" altLang="zh-CN" sz="1400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pptx</a:t>
            </a:r>
            <a:r>
              <a:rPr lang="en-US" altLang="zh-CN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viewed in </a:t>
            </a:r>
            <a:r>
              <a:rPr lang="en-US" altLang="zh-CN" sz="1400" dirty="0" err="1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WinHex</a:t>
            </a:r>
            <a:r>
              <a:rPr lang="en-US" altLang="zh-CN" sz="1400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(hex editor)</a:t>
            </a:r>
            <a:endParaRPr lang="en-US" sz="1400" dirty="0">
              <a:solidFill>
                <a:srgbClr val="C0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401" y="2131365"/>
            <a:ext cx="4535198" cy="2761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689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4A267-3D73-2D53-9A71-A23C268FA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7AA3A8-2262-AFD7-DD9F-42A3D04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0F4B1768-C25A-1801-119F-A8787B8D804D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Read / Write a File in Python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F9260C5-9FC2-CCE8-5673-8CF114E474DD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BA59E39-1E66-A9B5-D420-D6A8C4A2A6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0A1486D-E638-4202-B240-B8B378955C10}"/>
              </a:ext>
            </a:extLst>
          </p:cNvPr>
          <p:cNvSpPr/>
          <p:nvPr/>
        </p:nvSpPr>
        <p:spPr>
          <a:xfrm>
            <a:off x="272672" y="841276"/>
            <a:ext cx="8763824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You can manage files manually with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open()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and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close()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key rule: always call close() — otherwise data may not be flushed to disk and the file handle leaks. The safest pattern is 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try/finally, 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 the file gets closed even if an error occurs mid-way.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E79E6C-C59E-98AB-595F-97406B4527BB}"/>
              </a:ext>
            </a:extLst>
          </p:cNvPr>
          <p:cNvSpPr txBox="1"/>
          <p:nvPr/>
        </p:nvSpPr>
        <p:spPr>
          <a:xfrm>
            <a:off x="2267744" y="3073524"/>
            <a:ext cx="4851176" cy="1466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zh-CN" altLang="zh-CN" sz="1365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36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'example.txt'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365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365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finally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zh-CN" altLang="zh-CN" sz="1365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close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37789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42C68-84C1-78F5-3FA6-2132DBC5D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D69BE-9E40-D7F5-9CB2-F2720BC16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DFDCFEF3-35CC-ACBB-EB24-94C3DDBCA92B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open()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28C59C7-8C23-77C8-D418-C0833BFEB9FC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C97C6E5A-F2AE-564A-08EC-490E8C38D32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54D3692-165A-9051-85B9-3F0A32AF1CC6}"/>
              </a:ext>
            </a:extLst>
          </p:cNvPr>
          <p:cNvSpPr/>
          <p:nvPr/>
        </p:nvSpPr>
        <p:spPr>
          <a:xfrm>
            <a:off x="272672" y="841276"/>
            <a:ext cx="8763824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built-in open() function is the primary gateway for file operations in Python.</a:t>
            </a:r>
            <a:endParaRPr lang="en-US" altLang="zh-CN" sz="1600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B2CFDC-7098-41FC-60A1-139C52B20C01}"/>
              </a:ext>
            </a:extLst>
          </p:cNvPr>
          <p:cNvSpPr txBox="1"/>
          <p:nvPr/>
        </p:nvSpPr>
        <p:spPr>
          <a:xfrm>
            <a:off x="1342950" y="1389512"/>
            <a:ext cx="6626746" cy="5417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path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buffering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=-</a:t>
            </a:r>
            <a:r>
              <a:rPr lang="zh-CN" altLang="zh-CN" sz="1365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\</a:t>
            </a:r>
          </a:p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errors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newline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closefd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opener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496EE9A-151F-5B72-57B3-D5AC9C433F1B}"/>
              </a:ext>
            </a:extLst>
          </p:cNvPr>
          <p:cNvSpPr txBox="1"/>
          <p:nvPr/>
        </p:nvSpPr>
        <p:spPr>
          <a:xfrm>
            <a:off x="307975" y="2028478"/>
            <a:ext cx="8563353" cy="2406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Core Parameters</a:t>
            </a:r>
          </a:p>
          <a:p>
            <a:pPr lvl="1">
              <a:lnSpc>
                <a:spcPct val="150000"/>
              </a:lnSpc>
            </a:pPr>
            <a:r>
              <a:rPr lang="zh-CN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path</a:t>
            </a:r>
            <a:r>
              <a:rPr lang="zh-CN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(required)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The path to the file you want to open. 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zh-CN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This can be a string or a path-like object. It is the only mandatory argument.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endParaRPr lang="en-US" altLang="zh-C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zh-CN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mode</a:t>
            </a:r>
            <a:r>
              <a:rPr lang="zh-CN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 (default: ‘r’)</a:t>
            </a:r>
            <a:endParaRPr lang="en-US" altLang="zh-C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50000"/>
              </a:lnSpc>
            </a:pPr>
            <a:r>
              <a:rPr lang="zh-CN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A string that determines how the file is opened. </a:t>
            </a:r>
          </a:p>
        </p:txBody>
      </p:sp>
    </p:spTree>
    <p:extLst>
      <p:ext uri="{BB962C8B-B14F-4D97-AF65-F5344CB8AC3E}">
        <p14:creationId xmlns:p14="http://schemas.microsoft.com/office/powerpoint/2010/main" val="1532833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F1B14-A663-A7AD-03F6-86B6B2EB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A8667-A310-A09C-6D59-7F9DA2E5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5B3C45A8-A2F5-501A-BE77-96AF962606E9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Open a File in Text Mode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35B7C5-2718-5750-CDD0-B73EC3DED7F7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5378AF32-EF4B-FE00-2BF1-7D8F66B2B0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AA62CEE-5DC5-D989-CA95-E7A07DABE4A7}"/>
              </a:ext>
            </a:extLst>
          </p:cNvPr>
          <p:cNvSpPr txBox="1"/>
          <p:nvPr/>
        </p:nvSpPr>
        <p:spPr>
          <a:xfrm>
            <a:off x="1342950" y="2315749"/>
            <a:ext cx="6626746" cy="5417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zh-CN" altLang="zh-CN" sz="1365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zh-CN" altLang="zh-CN" sz="1365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'c:/myfile.txt'</a:t>
            </a:r>
            <a:endParaRPr lang="zh-CN" altLang="zh-CN" sz="1365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zh-CN" altLang="zh-CN" sz="1365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'r'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encoding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'utf-8'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6456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CAC1D-8DEE-4494-2A87-88FAC457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5DEB23-7080-826E-8FCD-847E39BB3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718A29D0-2309-85AC-B45D-0291F4B5D659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Open a File in Binary Mode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7F5F818-F57F-DEAD-19B5-A4C76BC27843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8D4946ED-7E45-DF7A-0871-7334F86EE2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0647E8-1E64-6F0C-DD10-ACC366CEA472}"/>
              </a:ext>
            </a:extLst>
          </p:cNvPr>
          <p:cNvSpPr txBox="1"/>
          <p:nvPr/>
        </p:nvSpPr>
        <p:spPr>
          <a:xfrm>
            <a:off x="1342950" y="2315749"/>
            <a:ext cx="6626746" cy="54175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zh-CN" altLang="zh-CN" sz="1365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zh-CN" altLang="zh-CN" sz="1365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'c:/myfile.</a:t>
            </a:r>
            <a:r>
              <a:rPr lang="en-US" altLang="zh-CN" sz="1365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bin</a:t>
            </a:r>
            <a:r>
              <a:rPr lang="zh-CN" altLang="zh-CN" sz="1365" b="0" dirty="0">
                <a:solidFill>
                  <a:srgbClr val="D16969"/>
                </a:solidFill>
                <a:effectLst/>
                <a:latin typeface="Consolas" panose="020B0609020204030204" pitchFamily="49" charset="0"/>
              </a:rPr>
              <a:t>'</a:t>
            </a:r>
            <a:endParaRPr lang="zh-CN" altLang="zh-CN" sz="1365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9890"/>
              </a:lnSpc>
              <a:buNone/>
            </a:pP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zh-CN" altLang="zh-CN" sz="1365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open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filepath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zh-CN" altLang="zh-CN" sz="1365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mode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CN" altLang="zh-CN" sz="136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‘r</a:t>
            </a:r>
            <a:r>
              <a:rPr lang="en-US" altLang="zh-CN" sz="136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zh-CN" altLang="zh-CN" sz="1365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zh-CN" altLang="zh-CN" sz="1365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65146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AF2082-DF61-199C-A7C9-C22F8903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076A0086-B11D-4FA1-9653-744D3974A1FA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Fundamental Modes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20C3FE9-3499-667A-7910-6E41ED8C53C7}"/>
              </a:ext>
            </a:extLst>
          </p:cNvPr>
          <p:cNvSpPr/>
          <p:nvPr/>
        </p:nvSpPr>
        <p:spPr>
          <a:xfrm>
            <a:off x="272672" y="841276"/>
            <a:ext cx="8547800" cy="2304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These are the base modes that define the primary operation 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'r' (Read, default)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Opens the file for reading only. 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file must exist, otherwise a </a:t>
            </a:r>
            <a:r>
              <a:rPr lang="en-US" altLang="zh-CN" sz="1400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FileNotFoundError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raised. </a:t>
            </a:r>
            <a:b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file pointer starts at the beginning.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'w' (Write)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Opens the file for writing only. 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If the file exists, it is truncated (emptied) first. If it doesn't exist, a new file is created.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'a' (Append)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Opens the file for writing. 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If the file exists, the pointer starts at the end, so new data is added without overwriting existing content. If it doesn't exist, a new file is created.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'x' (Exclusive Creation)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Opens the file for exclusive creation. </a:t>
            </a:r>
            <a:b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 works like 'w', but fails with a </a:t>
            </a:r>
            <a:r>
              <a:rPr lang="en-US" altLang="zh-CN" sz="1400" b="1" dirty="0" err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FileExistsError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if the file already exists. </a:t>
            </a:r>
            <a:b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b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This is useful for preventing accidental overwrites .</a:t>
            </a:r>
          </a:p>
        </p:txBody>
      </p:sp>
    </p:spTree>
    <p:extLst>
      <p:ext uri="{BB962C8B-B14F-4D97-AF65-F5344CB8AC3E}">
        <p14:creationId xmlns:p14="http://schemas.microsoft.com/office/powerpoint/2010/main" val="473625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9C40-9409-5B60-280A-F3B0BB1B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90D32B-2201-2B04-F39A-6AB7DEB11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354B66A3-B1E4-59E8-CF5C-49ED625C7E0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File Pointer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9DCC1F6-7231-38B0-E769-447925F71A14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0E7F8C4F-6950-2249-DD4C-4E6A851B9B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33BA682-1744-4FA8-F5EC-FAC20B382321}"/>
              </a:ext>
            </a:extLst>
          </p:cNvPr>
          <p:cNvSpPr/>
          <p:nvPr/>
        </p:nvSpPr>
        <p:spPr>
          <a:xfrm>
            <a:off x="460375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9BA185-1C87-0646-AE04-DF0D699E1256}"/>
              </a:ext>
            </a:extLst>
          </p:cNvPr>
          <p:cNvSpPr/>
          <p:nvPr/>
        </p:nvSpPr>
        <p:spPr>
          <a:xfrm>
            <a:off x="755576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86A6E5-404B-F008-B857-2C85F738E995}"/>
              </a:ext>
            </a:extLst>
          </p:cNvPr>
          <p:cNvSpPr/>
          <p:nvPr/>
        </p:nvSpPr>
        <p:spPr>
          <a:xfrm>
            <a:off x="1050777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B28E6E-38DA-77FC-EB20-5E70231C634A}"/>
              </a:ext>
            </a:extLst>
          </p:cNvPr>
          <p:cNvSpPr/>
          <p:nvPr/>
        </p:nvSpPr>
        <p:spPr>
          <a:xfrm>
            <a:off x="1345978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E6BE37C-0202-6D77-C27B-C29CA339842D}"/>
              </a:ext>
            </a:extLst>
          </p:cNvPr>
          <p:cNvSpPr/>
          <p:nvPr/>
        </p:nvSpPr>
        <p:spPr>
          <a:xfrm>
            <a:off x="1641179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887B6F-579C-2434-C3BF-6435670CF3B5}"/>
              </a:ext>
            </a:extLst>
          </p:cNvPr>
          <p:cNvSpPr/>
          <p:nvPr/>
        </p:nvSpPr>
        <p:spPr>
          <a:xfrm>
            <a:off x="1936380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3F5ACCB-40E6-52DB-0BAB-6DCB4A503E01}"/>
              </a:ext>
            </a:extLst>
          </p:cNvPr>
          <p:cNvSpPr/>
          <p:nvPr/>
        </p:nvSpPr>
        <p:spPr>
          <a:xfrm>
            <a:off x="2231581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DCCB46-8771-F10B-5A0F-CED950840CEE}"/>
              </a:ext>
            </a:extLst>
          </p:cNvPr>
          <p:cNvSpPr/>
          <p:nvPr/>
        </p:nvSpPr>
        <p:spPr>
          <a:xfrm>
            <a:off x="2526782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A03D99-7978-15D9-2D64-C75C80B1BBC4}"/>
              </a:ext>
            </a:extLst>
          </p:cNvPr>
          <p:cNvSpPr/>
          <p:nvPr/>
        </p:nvSpPr>
        <p:spPr>
          <a:xfrm>
            <a:off x="2821983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FFE777-3361-800A-DD57-2DBADA655C39}"/>
              </a:ext>
            </a:extLst>
          </p:cNvPr>
          <p:cNvSpPr/>
          <p:nvPr/>
        </p:nvSpPr>
        <p:spPr>
          <a:xfrm>
            <a:off x="3117184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DD4EB-5774-6B38-1C87-E8C8A1020148}"/>
              </a:ext>
            </a:extLst>
          </p:cNvPr>
          <p:cNvSpPr/>
          <p:nvPr/>
        </p:nvSpPr>
        <p:spPr>
          <a:xfrm>
            <a:off x="3412385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9A49C22-2ED0-5989-F58A-93ED7192EF50}"/>
              </a:ext>
            </a:extLst>
          </p:cNvPr>
          <p:cNvSpPr/>
          <p:nvPr/>
        </p:nvSpPr>
        <p:spPr>
          <a:xfrm>
            <a:off x="3707586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6CEBB7A-5A09-861A-8433-4161312EEAE5}"/>
              </a:ext>
            </a:extLst>
          </p:cNvPr>
          <p:cNvSpPr/>
          <p:nvPr/>
        </p:nvSpPr>
        <p:spPr>
          <a:xfrm>
            <a:off x="4002787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8A9B63-D9DE-12F2-32AD-316FC4F937FC}"/>
              </a:ext>
            </a:extLst>
          </p:cNvPr>
          <p:cNvSpPr/>
          <p:nvPr/>
        </p:nvSpPr>
        <p:spPr>
          <a:xfrm>
            <a:off x="4297988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1C679E-2791-EE18-5F81-4A4B1105A0AB}"/>
              </a:ext>
            </a:extLst>
          </p:cNvPr>
          <p:cNvSpPr/>
          <p:nvPr/>
        </p:nvSpPr>
        <p:spPr>
          <a:xfrm>
            <a:off x="4593189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6C4D488-8230-CD66-F132-8B89851787F7}"/>
              </a:ext>
            </a:extLst>
          </p:cNvPr>
          <p:cNvSpPr/>
          <p:nvPr/>
        </p:nvSpPr>
        <p:spPr>
          <a:xfrm>
            <a:off x="4888390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01E106-AF2A-428D-BA13-20735E43130D}"/>
              </a:ext>
            </a:extLst>
          </p:cNvPr>
          <p:cNvSpPr/>
          <p:nvPr/>
        </p:nvSpPr>
        <p:spPr>
          <a:xfrm>
            <a:off x="5183591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1ABB832-1868-928A-70BC-3CFA67AFB435}"/>
              </a:ext>
            </a:extLst>
          </p:cNvPr>
          <p:cNvSpPr/>
          <p:nvPr/>
        </p:nvSpPr>
        <p:spPr>
          <a:xfrm>
            <a:off x="5478792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B64EA54-2F98-91BD-1FBC-D516583BA688}"/>
              </a:ext>
            </a:extLst>
          </p:cNvPr>
          <p:cNvSpPr/>
          <p:nvPr/>
        </p:nvSpPr>
        <p:spPr>
          <a:xfrm>
            <a:off x="5773993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845784-FE3A-33E3-1812-4CCB322696C4}"/>
              </a:ext>
            </a:extLst>
          </p:cNvPr>
          <p:cNvSpPr/>
          <p:nvPr/>
        </p:nvSpPr>
        <p:spPr>
          <a:xfrm>
            <a:off x="6069194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1B5406C-BBD0-C45F-8C22-D8160BECB803}"/>
              </a:ext>
            </a:extLst>
          </p:cNvPr>
          <p:cNvSpPr/>
          <p:nvPr/>
        </p:nvSpPr>
        <p:spPr>
          <a:xfrm>
            <a:off x="6364395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8290841-5D62-5B9A-72EA-F403839B5564}"/>
              </a:ext>
            </a:extLst>
          </p:cNvPr>
          <p:cNvSpPr/>
          <p:nvPr/>
        </p:nvSpPr>
        <p:spPr>
          <a:xfrm>
            <a:off x="6659596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83F53BC-534E-D299-FE1F-4DCCF105B8E9}"/>
              </a:ext>
            </a:extLst>
          </p:cNvPr>
          <p:cNvSpPr/>
          <p:nvPr/>
        </p:nvSpPr>
        <p:spPr>
          <a:xfrm>
            <a:off x="6954797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4D0ABB9-97CF-5BD6-1821-54C19F5497EA}"/>
              </a:ext>
            </a:extLst>
          </p:cNvPr>
          <p:cNvSpPr/>
          <p:nvPr/>
        </p:nvSpPr>
        <p:spPr>
          <a:xfrm>
            <a:off x="7249998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B2384C8-F037-1846-0F6D-E4F3DB86DE2D}"/>
              </a:ext>
            </a:extLst>
          </p:cNvPr>
          <p:cNvSpPr/>
          <p:nvPr/>
        </p:nvSpPr>
        <p:spPr>
          <a:xfrm>
            <a:off x="7545199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D296013-C7B0-F6E1-51A8-24DED84AA47E}"/>
              </a:ext>
            </a:extLst>
          </p:cNvPr>
          <p:cNvSpPr/>
          <p:nvPr/>
        </p:nvSpPr>
        <p:spPr>
          <a:xfrm>
            <a:off x="7840400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EB38EDB-6AA8-3845-93AE-E86ABAF90691}"/>
              </a:ext>
            </a:extLst>
          </p:cNvPr>
          <p:cNvSpPr/>
          <p:nvPr/>
        </p:nvSpPr>
        <p:spPr>
          <a:xfrm>
            <a:off x="8135601" y="1784916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AB3ED2D3-696A-5E63-FFC6-722AAA3D9FC2}"/>
              </a:ext>
            </a:extLst>
          </p:cNvPr>
          <p:cNvSpPr/>
          <p:nvPr/>
        </p:nvSpPr>
        <p:spPr>
          <a:xfrm>
            <a:off x="500435" y="1424705"/>
            <a:ext cx="223193" cy="327907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3DF703D-11AC-B0CD-3FC4-68BA435E1FBA}"/>
              </a:ext>
            </a:extLst>
          </p:cNvPr>
          <p:cNvSpPr txBox="1"/>
          <p:nvPr/>
        </p:nvSpPr>
        <p:spPr>
          <a:xfrm>
            <a:off x="307975" y="755002"/>
            <a:ext cx="8563353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The file pointer starts at the beginning. </a:t>
            </a:r>
            <a:endParaRPr lang="zh-CN" altLang="zh-CN" sz="1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448D92-E2F8-3E53-6E92-9A10FABBACC4}"/>
              </a:ext>
            </a:extLst>
          </p:cNvPr>
          <p:cNvSpPr txBox="1"/>
          <p:nvPr/>
        </p:nvSpPr>
        <p:spPr>
          <a:xfrm>
            <a:off x="307975" y="3341449"/>
            <a:ext cx="8563353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The file pointer starts at the end.</a:t>
            </a:r>
            <a:endParaRPr lang="zh-CN" altLang="zh-CN" sz="1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864C02-3C25-BE12-284E-A204BEE0BD39}"/>
              </a:ext>
            </a:extLst>
          </p:cNvPr>
          <p:cNvSpPr/>
          <p:nvPr/>
        </p:nvSpPr>
        <p:spPr>
          <a:xfrm>
            <a:off x="460375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2998AE9-E588-43B4-A47D-A2BE7AEDB650}"/>
              </a:ext>
            </a:extLst>
          </p:cNvPr>
          <p:cNvSpPr/>
          <p:nvPr/>
        </p:nvSpPr>
        <p:spPr>
          <a:xfrm>
            <a:off x="755576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CACD59-C79B-9C3A-3332-0D7623BDB7F7}"/>
              </a:ext>
            </a:extLst>
          </p:cNvPr>
          <p:cNvSpPr/>
          <p:nvPr/>
        </p:nvSpPr>
        <p:spPr>
          <a:xfrm>
            <a:off x="1050777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A9C450-4233-F7D0-CB7D-5924240569FE}"/>
              </a:ext>
            </a:extLst>
          </p:cNvPr>
          <p:cNvSpPr/>
          <p:nvPr/>
        </p:nvSpPr>
        <p:spPr>
          <a:xfrm>
            <a:off x="1345978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87FFEB4-5B10-BFCB-7F71-6E5F68756481}"/>
              </a:ext>
            </a:extLst>
          </p:cNvPr>
          <p:cNvSpPr/>
          <p:nvPr/>
        </p:nvSpPr>
        <p:spPr>
          <a:xfrm>
            <a:off x="1641179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E9D5EA5-94A4-4010-C0EF-0034C746B465}"/>
              </a:ext>
            </a:extLst>
          </p:cNvPr>
          <p:cNvSpPr/>
          <p:nvPr/>
        </p:nvSpPr>
        <p:spPr>
          <a:xfrm>
            <a:off x="1936380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E4AC5E5-FCC3-230A-28FF-65A5F3F67FFC}"/>
              </a:ext>
            </a:extLst>
          </p:cNvPr>
          <p:cNvSpPr/>
          <p:nvPr/>
        </p:nvSpPr>
        <p:spPr>
          <a:xfrm>
            <a:off x="2231581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9CD670A-D5B8-423D-5DD8-58286899B63E}"/>
              </a:ext>
            </a:extLst>
          </p:cNvPr>
          <p:cNvSpPr/>
          <p:nvPr/>
        </p:nvSpPr>
        <p:spPr>
          <a:xfrm>
            <a:off x="2526782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232F7FB-71E4-8199-C94F-DAD52D9A8F9A}"/>
              </a:ext>
            </a:extLst>
          </p:cNvPr>
          <p:cNvSpPr/>
          <p:nvPr/>
        </p:nvSpPr>
        <p:spPr>
          <a:xfrm>
            <a:off x="2821983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258A6F4-A68A-32D3-46E3-A65F1208B6F3}"/>
              </a:ext>
            </a:extLst>
          </p:cNvPr>
          <p:cNvSpPr/>
          <p:nvPr/>
        </p:nvSpPr>
        <p:spPr>
          <a:xfrm>
            <a:off x="3117184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566F376-5693-0DD8-96FF-C879552E0A94}"/>
              </a:ext>
            </a:extLst>
          </p:cNvPr>
          <p:cNvSpPr/>
          <p:nvPr/>
        </p:nvSpPr>
        <p:spPr>
          <a:xfrm>
            <a:off x="3412385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F8B52E7-F9C1-EE6E-3718-6524F19A518C}"/>
              </a:ext>
            </a:extLst>
          </p:cNvPr>
          <p:cNvSpPr/>
          <p:nvPr/>
        </p:nvSpPr>
        <p:spPr>
          <a:xfrm>
            <a:off x="3707586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2351F21F-64FB-5293-30D1-26BEC2282B9D}"/>
              </a:ext>
            </a:extLst>
          </p:cNvPr>
          <p:cNvSpPr/>
          <p:nvPr/>
        </p:nvSpPr>
        <p:spPr>
          <a:xfrm>
            <a:off x="4002787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901C4F5-D1B6-9CB3-71F0-08EC01AB70CA}"/>
              </a:ext>
            </a:extLst>
          </p:cNvPr>
          <p:cNvSpPr/>
          <p:nvPr/>
        </p:nvSpPr>
        <p:spPr>
          <a:xfrm>
            <a:off x="4297988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405EC6A8-8B1E-0DCD-D828-62DB631E158A}"/>
              </a:ext>
            </a:extLst>
          </p:cNvPr>
          <p:cNvSpPr/>
          <p:nvPr/>
        </p:nvSpPr>
        <p:spPr>
          <a:xfrm>
            <a:off x="4593189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16EDC17-CA9A-71E0-0802-91C04959C102}"/>
              </a:ext>
            </a:extLst>
          </p:cNvPr>
          <p:cNvSpPr/>
          <p:nvPr/>
        </p:nvSpPr>
        <p:spPr>
          <a:xfrm>
            <a:off x="4888390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5532BC3-CC7D-D94C-96E7-C6765DBB7B52}"/>
              </a:ext>
            </a:extLst>
          </p:cNvPr>
          <p:cNvSpPr/>
          <p:nvPr/>
        </p:nvSpPr>
        <p:spPr>
          <a:xfrm>
            <a:off x="5183591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67AA824-E806-0052-08EE-8B24D457B619}"/>
              </a:ext>
            </a:extLst>
          </p:cNvPr>
          <p:cNvSpPr/>
          <p:nvPr/>
        </p:nvSpPr>
        <p:spPr>
          <a:xfrm>
            <a:off x="5478792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E34BC19-34B5-0810-D237-06286B49A61D}"/>
              </a:ext>
            </a:extLst>
          </p:cNvPr>
          <p:cNvSpPr/>
          <p:nvPr/>
        </p:nvSpPr>
        <p:spPr>
          <a:xfrm>
            <a:off x="5773993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0DCE140-23CB-93AE-A5A1-428E9DFAD22C}"/>
              </a:ext>
            </a:extLst>
          </p:cNvPr>
          <p:cNvSpPr/>
          <p:nvPr/>
        </p:nvSpPr>
        <p:spPr>
          <a:xfrm>
            <a:off x="6069194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949C8E9-70D8-F9B5-33D5-BF4DF6D94BEE}"/>
              </a:ext>
            </a:extLst>
          </p:cNvPr>
          <p:cNvSpPr/>
          <p:nvPr/>
        </p:nvSpPr>
        <p:spPr>
          <a:xfrm>
            <a:off x="6364395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6A668C3-01D3-F903-257C-77E2DDD1863D}"/>
              </a:ext>
            </a:extLst>
          </p:cNvPr>
          <p:cNvSpPr/>
          <p:nvPr/>
        </p:nvSpPr>
        <p:spPr>
          <a:xfrm>
            <a:off x="6659596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96C4705-19BF-E6B4-60C1-D06332677D8F}"/>
              </a:ext>
            </a:extLst>
          </p:cNvPr>
          <p:cNvSpPr/>
          <p:nvPr/>
        </p:nvSpPr>
        <p:spPr>
          <a:xfrm>
            <a:off x="6954797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0C4491F-85A4-B405-F4FE-9F0CDE8A348E}"/>
              </a:ext>
            </a:extLst>
          </p:cNvPr>
          <p:cNvSpPr/>
          <p:nvPr/>
        </p:nvSpPr>
        <p:spPr>
          <a:xfrm>
            <a:off x="7249998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693AD6-EAB8-CBE7-5E04-A71C5D201B07}"/>
              </a:ext>
            </a:extLst>
          </p:cNvPr>
          <p:cNvSpPr/>
          <p:nvPr/>
        </p:nvSpPr>
        <p:spPr>
          <a:xfrm>
            <a:off x="7545199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C6AF4A3C-855F-A7AC-05B2-9C539612FACC}"/>
              </a:ext>
            </a:extLst>
          </p:cNvPr>
          <p:cNvSpPr/>
          <p:nvPr/>
        </p:nvSpPr>
        <p:spPr>
          <a:xfrm>
            <a:off x="7840400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EDAFF02-D15E-D1E3-ED8E-48A0A25D3652}"/>
              </a:ext>
            </a:extLst>
          </p:cNvPr>
          <p:cNvSpPr/>
          <p:nvPr/>
        </p:nvSpPr>
        <p:spPr>
          <a:xfrm>
            <a:off x="8135601" y="4242735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箭头: 下 63">
            <a:extLst>
              <a:ext uri="{FF2B5EF4-FFF2-40B4-BE49-F238E27FC236}">
                <a16:creationId xmlns:a16="http://schemas.microsoft.com/office/drawing/2014/main" id="{46555957-7E32-B38D-3718-8AFD1C1E654E}"/>
              </a:ext>
            </a:extLst>
          </p:cNvPr>
          <p:cNvSpPr/>
          <p:nvPr/>
        </p:nvSpPr>
        <p:spPr>
          <a:xfrm>
            <a:off x="8532440" y="3882524"/>
            <a:ext cx="223193" cy="327907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025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6A893-434D-C410-A883-4C2BBA64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2A8128-1521-E3DC-87A9-8CE8110A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CA8EE122-CEDA-5847-77B3-DD76618B386A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📍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tell(): Where am I?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F3126E6-BED1-BD14-B346-8E8C9D87E2F3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08A1AA04-568D-93B9-80BE-E67775E449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E4F1CF-0381-FA88-4A3E-0174137B4450}"/>
              </a:ext>
            </a:extLst>
          </p:cNvPr>
          <p:cNvSpPr/>
          <p:nvPr/>
        </p:nvSpPr>
        <p:spPr>
          <a:xfrm>
            <a:off x="460375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B9DB41-EA7B-F608-CB9E-85506280B4DE}"/>
              </a:ext>
            </a:extLst>
          </p:cNvPr>
          <p:cNvSpPr/>
          <p:nvPr/>
        </p:nvSpPr>
        <p:spPr>
          <a:xfrm>
            <a:off x="755576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80AE26-1BB6-0DF3-1E86-660F43D3C5F1}"/>
              </a:ext>
            </a:extLst>
          </p:cNvPr>
          <p:cNvSpPr/>
          <p:nvPr/>
        </p:nvSpPr>
        <p:spPr>
          <a:xfrm>
            <a:off x="1050777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DDF934E-C704-9C32-CC2A-F2B3714BC674}"/>
              </a:ext>
            </a:extLst>
          </p:cNvPr>
          <p:cNvSpPr/>
          <p:nvPr/>
        </p:nvSpPr>
        <p:spPr>
          <a:xfrm>
            <a:off x="1345978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DD754F-B80D-CDE7-3E31-3CD8C4D05859}"/>
              </a:ext>
            </a:extLst>
          </p:cNvPr>
          <p:cNvSpPr/>
          <p:nvPr/>
        </p:nvSpPr>
        <p:spPr>
          <a:xfrm>
            <a:off x="1641179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2B38295-174A-88EB-1997-82C5989AD29F}"/>
              </a:ext>
            </a:extLst>
          </p:cNvPr>
          <p:cNvSpPr/>
          <p:nvPr/>
        </p:nvSpPr>
        <p:spPr>
          <a:xfrm>
            <a:off x="1936380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61BDBC-6DC7-CBA9-99A7-D8260A5E0BF5}"/>
              </a:ext>
            </a:extLst>
          </p:cNvPr>
          <p:cNvSpPr/>
          <p:nvPr/>
        </p:nvSpPr>
        <p:spPr>
          <a:xfrm>
            <a:off x="2231581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213447D-CDFE-35C8-1C10-B1FDF6D678F0}"/>
              </a:ext>
            </a:extLst>
          </p:cNvPr>
          <p:cNvSpPr/>
          <p:nvPr/>
        </p:nvSpPr>
        <p:spPr>
          <a:xfrm>
            <a:off x="2526782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81F3940-9A4F-AE30-F199-4512F4532748}"/>
              </a:ext>
            </a:extLst>
          </p:cNvPr>
          <p:cNvSpPr/>
          <p:nvPr/>
        </p:nvSpPr>
        <p:spPr>
          <a:xfrm>
            <a:off x="2821983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D66D13-8201-3185-4EB2-189FE221B25E}"/>
              </a:ext>
            </a:extLst>
          </p:cNvPr>
          <p:cNvSpPr/>
          <p:nvPr/>
        </p:nvSpPr>
        <p:spPr>
          <a:xfrm>
            <a:off x="3117184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DF1392-2E8B-E97A-76BF-91788A654FEB}"/>
              </a:ext>
            </a:extLst>
          </p:cNvPr>
          <p:cNvSpPr/>
          <p:nvPr/>
        </p:nvSpPr>
        <p:spPr>
          <a:xfrm>
            <a:off x="3412385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13E51F-054A-0900-0E64-9B9CBB4EFB7F}"/>
              </a:ext>
            </a:extLst>
          </p:cNvPr>
          <p:cNvSpPr/>
          <p:nvPr/>
        </p:nvSpPr>
        <p:spPr>
          <a:xfrm>
            <a:off x="3707586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9C3B6E-8229-D8C8-D121-E0B08C7DF9A0}"/>
              </a:ext>
            </a:extLst>
          </p:cNvPr>
          <p:cNvSpPr/>
          <p:nvPr/>
        </p:nvSpPr>
        <p:spPr>
          <a:xfrm>
            <a:off x="4002787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2C88DAC-6C16-FFEF-19C5-333FB95AC432}"/>
              </a:ext>
            </a:extLst>
          </p:cNvPr>
          <p:cNvSpPr/>
          <p:nvPr/>
        </p:nvSpPr>
        <p:spPr>
          <a:xfrm>
            <a:off x="4297988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FF73D2-2FCB-7300-5112-5BE1220F23AD}"/>
              </a:ext>
            </a:extLst>
          </p:cNvPr>
          <p:cNvSpPr/>
          <p:nvPr/>
        </p:nvSpPr>
        <p:spPr>
          <a:xfrm>
            <a:off x="4593189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252F0D7-24DB-AFF4-3339-1DC2D3B418BA}"/>
              </a:ext>
            </a:extLst>
          </p:cNvPr>
          <p:cNvSpPr/>
          <p:nvPr/>
        </p:nvSpPr>
        <p:spPr>
          <a:xfrm>
            <a:off x="4888390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6E84DA0-1099-6F2E-9838-5812CAD181FA}"/>
              </a:ext>
            </a:extLst>
          </p:cNvPr>
          <p:cNvSpPr/>
          <p:nvPr/>
        </p:nvSpPr>
        <p:spPr>
          <a:xfrm>
            <a:off x="5183591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126D40-45AC-4073-C020-604CFA927125}"/>
              </a:ext>
            </a:extLst>
          </p:cNvPr>
          <p:cNvSpPr/>
          <p:nvPr/>
        </p:nvSpPr>
        <p:spPr>
          <a:xfrm>
            <a:off x="5478792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E8F6EF-501A-B21B-F357-91600B256B72}"/>
              </a:ext>
            </a:extLst>
          </p:cNvPr>
          <p:cNvSpPr/>
          <p:nvPr/>
        </p:nvSpPr>
        <p:spPr>
          <a:xfrm>
            <a:off x="5773993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29A6B98-416A-CD9A-39D6-3CCBC14C7736}"/>
              </a:ext>
            </a:extLst>
          </p:cNvPr>
          <p:cNvSpPr/>
          <p:nvPr/>
        </p:nvSpPr>
        <p:spPr>
          <a:xfrm>
            <a:off x="6069194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4E13454-638B-DE90-97F4-7BD73D1C26A8}"/>
              </a:ext>
            </a:extLst>
          </p:cNvPr>
          <p:cNvSpPr/>
          <p:nvPr/>
        </p:nvSpPr>
        <p:spPr>
          <a:xfrm>
            <a:off x="6364395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1302C5E-E27D-F2E8-6CC9-28DEE82DA014}"/>
              </a:ext>
            </a:extLst>
          </p:cNvPr>
          <p:cNvSpPr/>
          <p:nvPr/>
        </p:nvSpPr>
        <p:spPr>
          <a:xfrm>
            <a:off x="6659596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295D31F-1515-85DA-FFF6-5921B578088B}"/>
              </a:ext>
            </a:extLst>
          </p:cNvPr>
          <p:cNvSpPr/>
          <p:nvPr/>
        </p:nvSpPr>
        <p:spPr>
          <a:xfrm>
            <a:off x="6954797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B9CE506-841B-1225-26B7-2F47A10FDA1E}"/>
              </a:ext>
            </a:extLst>
          </p:cNvPr>
          <p:cNvSpPr/>
          <p:nvPr/>
        </p:nvSpPr>
        <p:spPr>
          <a:xfrm>
            <a:off x="7249998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86E4FE2-F0E1-EBFC-872C-191BC013B060}"/>
              </a:ext>
            </a:extLst>
          </p:cNvPr>
          <p:cNvSpPr/>
          <p:nvPr/>
        </p:nvSpPr>
        <p:spPr>
          <a:xfrm>
            <a:off x="7545199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5494935-A7DF-DAB3-01A9-3872A2B01263}"/>
              </a:ext>
            </a:extLst>
          </p:cNvPr>
          <p:cNvSpPr/>
          <p:nvPr/>
        </p:nvSpPr>
        <p:spPr>
          <a:xfrm>
            <a:off x="7840400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E6ACD76-8D7F-641E-A84C-E528A1BA26F2}"/>
              </a:ext>
            </a:extLst>
          </p:cNvPr>
          <p:cNvSpPr/>
          <p:nvPr/>
        </p:nvSpPr>
        <p:spPr>
          <a:xfrm>
            <a:off x="8135601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CE5C68F-7F01-0A3F-C709-5864E16F60FC}"/>
              </a:ext>
            </a:extLst>
          </p:cNvPr>
          <p:cNvSpPr/>
          <p:nvPr/>
        </p:nvSpPr>
        <p:spPr>
          <a:xfrm>
            <a:off x="8430802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3A0843BC-4410-D263-A00F-EE8B8AFFF108}"/>
              </a:ext>
            </a:extLst>
          </p:cNvPr>
          <p:cNvSpPr/>
          <p:nvPr/>
        </p:nvSpPr>
        <p:spPr>
          <a:xfrm>
            <a:off x="3207970" y="3721596"/>
            <a:ext cx="223193" cy="327907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6F24F01-E401-AA16-AF6E-8417CB78E551}"/>
              </a:ext>
            </a:extLst>
          </p:cNvPr>
          <p:cNvSpPr txBox="1"/>
          <p:nvPr/>
        </p:nvSpPr>
        <p:spPr>
          <a:xfrm>
            <a:off x="307975" y="755002"/>
            <a:ext cx="8563353" cy="249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returns the current position of the file object's pointer. Its meaning depends entirely on the mode you opened the file in: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Binary mode ('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', '</a:t>
            </a:r>
            <a:r>
              <a:rPr lang="en-US" altLang="zh-CN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wb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', etc.):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Returns an integer representing the exact byte offset from the beginning of the file . This is straightforward and interpretable.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</a:rPr>
              <a:t>Text mode ('r', 'w', etc.):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Returns an opaque number . You cannot interpret this number as a byte count or character count. Its only valid use is to pass it back to seek() to return to that exact spot later.</a:t>
            </a:r>
            <a:endParaRPr lang="zh-CN" altLang="zh-CN" sz="14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926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5BF49-A4C7-08AC-E676-1859084A7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0E25BE-24B3-9974-D692-8935EF81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32E7148B-2F53-8E91-02B7-446988FE5875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🎯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seek(): Go to a position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1DE828C-B7CD-5FDA-CD09-AB15CD857E17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E3B3C927-3E17-1AA8-6AF4-E9E34573E3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36AB37-518E-FD74-2E8E-B56E58CBAB6E}"/>
              </a:ext>
            </a:extLst>
          </p:cNvPr>
          <p:cNvSpPr/>
          <p:nvPr/>
        </p:nvSpPr>
        <p:spPr>
          <a:xfrm>
            <a:off x="460375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615073-5EBD-C380-BBCC-D2478B439E1B}"/>
              </a:ext>
            </a:extLst>
          </p:cNvPr>
          <p:cNvSpPr/>
          <p:nvPr/>
        </p:nvSpPr>
        <p:spPr>
          <a:xfrm>
            <a:off x="755576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0BFFD0-E10B-CFBD-BFF9-DF835EE1E70D}"/>
              </a:ext>
            </a:extLst>
          </p:cNvPr>
          <p:cNvSpPr/>
          <p:nvPr/>
        </p:nvSpPr>
        <p:spPr>
          <a:xfrm>
            <a:off x="1050777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1E01B46-6233-C80C-9BB0-B25E176AF6AF}"/>
              </a:ext>
            </a:extLst>
          </p:cNvPr>
          <p:cNvSpPr/>
          <p:nvPr/>
        </p:nvSpPr>
        <p:spPr>
          <a:xfrm>
            <a:off x="1345978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F2527F-D724-44A1-24C9-8157298F02F7}"/>
              </a:ext>
            </a:extLst>
          </p:cNvPr>
          <p:cNvSpPr/>
          <p:nvPr/>
        </p:nvSpPr>
        <p:spPr>
          <a:xfrm>
            <a:off x="1641179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3C77420-69D1-FFFC-CF91-A3C840C0B3E7}"/>
              </a:ext>
            </a:extLst>
          </p:cNvPr>
          <p:cNvSpPr/>
          <p:nvPr/>
        </p:nvSpPr>
        <p:spPr>
          <a:xfrm>
            <a:off x="1936380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872939E-F947-C833-CDA4-B3D391269419}"/>
              </a:ext>
            </a:extLst>
          </p:cNvPr>
          <p:cNvSpPr/>
          <p:nvPr/>
        </p:nvSpPr>
        <p:spPr>
          <a:xfrm>
            <a:off x="2231581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0545C8F-47D9-61EC-3261-80419DC3ECD0}"/>
              </a:ext>
            </a:extLst>
          </p:cNvPr>
          <p:cNvSpPr/>
          <p:nvPr/>
        </p:nvSpPr>
        <p:spPr>
          <a:xfrm>
            <a:off x="2526782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FA2F91-CCCE-B512-29A2-4116E2C4DA1F}"/>
              </a:ext>
            </a:extLst>
          </p:cNvPr>
          <p:cNvSpPr/>
          <p:nvPr/>
        </p:nvSpPr>
        <p:spPr>
          <a:xfrm>
            <a:off x="2821983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58EF82-97F9-8850-339A-3186856EEEFD}"/>
              </a:ext>
            </a:extLst>
          </p:cNvPr>
          <p:cNvSpPr/>
          <p:nvPr/>
        </p:nvSpPr>
        <p:spPr>
          <a:xfrm>
            <a:off x="3117184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E4EEE8E-8063-09A1-BCE1-7D5B39CE6ACE}"/>
              </a:ext>
            </a:extLst>
          </p:cNvPr>
          <p:cNvSpPr/>
          <p:nvPr/>
        </p:nvSpPr>
        <p:spPr>
          <a:xfrm>
            <a:off x="3412385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C619F72-644B-66EE-5F68-F5325DE05677}"/>
              </a:ext>
            </a:extLst>
          </p:cNvPr>
          <p:cNvSpPr/>
          <p:nvPr/>
        </p:nvSpPr>
        <p:spPr>
          <a:xfrm>
            <a:off x="3707586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188138-55A0-C043-A855-67A700BBACF6}"/>
              </a:ext>
            </a:extLst>
          </p:cNvPr>
          <p:cNvSpPr/>
          <p:nvPr/>
        </p:nvSpPr>
        <p:spPr>
          <a:xfrm>
            <a:off x="4002787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F87F7BA-DB35-AD6F-AD4D-FC5BA724C195}"/>
              </a:ext>
            </a:extLst>
          </p:cNvPr>
          <p:cNvSpPr/>
          <p:nvPr/>
        </p:nvSpPr>
        <p:spPr>
          <a:xfrm>
            <a:off x="4297988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A120B71-A73F-CD6F-DEE5-9DEDFC251264}"/>
              </a:ext>
            </a:extLst>
          </p:cNvPr>
          <p:cNvSpPr/>
          <p:nvPr/>
        </p:nvSpPr>
        <p:spPr>
          <a:xfrm>
            <a:off x="4593189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5BEC33-0C6F-F593-E593-1E6412763F3C}"/>
              </a:ext>
            </a:extLst>
          </p:cNvPr>
          <p:cNvSpPr/>
          <p:nvPr/>
        </p:nvSpPr>
        <p:spPr>
          <a:xfrm>
            <a:off x="4888390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72311B4-5074-8442-CC91-961E8A3770A2}"/>
              </a:ext>
            </a:extLst>
          </p:cNvPr>
          <p:cNvSpPr/>
          <p:nvPr/>
        </p:nvSpPr>
        <p:spPr>
          <a:xfrm>
            <a:off x="5183591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EF692EA-1E9F-58B3-02FE-592C1D0DEC93}"/>
              </a:ext>
            </a:extLst>
          </p:cNvPr>
          <p:cNvSpPr/>
          <p:nvPr/>
        </p:nvSpPr>
        <p:spPr>
          <a:xfrm>
            <a:off x="5478792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C62E75-6A34-C29B-8ADE-0E993E851AAF}"/>
              </a:ext>
            </a:extLst>
          </p:cNvPr>
          <p:cNvSpPr/>
          <p:nvPr/>
        </p:nvSpPr>
        <p:spPr>
          <a:xfrm>
            <a:off x="5773993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D8D250B-0E4C-EF81-216F-AFD374A18D20}"/>
              </a:ext>
            </a:extLst>
          </p:cNvPr>
          <p:cNvSpPr/>
          <p:nvPr/>
        </p:nvSpPr>
        <p:spPr>
          <a:xfrm>
            <a:off x="6069194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83A059E-0114-0580-1E54-F9371D20E11B}"/>
              </a:ext>
            </a:extLst>
          </p:cNvPr>
          <p:cNvSpPr/>
          <p:nvPr/>
        </p:nvSpPr>
        <p:spPr>
          <a:xfrm>
            <a:off x="6364395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DD6DD2-A785-3F31-B67A-A3909C1D764E}"/>
              </a:ext>
            </a:extLst>
          </p:cNvPr>
          <p:cNvSpPr/>
          <p:nvPr/>
        </p:nvSpPr>
        <p:spPr>
          <a:xfrm>
            <a:off x="6659596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E0C1FD9-6167-DE19-15A6-8BB28A533DFC}"/>
              </a:ext>
            </a:extLst>
          </p:cNvPr>
          <p:cNvSpPr/>
          <p:nvPr/>
        </p:nvSpPr>
        <p:spPr>
          <a:xfrm>
            <a:off x="6954797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D72D8C2-23DD-197C-BE35-CCE48FDE2F18}"/>
              </a:ext>
            </a:extLst>
          </p:cNvPr>
          <p:cNvSpPr/>
          <p:nvPr/>
        </p:nvSpPr>
        <p:spPr>
          <a:xfrm>
            <a:off x="7249998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DF4BAD6-DAB2-0DC8-5505-5308D1C25A23}"/>
              </a:ext>
            </a:extLst>
          </p:cNvPr>
          <p:cNvSpPr/>
          <p:nvPr/>
        </p:nvSpPr>
        <p:spPr>
          <a:xfrm>
            <a:off x="7545199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48714B-2680-C6F2-DE58-BD7599FA4B2C}"/>
              </a:ext>
            </a:extLst>
          </p:cNvPr>
          <p:cNvSpPr/>
          <p:nvPr/>
        </p:nvSpPr>
        <p:spPr>
          <a:xfrm>
            <a:off x="7840400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0EF8E5A-0625-52C1-782B-F77D85BAB123}"/>
              </a:ext>
            </a:extLst>
          </p:cNvPr>
          <p:cNvSpPr/>
          <p:nvPr/>
        </p:nvSpPr>
        <p:spPr>
          <a:xfrm>
            <a:off x="8135601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D3A6C2A-7CC8-4CF6-37C9-2BD8137E2918}"/>
              </a:ext>
            </a:extLst>
          </p:cNvPr>
          <p:cNvSpPr/>
          <p:nvPr/>
        </p:nvSpPr>
        <p:spPr>
          <a:xfrm>
            <a:off x="8430802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6545B9D1-8A4F-D396-0F60-4949EFF357BB}"/>
              </a:ext>
            </a:extLst>
          </p:cNvPr>
          <p:cNvSpPr/>
          <p:nvPr/>
        </p:nvSpPr>
        <p:spPr>
          <a:xfrm>
            <a:off x="3207970" y="3721596"/>
            <a:ext cx="223193" cy="327907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FD5CB45-00DE-23DD-DBFA-846A9893ED1B}"/>
              </a:ext>
            </a:extLst>
          </p:cNvPr>
          <p:cNvSpPr txBox="1"/>
          <p:nvPr/>
        </p:nvSpPr>
        <p:spPr>
          <a:xfrm>
            <a:off x="307975" y="755002"/>
            <a:ext cx="8563353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seek(offset, whence) moves the pointer. The whence argument (default 0) defines the reference point: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 (or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os.SEEK_SET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):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From the beginning of the file. offset must be ≥ 0.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 (or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os.SEEK_CUR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):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Relative to the current position. offset can be positive or negative.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 (or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os.SEEK_END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): 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 the end of the file. offset is usually negative </a:t>
            </a:r>
          </a:p>
        </p:txBody>
      </p:sp>
    </p:spTree>
    <p:extLst>
      <p:ext uri="{BB962C8B-B14F-4D97-AF65-F5344CB8AC3E}">
        <p14:creationId xmlns:p14="http://schemas.microsoft.com/office/powerpoint/2010/main" val="630201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50541-E8A5-0FCE-FCE6-67F6A4114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3608A7-349D-AC69-367C-D5FBB6672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:a16="http://schemas.microsoft.com/office/drawing/2014/main" id="{D1928739-AEB8-43AD-CAE6-42A6ACE8695F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🎯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seek(): Go to a position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AFA2013-C6E3-16DB-DCA2-E6B714C5C092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>
            <a:extLst>
              <a:ext uri="{FF2B5EF4-FFF2-40B4-BE49-F238E27FC236}">
                <a16:creationId xmlns:a16="http://schemas.microsoft.com/office/drawing/2014/main" id="{D3CA8BB1-1DD9-2CDD-93F8-1E166FAA02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514A7F-D5FF-9E05-4125-AEB6B0CA0F63}"/>
              </a:ext>
            </a:extLst>
          </p:cNvPr>
          <p:cNvSpPr/>
          <p:nvPr/>
        </p:nvSpPr>
        <p:spPr>
          <a:xfrm>
            <a:off x="460375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638E3F-A96B-9B68-B110-65D2B2897807}"/>
              </a:ext>
            </a:extLst>
          </p:cNvPr>
          <p:cNvSpPr/>
          <p:nvPr/>
        </p:nvSpPr>
        <p:spPr>
          <a:xfrm>
            <a:off x="755576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F23380-360D-61A1-83BD-97ED1CA0463F}"/>
              </a:ext>
            </a:extLst>
          </p:cNvPr>
          <p:cNvSpPr/>
          <p:nvPr/>
        </p:nvSpPr>
        <p:spPr>
          <a:xfrm>
            <a:off x="1050777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197D54-E267-0C74-05A7-B64679CAF71B}"/>
              </a:ext>
            </a:extLst>
          </p:cNvPr>
          <p:cNvSpPr/>
          <p:nvPr/>
        </p:nvSpPr>
        <p:spPr>
          <a:xfrm>
            <a:off x="1345978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0A5F72-3DDA-6C3E-2989-6C02407B68D0}"/>
              </a:ext>
            </a:extLst>
          </p:cNvPr>
          <p:cNvSpPr/>
          <p:nvPr/>
        </p:nvSpPr>
        <p:spPr>
          <a:xfrm>
            <a:off x="1641179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ADDD81-E1D0-1396-8ABB-57A93A8D8C4F}"/>
              </a:ext>
            </a:extLst>
          </p:cNvPr>
          <p:cNvSpPr/>
          <p:nvPr/>
        </p:nvSpPr>
        <p:spPr>
          <a:xfrm>
            <a:off x="1936380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A15CC8-1126-85BC-25FE-FDAB9C998FAB}"/>
              </a:ext>
            </a:extLst>
          </p:cNvPr>
          <p:cNvSpPr/>
          <p:nvPr/>
        </p:nvSpPr>
        <p:spPr>
          <a:xfrm>
            <a:off x="2231581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E33E8F-09CA-CA54-4B22-7A1CD7A5BC1F}"/>
              </a:ext>
            </a:extLst>
          </p:cNvPr>
          <p:cNvSpPr/>
          <p:nvPr/>
        </p:nvSpPr>
        <p:spPr>
          <a:xfrm>
            <a:off x="2526782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186E9D-2732-D7AD-2F97-6BAA9621DF06}"/>
              </a:ext>
            </a:extLst>
          </p:cNvPr>
          <p:cNvSpPr/>
          <p:nvPr/>
        </p:nvSpPr>
        <p:spPr>
          <a:xfrm>
            <a:off x="2821983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0D5F422-F87C-69D6-DA17-0001748D0E24}"/>
              </a:ext>
            </a:extLst>
          </p:cNvPr>
          <p:cNvSpPr/>
          <p:nvPr/>
        </p:nvSpPr>
        <p:spPr>
          <a:xfrm>
            <a:off x="3117184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268B405-0CED-3837-6E0C-8D53F92FFB83}"/>
              </a:ext>
            </a:extLst>
          </p:cNvPr>
          <p:cNvSpPr/>
          <p:nvPr/>
        </p:nvSpPr>
        <p:spPr>
          <a:xfrm>
            <a:off x="3412385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C66896-1E42-BC01-E24F-30E8CF2E878C}"/>
              </a:ext>
            </a:extLst>
          </p:cNvPr>
          <p:cNvSpPr/>
          <p:nvPr/>
        </p:nvSpPr>
        <p:spPr>
          <a:xfrm>
            <a:off x="3707586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B35576-0802-9F24-D4B0-E6E25E574461}"/>
              </a:ext>
            </a:extLst>
          </p:cNvPr>
          <p:cNvSpPr/>
          <p:nvPr/>
        </p:nvSpPr>
        <p:spPr>
          <a:xfrm>
            <a:off x="4002787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FE4F93-0A10-2817-3BCA-F813063B7DF3}"/>
              </a:ext>
            </a:extLst>
          </p:cNvPr>
          <p:cNvSpPr/>
          <p:nvPr/>
        </p:nvSpPr>
        <p:spPr>
          <a:xfrm>
            <a:off x="4297988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B8D0893-ACA4-986A-BF5A-9BC92158B576}"/>
              </a:ext>
            </a:extLst>
          </p:cNvPr>
          <p:cNvSpPr/>
          <p:nvPr/>
        </p:nvSpPr>
        <p:spPr>
          <a:xfrm>
            <a:off x="4593189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058B4E6-D19C-997C-A088-A468FF2B29C9}"/>
              </a:ext>
            </a:extLst>
          </p:cNvPr>
          <p:cNvSpPr/>
          <p:nvPr/>
        </p:nvSpPr>
        <p:spPr>
          <a:xfrm>
            <a:off x="4888390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2F759BB-76B8-85C0-BC4A-E5D25F60B559}"/>
              </a:ext>
            </a:extLst>
          </p:cNvPr>
          <p:cNvSpPr/>
          <p:nvPr/>
        </p:nvSpPr>
        <p:spPr>
          <a:xfrm>
            <a:off x="5183591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63767AF-C5F8-D4D8-7A2B-AAEFAC80CC9D}"/>
              </a:ext>
            </a:extLst>
          </p:cNvPr>
          <p:cNvSpPr/>
          <p:nvPr/>
        </p:nvSpPr>
        <p:spPr>
          <a:xfrm>
            <a:off x="5478792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017F29C-C22D-B574-ED88-0311A0ED72EA}"/>
              </a:ext>
            </a:extLst>
          </p:cNvPr>
          <p:cNvSpPr/>
          <p:nvPr/>
        </p:nvSpPr>
        <p:spPr>
          <a:xfrm>
            <a:off x="5773993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E2881FC-7340-46EE-9163-071BF71EF99F}"/>
              </a:ext>
            </a:extLst>
          </p:cNvPr>
          <p:cNvSpPr/>
          <p:nvPr/>
        </p:nvSpPr>
        <p:spPr>
          <a:xfrm>
            <a:off x="6069194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5260F7-2C3D-A22A-69BD-81D03E9494AA}"/>
              </a:ext>
            </a:extLst>
          </p:cNvPr>
          <p:cNvSpPr/>
          <p:nvPr/>
        </p:nvSpPr>
        <p:spPr>
          <a:xfrm>
            <a:off x="6364395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05AC613-F4D1-FE55-B714-CFF7C6403230}"/>
              </a:ext>
            </a:extLst>
          </p:cNvPr>
          <p:cNvSpPr/>
          <p:nvPr/>
        </p:nvSpPr>
        <p:spPr>
          <a:xfrm>
            <a:off x="6659596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5F5E24B-DA7F-3F2F-3B98-A73E681FC3E8}"/>
              </a:ext>
            </a:extLst>
          </p:cNvPr>
          <p:cNvSpPr/>
          <p:nvPr/>
        </p:nvSpPr>
        <p:spPr>
          <a:xfrm>
            <a:off x="6954797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043E55A-3323-6F27-CEC8-88AE822C287A}"/>
              </a:ext>
            </a:extLst>
          </p:cNvPr>
          <p:cNvSpPr/>
          <p:nvPr/>
        </p:nvSpPr>
        <p:spPr>
          <a:xfrm>
            <a:off x="7249998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7A9A0B4-0F20-E5A7-D302-D4F13A9047B3}"/>
              </a:ext>
            </a:extLst>
          </p:cNvPr>
          <p:cNvSpPr/>
          <p:nvPr/>
        </p:nvSpPr>
        <p:spPr>
          <a:xfrm>
            <a:off x="7545199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8B0F2CD-F651-9C11-79D8-061E5A20C7D5}"/>
              </a:ext>
            </a:extLst>
          </p:cNvPr>
          <p:cNvSpPr/>
          <p:nvPr/>
        </p:nvSpPr>
        <p:spPr>
          <a:xfrm>
            <a:off x="7840400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A3F77A-B68B-BB3F-FE57-569B4900484E}"/>
              </a:ext>
            </a:extLst>
          </p:cNvPr>
          <p:cNvSpPr/>
          <p:nvPr/>
        </p:nvSpPr>
        <p:spPr>
          <a:xfrm>
            <a:off x="8135601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D998FD-EA75-FEF8-318E-9333D15CA98F}"/>
              </a:ext>
            </a:extLst>
          </p:cNvPr>
          <p:cNvSpPr/>
          <p:nvPr/>
        </p:nvSpPr>
        <p:spPr>
          <a:xfrm>
            <a:off x="8430802" y="4081807"/>
            <a:ext cx="295201" cy="32790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7BF98898-6B78-C9B8-D8A4-2CB4661C22C6}"/>
              </a:ext>
            </a:extLst>
          </p:cNvPr>
          <p:cNvSpPr/>
          <p:nvPr/>
        </p:nvSpPr>
        <p:spPr>
          <a:xfrm>
            <a:off x="3207970" y="3721596"/>
            <a:ext cx="223193" cy="327907"/>
          </a:xfrm>
          <a:prstGeom prst="down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012E1E8C-6E91-5F84-22AD-3BE7BD1461FC}"/>
              </a:ext>
            </a:extLst>
          </p:cNvPr>
          <p:cNvSpPr txBox="1"/>
          <p:nvPr/>
        </p:nvSpPr>
        <p:spPr>
          <a:xfrm>
            <a:off x="307975" y="755002"/>
            <a:ext cx="8563353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seek(offset, whence) moves the pointer. The whence argument (default 0) defines the reference point: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 (or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os.SEEK_SET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):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From the beginning of the file. offset must be ≥ 0.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 (or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os.SEEK_CUR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):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Relative to the current position. offset can be positive or negative.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 (or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os.SEEK_END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): 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 the end of the file. offset is usually negative </a:t>
            </a:r>
          </a:p>
        </p:txBody>
      </p:sp>
    </p:spTree>
    <p:extLst>
      <p:ext uri="{BB962C8B-B14F-4D97-AF65-F5344CB8AC3E}">
        <p14:creationId xmlns:p14="http://schemas.microsoft.com/office/powerpoint/2010/main" val="79280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24094</TotalTime>
  <Words>2134</Words>
  <Application>Microsoft Office PowerPoint</Application>
  <PresentationFormat>全屏显示(16:10)</PresentationFormat>
  <Paragraphs>187</Paragraphs>
  <Slides>26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2" baseType="lpstr">
      <vt:lpstr>微软雅黑</vt:lpstr>
      <vt:lpstr>Arial</vt:lpstr>
      <vt:lpstr>Calibri</vt:lpstr>
      <vt:lpstr>Consolas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单像素成像技术与 单像素免成像技术</dc:title>
  <dc:creator>pc</dc:creator>
  <cp:lastModifiedBy>Charlie Vincent</cp:lastModifiedBy>
  <cp:revision>2235</cp:revision>
  <dcterms:created xsi:type="dcterms:W3CDTF">2020-06-09T03:02:09Z</dcterms:created>
  <dcterms:modified xsi:type="dcterms:W3CDTF">2026-10-20T12:40:47Z</dcterms:modified>
</cp:coreProperties>
</file>